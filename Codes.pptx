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5" r:id="rId8"/>
    <p:sldId id="266" r:id="rId9"/>
    <p:sldId id="262" r:id="rId10"/>
    <p:sldId id="263" r:id="rId11"/>
    <p:sldId id="264" r:id="rId12"/>
    <p:sldId id="267" r:id="rId13"/>
    <p:sldId id="268" r:id="rId14"/>
    <p:sldId id="269" r:id="rId15"/>
    <p:sldId id="283" r:id="rId16"/>
    <p:sldId id="270" r:id="rId17"/>
    <p:sldId id="280" r:id="rId18"/>
    <p:sldId id="281" r:id="rId19"/>
    <p:sldId id="282" r:id="rId20"/>
    <p:sldId id="271" r:id="rId21"/>
    <p:sldId id="325" r:id="rId22"/>
    <p:sldId id="322" r:id="rId23"/>
    <p:sldId id="358" r:id="rId24"/>
    <p:sldId id="359" r:id="rId25"/>
    <p:sldId id="360" r:id="rId26"/>
    <p:sldId id="323" r:id="rId27"/>
    <p:sldId id="324" r:id="rId28"/>
    <p:sldId id="272" r:id="rId29"/>
    <p:sldId id="273" r:id="rId30"/>
    <p:sldId id="330" r:id="rId31"/>
    <p:sldId id="284" r:id="rId32"/>
    <p:sldId id="286" r:id="rId33"/>
    <p:sldId id="288" r:id="rId34"/>
    <p:sldId id="287" r:id="rId35"/>
    <p:sldId id="353" r:id="rId36"/>
    <p:sldId id="354" r:id="rId37"/>
    <p:sldId id="355" r:id="rId38"/>
    <p:sldId id="275" r:id="rId39"/>
    <p:sldId id="276" r:id="rId40"/>
    <p:sldId id="277" r:id="rId41"/>
    <p:sldId id="285" r:id="rId42"/>
    <p:sldId id="328" r:id="rId43"/>
    <p:sldId id="356" r:id="rId44"/>
    <p:sldId id="357" r:id="rId45"/>
    <p:sldId id="329" r:id="rId46"/>
    <p:sldId id="364" r:id="rId47"/>
    <p:sldId id="333" r:id="rId48"/>
    <p:sldId id="334" r:id="rId49"/>
    <p:sldId id="335" r:id="rId50"/>
    <p:sldId id="336" r:id="rId51"/>
    <p:sldId id="337" r:id="rId52"/>
    <p:sldId id="338" r:id="rId53"/>
    <p:sldId id="339" r:id="rId54"/>
    <p:sldId id="340" r:id="rId55"/>
    <p:sldId id="342" r:id="rId56"/>
    <p:sldId id="341" r:id="rId57"/>
    <p:sldId id="343" r:id="rId58"/>
    <p:sldId id="344" r:id="rId59"/>
    <p:sldId id="345" r:id="rId60"/>
    <p:sldId id="346" r:id="rId61"/>
    <p:sldId id="349" r:id="rId62"/>
    <p:sldId id="350" r:id="rId63"/>
    <p:sldId id="351" r:id="rId64"/>
    <p:sldId id="347" r:id="rId65"/>
    <p:sldId id="352" r:id="rId66"/>
    <p:sldId id="348" r:id="rId67"/>
    <p:sldId id="361" r:id="rId68"/>
    <p:sldId id="362" r:id="rId69"/>
    <p:sldId id="363" r:id="rId70"/>
    <p:sldId id="278" r:id="rId71"/>
    <p:sldId id="279" r:id="rId72"/>
    <p:sldId id="289" r:id="rId73"/>
    <p:sldId id="290" r:id="rId74"/>
    <p:sldId id="291" r:id="rId75"/>
    <p:sldId id="292" r:id="rId76"/>
    <p:sldId id="294" r:id="rId77"/>
    <p:sldId id="295" r:id="rId78"/>
    <p:sldId id="293" r:id="rId79"/>
    <p:sldId id="296" r:id="rId80"/>
    <p:sldId id="298" r:id="rId81"/>
    <p:sldId id="297" r:id="rId82"/>
    <p:sldId id="299" r:id="rId83"/>
    <p:sldId id="300" r:id="rId84"/>
    <p:sldId id="301" r:id="rId85"/>
    <p:sldId id="303" r:id="rId86"/>
    <p:sldId id="304" r:id="rId87"/>
    <p:sldId id="305" r:id="rId88"/>
    <p:sldId id="306" r:id="rId89"/>
    <p:sldId id="307" r:id="rId90"/>
    <p:sldId id="308" r:id="rId91"/>
    <p:sldId id="309" r:id="rId92"/>
    <p:sldId id="312" r:id="rId93"/>
    <p:sldId id="310" r:id="rId94"/>
    <p:sldId id="311" r:id="rId95"/>
    <p:sldId id="313" r:id="rId96"/>
    <p:sldId id="314" r:id="rId97"/>
    <p:sldId id="315" r:id="rId98"/>
    <p:sldId id="316" r:id="rId99"/>
    <p:sldId id="317" r:id="rId100"/>
    <p:sldId id="318" r:id="rId101"/>
    <p:sldId id="319" r:id="rId102"/>
    <p:sldId id="320" r:id="rId103"/>
    <p:sldId id="321" r:id="rId104"/>
    <p:sldId id="331" r:id="rId105"/>
    <p:sldId id="332" r:id="rId106"/>
    <p:sldId id="326" r:id="rId107"/>
    <p:sldId id="327" r:id="rId108"/>
    <p:sldId id="365" r:id="rId109"/>
    <p:sldId id="366" r:id="rId110"/>
    <p:sldId id="367" r:id="rId111"/>
    <p:sldId id="368" r:id="rId112"/>
    <p:sldId id="369" r:id="rId113"/>
    <p:sldId id="370" r:id="rId114"/>
    <p:sldId id="371" r:id="rId1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539"/>
  </p:normalViewPr>
  <p:slideViewPr>
    <p:cSldViewPr snapToGrid="0">
      <p:cViewPr varScale="1">
        <p:scale>
          <a:sx n="85" d="100"/>
          <a:sy n="85" d="100"/>
        </p:scale>
        <p:origin x="105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viewProps" Target="viewProp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theme" Target="theme/theme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tableStyles" Target="tableStyle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diagrams/_rels/data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svg"/><Relationship Id="rId1" Type="http://schemas.openxmlformats.org/officeDocument/2006/relationships/image" Target="../media/image96.png"/><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s>
</file>

<file path=ppt/diagrams/_rels/drawing1.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7.svg"/><Relationship Id="rId1" Type="http://schemas.openxmlformats.org/officeDocument/2006/relationships/image" Target="../media/image96.png"/><Relationship Id="rId6" Type="http://schemas.openxmlformats.org/officeDocument/2006/relationships/image" Target="../media/image101.svg"/><Relationship Id="rId5" Type="http://schemas.openxmlformats.org/officeDocument/2006/relationships/image" Target="../media/image100.png"/><Relationship Id="rId4" Type="http://schemas.openxmlformats.org/officeDocument/2006/relationships/image" Target="../media/image99.svg"/></Relationships>
</file>

<file path=ppt/diagrams/colors1.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data1.xml><?xml version="1.0" encoding="utf-8"?>
<dgm:dataModel xmlns:dgm="http://schemas.openxmlformats.org/drawingml/2006/diagram" xmlns:a="http://schemas.openxmlformats.org/drawingml/2006/main">
  <dgm:ptLst>
    <dgm:pt modelId="{B22FCA94-9B10-4E2B-B631-AF3886CD7EA2}"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6B5CFDF6-68EA-43DE-BE53-70C595629637}">
      <dgm:prSet/>
      <dgm:spPr/>
      <dgm:t>
        <a:bodyPr/>
        <a:lstStyle/>
        <a:p>
          <a:r>
            <a:rPr lang="en-US"/>
            <a:t>Lists consume more memory than tuples because </a:t>
          </a:r>
          <a:r>
            <a:rPr lang="en-IN" b="0" i="0"/>
            <a:t>As the list grows, additional memory is allocated to accommodate more elements. </a:t>
          </a:r>
          <a:endParaRPr lang="en-US"/>
        </a:p>
      </dgm:t>
    </dgm:pt>
    <dgm:pt modelId="{8B186F7B-5CE4-41B0-89C0-34FE1847A0C9}" type="parTrans" cxnId="{018B166A-AC7F-4488-9728-1820AEF0588A}">
      <dgm:prSet/>
      <dgm:spPr/>
      <dgm:t>
        <a:bodyPr/>
        <a:lstStyle/>
        <a:p>
          <a:endParaRPr lang="en-US"/>
        </a:p>
      </dgm:t>
    </dgm:pt>
    <dgm:pt modelId="{F09F8CEA-FFA6-48D8-AA71-41A64B9740B5}" type="sibTrans" cxnId="{018B166A-AC7F-4488-9728-1820AEF0588A}">
      <dgm:prSet/>
      <dgm:spPr/>
      <dgm:t>
        <a:bodyPr/>
        <a:lstStyle/>
        <a:p>
          <a:endParaRPr lang="en-US"/>
        </a:p>
      </dgm:t>
    </dgm:pt>
    <dgm:pt modelId="{69A5AFD8-0081-484E-9571-C03C2FAC247C}">
      <dgm:prSet/>
      <dgm:spPr/>
      <dgm:t>
        <a:bodyPr/>
        <a:lstStyle/>
        <a:p>
          <a:r>
            <a:rPr lang="en-US"/>
            <a:t>In tuples, </a:t>
          </a:r>
          <a:r>
            <a:rPr lang="en-IN"/>
            <a:t>Python can allocate exactly the amount of memory required     for the elements they contain, with </a:t>
          </a:r>
          <a:endParaRPr lang="en-US"/>
        </a:p>
      </dgm:t>
    </dgm:pt>
    <dgm:pt modelId="{5B3622DE-E3FC-495A-BB90-1390C776723F}" type="parTrans" cxnId="{861AF7E3-FED0-46C4-90DC-2698D4FB87E4}">
      <dgm:prSet/>
      <dgm:spPr/>
      <dgm:t>
        <a:bodyPr/>
        <a:lstStyle/>
        <a:p>
          <a:endParaRPr lang="en-US"/>
        </a:p>
      </dgm:t>
    </dgm:pt>
    <dgm:pt modelId="{D76A6C38-16DF-408A-9D12-5E361907BCB2}" type="sibTrans" cxnId="{861AF7E3-FED0-46C4-90DC-2698D4FB87E4}">
      <dgm:prSet/>
      <dgm:spPr/>
      <dgm:t>
        <a:bodyPr/>
        <a:lstStyle/>
        <a:p>
          <a:endParaRPr lang="en-US"/>
        </a:p>
      </dgm:t>
    </dgm:pt>
    <dgm:pt modelId="{1245603B-07F0-4362-B9D6-DF6C05B77980}">
      <dgm:prSet/>
      <dgm:spPr/>
      <dgm:t>
        <a:bodyPr/>
        <a:lstStyle/>
        <a:p>
          <a:r>
            <a:rPr lang="en-IN"/>
            <a:t>Lists are designed to grow and shrink as elements are added or removed. To efficiently handle this, lists </a:t>
          </a:r>
          <a:r>
            <a:rPr lang="en-IN" b="1"/>
            <a:t>typically allocate more memory than currently needed to accommodate future growth </a:t>
          </a:r>
          <a:r>
            <a:rPr lang="en-IN"/>
            <a:t>without needing frequent reallocations. This extra allocated space is known as over-allocation.</a:t>
          </a:r>
          <a:endParaRPr lang="en-US"/>
        </a:p>
      </dgm:t>
    </dgm:pt>
    <dgm:pt modelId="{1E764B00-9441-4036-A844-29236EC432B7}" type="parTrans" cxnId="{4DCC1A77-4350-4481-8CDF-51EB309248D8}">
      <dgm:prSet/>
      <dgm:spPr/>
      <dgm:t>
        <a:bodyPr/>
        <a:lstStyle/>
        <a:p>
          <a:endParaRPr lang="en-US"/>
        </a:p>
      </dgm:t>
    </dgm:pt>
    <dgm:pt modelId="{FEE57942-0DEC-4E0A-9478-1D07443268B9}" type="sibTrans" cxnId="{4DCC1A77-4350-4481-8CDF-51EB309248D8}">
      <dgm:prSet/>
      <dgm:spPr/>
      <dgm:t>
        <a:bodyPr/>
        <a:lstStyle/>
        <a:p>
          <a:endParaRPr lang="en-US"/>
        </a:p>
      </dgm:t>
    </dgm:pt>
    <dgm:pt modelId="{3E48BCC5-B3F2-4087-8852-E133A3CA7732}" type="pres">
      <dgm:prSet presAssocID="{B22FCA94-9B10-4E2B-B631-AF3886CD7EA2}" presName="root" presStyleCnt="0">
        <dgm:presLayoutVars>
          <dgm:dir/>
          <dgm:resizeHandles val="exact"/>
        </dgm:presLayoutVars>
      </dgm:prSet>
      <dgm:spPr/>
    </dgm:pt>
    <dgm:pt modelId="{93C33868-488F-4EA3-AEDC-2628D2E9DA09}" type="pres">
      <dgm:prSet presAssocID="{6B5CFDF6-68EA-43DE-BE53-70C595629637}" presName="compNode" presStyleCnt="0"/>
      <dgm:spPr/>
    </dgm:pt>
    <dgm:pt modelId="{D7D14B0B-B820-4562-B13D-36B5E96E6B10}" type="pres">
      <dgm:prSet presAssocID="{6B5CFDF6-68EA-43DE-BE53-70C595629637}" presName="bgRect" presStyleLbl="bgShp" presStyleIdx="0" presStyleCnt="3"/>
      <dgm:spPr/>
    </dgm:pt>
    <dgm:pt modelId="{96050D51-4B35-4CE9-8833-DEAA83DD0251}" type="pres">
      <dgm:prSet presAssocID="{6B5CFDF6-68EA-43DE-BE53-70C595629637}"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cessor"/>
        </a:ext>
      </dgm:extLst>
    </dgm:pt>
    <dgm:pt modelId="{7A8B7FE1-91CD-492C-8929-6FC6E35B9EAF}" type="pres">
      <dgm:prSet presAssocID="{6B5CFDF6-68EA-43DE-BE53-70C595629637}" presName="spaceRect" presStyleCnt="0"/>
      <dgm:spPr/>
    </dgm:pt>
    <dgm:pt modelId="{5370E102-ED2D-410F-9CBB-041BF4CE5A76}" type="pres">
      <dgm:prSet presAssocID="{6B5CFDF6-68EA-43DE-BE53-70C595629637}" presName="parTx" presStyleLbl="revTx" presStyleIdx="0" presStyleCnt="3">
        <dgm:presLayoutVars>
          <dgm:chMax val="0"/>
          <dgm:chPref val="0"/>
        </dgm:presLayoutVars>
      </dgm:prSet>
      <dgm:spPr/>
    </dgm:pt>
    <dgm:pt modelId="{AEA6C18F-9A25-4339-A046-83B960F7D4FE}" type="pres">
      <dgm:prSet presAssocID="{F09F8CEA-FFA6-48D8-AA71-41A64B9740B5}" presName="sibTrans" presStyleCnt="0"/>
      <dgm:spPr/>
    </dgm:pt>
    <dgm:pt modelId="{AACBCDD5-B2DB-4562-B8AB-FDD61EDB9BA3}" type="pres">
      <dgm:prSet presAssocID="{69A5AFD8-0081-484E-9571-C03C2FAC247C}" presName="compNode" presStyleCnt="0"/>
      <dgm:spPr/>
    </dgm:pt>
    <dgm:pt modelId="{4B71D810-EBAA-4397-AA3E-018E7CF9F441}" type="pres">
      <dgm:prSet presAssocID="{69A5AFD8-0081-484E-9571-C03C2FAC247C}" presName="bgRect" presStyleLbl="bgShp" presStyleIdx="1" presStyleCnt="3"/>
      <dgm:spPr/>
    </dgm:pt>
    <dgm:pt modelId="{61D53816-F3AD-493C-98DA-D2600602F19C}" type="pres">
      <dgm:prSet presAssocID="{69A5AFD8-0081-484E-9571-C03C2FAC247C}"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grammer"/>
        </a:ext>
      </dgm:extLst>
    </dgm:pt>
    <dgm:pt modelId="{8A17C781-C353-461B-931A-A87409AE0BED}" type="pres">
      <dgm:prSet presAssocID="{69A5AFD8-0081-484E-9571-C03C2FAC247C}" presName="spaceRect" presStyleCnt="0"/>
      <dgm:spPr/>
    </dgm:pt>
    <dgm:pt modelId="{2899DFC4-0BD3-4C79-94F7-8AE2B51DB6F8}" type="pres">
      <dgm:prSet presAssocID="{69A5AFD8-0081-484E-9571-C03C2FAC247C}" presName="parTx" presStyleLbl="revTx" presStyleIdx="1" presStyleCnt="3">
        <dgm:presLayoutVars>
          <dgm:chMax val="0"/>
          <dgm:chPref val="0"/>
        </dgm:presLayoutVars>
      </dgm:prSet>
      <dgm:spPr/>
    </dgm:pt>
    <dgm:pt modelId="{2B9849BD-3688-459F-BD2D-AAB46ACCADF8}" type="pres">
      <dgm:prSet presAssocID="{D76A6C38-16DF-408A-9D12-5E361907BCB2}" presName="sibTrans" presStyleCnt="0"/>
      <dgm:spPr/>
    </dgm:pt>
    <dgm:pt modelId="{2BE61893-8934-4D18-BDD6-461AD3DFD28C}" type="pres">
      <dgm:prSet presAssocID="{1245603B-07F0-4362-B9D6-DF6C05B77980}" presName="compNode" presStyleCnt="0"/>
      <dgm:spPr/>
    </dgm:pt>
    <dgm:pt modelId="{826C88B4-D918-4991-B372-EDF55D7DC3FF}" type="pres">
      <dgm:prSet presAssocID="{1245603B-07F0-4362-B9D6-DF6C05B77980}" presName="bgRect" presStyleLbl="bgShp" presStyleIdx="2" presStyleCnt="3"/>
      <dgm:spPr/>
    </dgm:pt>
    <dgm:pt modelId="{4990B552-0FFF-4681-8E17-9661D49AEB62}" type="pres">
      <dgm:prSet presAssocID="{1245603B-07F0-4362-B9D6-DF6C05B77980}"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0E55F970-6AF4-417D-B000-A3E6CACFBC28}" type="pres">
      <dgm:prSet presAssocID="{1245603B-07F0-4362-B9D6-DF6C05B77980}" presName="spaceRect" presStyleCnt="0"/>
      <dgm:spPr/>
    </dgm:pt>
    <dgm:pt modelId="{8F4F7A97-7883-4EDA-9408-296EA111978F}" type="pres">
      <dgm:prSet presAssocID="{1245603B-07F0-4362-B9D6-DF6C05B77980}" presName="parTx" presStyleLbl="revTx" presStyleIdx="2" presStyleCnt="3">
        <dgm:presLayoutVars>
          <dgm:chMax val="0"/>
          <dgm:chPref val="0"/>
        </dgm:presLayoutVars>
      </dgm:prSet>
      <dgm:spPr/>
    </dgm:pt>
  </dgm:ptLst>
  <dgm:cxnLst>
    <dgm:cxn modelId="{47C5015E-FDEE-46A8-BDFE-8CAF13384F36}" type="presOf" srcId="{1245603B-07F0-4362-B9D6-DF6C05B77980}" destId="{8F4F7A97-7883-4EDA-9408-296EA111978F}" srcOrd="0" destOrd="0" presId="urn:microsoft.com/office/officeart/2018/2/layout/IconVerticalSolidList"/>
    <dgm:cxn modelId="{43991064-9EDE-4A06-A485-15CB6C017B58}" type="presOf" srcId="{6B5CFDF6-68EA-43DE-BE53-70C595629637}" destId="{5370E102-ED2D-410F-9CBB-041BF4CE5A76}" srcOrd="0" destOrd="0" presId="urn:microsoft.com/office/officeart/2018/2/layout/IconVerticalSolidList"/>
    <dgm:cxn modelId="{018B166A-AC7F-4488-9728-1820AEF0588A}" srcId="{B22FCA94-9B10-4E2B-B631-AF3886CD7EA2}" destId="{6B5CFDF6-68EA-43DE-BE53-70C595629637}" srcOrd="0" destOrd="0" parTransId="{8B186F7B-5CE4-41B0-89C0-34FE1847A0C9}" sibTransId="{F09F8CEA-FFA6-48D8-AA71-41A64B9740B5}"/>
    <dgm:cxn modelId="{4DCC1A77-4350-4481-8CDF-51EB309248D8}" srcId="{B22FCA94-9B10-4E2B-B631-AF3886CD7EA2}" destId="{1245603B-07F0-4362-B9D6-DF6C05B77980}" srcOrd="2" destOrd="0" parTransId="{1E764B00-9441-4036-A844-29236EC432B7}" sibTransId="{FEE57942-0DEC-4E0A-9478-1D07443268B9}"/>
    <dgm:cxn modelId="{7968BF7F-7178-42FD-8D16-4E16237CF4EB}" type="presOf" srcId="{69A5AFD8-0081-484E-9571-C03C2FAC247C}" destId="{2899DFC4-0BD3-4C79-94F7-8AE2B51DB6F8}" srcOrd="0" destOrd="0" presId="urn:microsoft.com/office/officeart/2018/2/layout/IconVerticalSolidList"/>
    <dgm:cxn modelId="{867ADB98-C4E3-46F4-9168-926CAF60B8B6}" type="presOf" srcId="{B22FCA94-9B10-4E2B-B631-AF3886CD7EA2}" destId="{3E48BCC5-B3F2-4087-8852-E133A3CA7732}" srcOrd="0" destOrd="0" presId="urn:microsoft.com/office/officeart/2018/2/layout/IconVerticalSolidList"/>
    <dgm:cxn modelId="{861AF7E3-FED0-46C4-90DC-2698D4FB87E4}" srcId="{B22FCA94-9B10-4E2B-B631-AF3886CD7EA2}" destId="{69A5AFD8-0081-484E-9571-C03C2FAC247C}" srcOrd="1" destOrd="0" parTransId="{5B3622DE-E3FC-495A-BB90-1390C776723F}" sibTransId="{D76A6C38-16DF-408A-9D12-5E361907BCB2}"/>
    <dgm:cxn modelId="{7B152C66-6127-42F6-B2A4-95889CD4FA64}" type="presParOf" srcId="{3E48BCC5-B3F2-4087-8852-E133A3CA7732}" destId="{93C33868-488F-4EA3-AEDC-2628D2E9DA09}" srcOrd="0" destOrd="0" presId="urn:microsoft.com/office/officeart/2018/2/layout/IconVerticalSolidList"/>
    <dgm:cxn modelId="{7EEBDE3F-846C-4AB0-A46A-BF8E30D2A785}" type="presParOf" srcId="{93C33868-488F-4EA3-AEDC-2628D2E9DA09}" destId="{D7D14B0B-B820-4562-B13D-36B5E96E6B10}" srcOrd="0" destOrd="0" presId="urn:microsoft.com/office/officeart/2018/2/layout/IconVerticalSolidList"/>
    <dgm:cxn modelId="{D77988AC-C0CB-4AFE-892D-CDA7C8E58FBA}" type="presParOf" srcId="{93C33868-488F-4EA3-AEDC-2628D2E9DA09}" destId="{96050D51-4B35-4CE9-8833-DEAA83DD0251}" srcOrd="1" destOrd="0" presId="urn:microsoft.com/office/officeart/2018/2/layout/IconVerticalSolidList"/>
    <dgm:cxn modelId="{DF7FDBCC-6240-4F1B-9492-BD62DAAC0A04}" type="presParOf" srcId="{93C33868-488F-4EA3-AEDC-2628D2E9DA09}" destId="{7A8B7FE1-91CD-492C-8929-6FC6E35B9EAF}" srcOrd="2" destOrd="0" presId="urn:microsoft.com/office/officeart/2018/2/layout/IconVerticalSolidList"/>
    <dgm:cxn modelId="{245DF4FC-5639-4FF4-92F2-9F240A06231F}" type="presParOf" srcId="{93C33868-488F-4EA3-AEDC-2628D2E9DA09}" destId="{5370E102-ED2D-410F-9CBB-041BF4CE5A76}" srcOrd="3" destOrd="0" presId="urn:microsoft.com/office/officeart/2018/2/layout/IconVerticalSolidList"/>
    <dgm:cxn modelId="{8CDFCEEF-E771-439F-ADCB-31EEF2BEB687}" type="presParOf" srcId="{3E48BCC5-B3F2-4087-8852-E133A3CA7732}" destId="{AEA6C18F-9A25-4339-A046-83B960F7D4FE}" srcOrd="1" destOrd="0" presId="urn:microsoft.com/office/officeart/2018/2/layout/IconVerticalSolidList"/>
    <dgm:cxn modelId="{8E2EAF8D-0C2D-4A46-88A3-270BE50AFCF8}" type="presParOf" srcId="{3E48BCC5-B3F2-4087-8852-E133A3CA7732}" destId="{AACBCDD5-B2DB-4562-B8AB-FDD61EDB9BA3}" srcOrd="2" destOrd="0" presId="urn:microsoft.com/office/officeart/2018/2/layout/IconVerticalSolidList"/>
    <dgm:cxn modelId="{5363C9DD-8AFF-4FAA-9943-08DE354DE292}" type="presParOf" srcId="{AACBCDD5-B2DB-4562-B8AB-FDD61EDB9BA3}" destId="{4B71D810-EBAA-4397-AA3E-018E7CF9F441}" srcOrd="0" destOrd="0" presId="urn:microsoft.com/office/officeart/2018/2/layout/IconVerticalSolidList"/>
    <dgm:cxn modelId="{0D14F033-FD91-4D21-8091-1D7B2CFE9C90}" type="presParOf" srcId="{AACBCDD5-B2DB-4562-B8AB-FDD61EDB9BA3}" destId="{61D53816-F3AD-493C-98DA-D2600602F19C}" srcOrd="1" destOrd="0" presId="urn:microsoft.com/office/officeart/2018/2/layout/IconVerticalSolidList"/>
    <dgm:cxn modelId="{4E6F4402-F394-474D-BE6B-967AA3DA7EDF}" type="presParOf" srcId="{AACBCDD5-B2DB-4562-B8AB-FDD61EDB9BA3}" destId="{8A17C781-C353-461B-931A-A87409AE0BED}" srcOrd="2" destOrd="0" presId="urn:microsoft.com/office/officeart/2018/2/layout/IconVerticalSolidList"/>
    <dgm:cxn modelId="{6090BD0B-B7D6-44FB-8F5B-46733FA6AFC3}" type="presParOf" srcId="{AACBCDD5-B2DB-4562-B8AB-FDD61EDB9BA3}" destId="{2899DFC4-0BD3-4C79-94F7-8AE2B51DB6F8}" srcOrd="3" destOrd="0" presId="urn:microsoft.com/office/officeart/2018/2/layout/IconVerticalSolidList"/>
    <dgm:cxn modelId="{E1D96F7D-A287-434C-B782-D6559BC9C08C}" type="presParOf" srcId="{3E48BCC5-B3F2-4087-8852-E133A3CA7732}" destId="{2B9849BD-3688-459F-BD2D-AAB46ACCADF8}" srcOrd="3" destOrd="0" presId="urn:microsoft.com/office/officeart/2018/2/layout/IconVerticalSolidList"/>
    <dgm:cxn modelId="{DAAB370C-02C1-410D-BE8E-5337A2940030}" type="presParOf" srcId="{3E48BCC5-B3F2-4087-8852-E133A3CA7732}" destId="{2BE61893-8934-4D18-BDD6-461AD3DFD28C}" srcOrd="4" destOrd="0" presId="urn:microsoft.com/office/officeart/2018/2/layout/IconVerticalSolidList"/>
    <dgm:cxn modelId="{50D5DE36-A49F-43DA-A480-1024E7BF3BD4}" type="presParOf" srcId="{2BE61893-8934-4D18-BDD6-461AD3DFD28C}" destId="{826C88B4-D918-4991-B372-EDF55D7DC3FF}" srcOrd="0" destOrd="0" presId="urn:microsoft.com/office/officeart/2018/2/layout/IconVerticalSolidList"/>
    <dgm:cxn modelId="{91B0C079-92A3-4BED-9612-A42A9209B946}" type="presParOf" srcId="{2BE61893-8934-4D18-BDD6-461AD3DFD28C}" destId="{4990B552-0FFF-4681-8E17-9661D49AEB62}" srcOrd="1" destOrd="0" presId="urn:microsoft.com/office/officeart/2018/2/layout/IconVerticalSolidList"/>
    <dgm:cxn modelId="{00134FAA-E7DE-401E-BFF6-DD6DBB1D6EE2}" type="presParOf" srcId="{2BE61893-8934-4D18-BDD6-461AD3DFD28C}" destId="{0E55F970-6AF4-417D-B000-A3E6CACFBC28}" srcOrd="2" destOrd="0" presId="urn:microsoft.com/office/officeart/2018/2/layout/IconVerticalSolidList"/>
    <dgm:cxn modelId="{9A19C65C-EE15-4E01-A009-4DB5F9743437}" type="presParOf" srcId="{2BE61893-8934-4D18-BDD6-461AD3DFD28C}" destId="{8F4F7A97-7883-4EDA-9408-296EA111978F}"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7D14B0B-B820-4562-B13D-36B5E96E6B10}">
      <dsp:nvSpPr>
        <dsp:cNvPr id="0" name=""/>
        <dsp:cNvSpPr/>
      </dsp:nvSpPr>
      <dsp:spPr>
        <a:xfrm>
          <a:off x="0" y="531"/>
          <a:ext cx="10515600" cy="1244702"/>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6050D51-4B35-4CE9-8833-DEAA83DD0251}">
      <dsp:nvSpPr>
        <dsp:cNvPr id="0" name=""/>
        <dsp:cNvSpPr/>
      </dsp:nvSpPr>
      <dsp:spPr>
        <a:xfrm>
          <a:off x="376522" y="280590"/>
          <a:ext cx="684586" cy="684586"/>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370E102-ED2D-410F-9CBB-041BF4CE5A76}">
      <dsp:nvSpPr>
        <dsp:cNvPr id="0" name=""/>
        <dsp:cNvSpPr/>
      </dsp:nvSpPr>
      <dsp:spPr>
        <a:xfrm>
          <a:off x="1437631" y="531"/>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Lists consume more memory than tuples because </a:t>
          </a:r>
          <a:r>
            <a:rPr lang="en-IN" sz="1700" b="0" i="0" kern="1200"/>
            <a:t>As the list grows, additional memory is allocated to accommodate more elements. </a:t>
          </a:r>
          <a:endParaRPr lang="en-US" sz="1700" kern="1200"/>
        </a:p>
      </dsp:txBody>
      <dsp:txXfrm>
        <a:off x="1437631" y="531"/>
        <a:ext cx="9077968" cy="1244702"/>
      </dsp:txXfrm>
    </dsp:sp>
    <dsp:sp modelId="{4B71D810-EBAA-4397-AA3E-018E7CF9F441}">
      <dsp:nvSpPr>
        <dsp:cNvPr id="0" name=""/>
        <dsp:cNvSpPr/>
      </dsp:nvSpPr>
      <dsp:spPr>
        <a:xfrm>
          <a:off x="0" y="1556410"/>
          <a:ext cx="10515600" cy="1244702"/>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1D53816-F3AD-493C-98DA-D2600602F19C}">
      <dsp:nvSpPr>
        <dsp:cNvPr id="0" name=""/>
        <dsp:cNvSpPr/>
      </dsp:nvSpPr>
      <dsp:spPr>
        <a:xfrm>
          <a:off x="376522" y="1836468"/>
          <a:ext cx="684586" cy="684586"/>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899DFC4-0BD3-4C79-94F7-8AE2B51DB6F8}">
      <dsp:nvSpPr>
        <dsp:cNvPr id="0" name=""/>
        <dsp:cNvSpPr/>
      </dsp:nvSpPr>
      <dsp:spPr>
        <a:xfrm>
          <a:off x="1437631" y="1556410"/>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US" sz="1700" kern="1200"/>
            <a:t>In tuples, </a:t>
          </a:r>
          <a:r>
            <a:rPr lang="en-IN" sz="1700" kern="1200"/>
            <a:t>Python can allocate exactly the amount of memory required     for the elements they contain, with </a:t>
          </a:r>
          <a:endParaRPr lang="en-US" sz="1700" kern="1200"/>
        </a:p>
      </dsp:txBody>
      <dsp:txXfrm>
        <a:off x="1437631" y="1556410"/>
        <a:ext cx="9077968" cy="1244702"/>
      </dsp:txXfrm>
    </dsp:sp>
    <dsp:sp modelId="{826C88B4-D918-4991-B372-EDF55D7DC3FF}">
      <dsp:nvSpPr>
        <dsp:cNvPr id="0" name=""/>
        <dsp:cNvSpPr/>
      </dsp:nvSpPr>
      <dsp:spPr>
        <a:xfrm>
          <a:off x="0" y="3112289"/>
          <a:ext cx="10515600" cy="1244702"/>
        </a:xfrm>
        <a:prstGeom prst="roundRect">
          <a:avLst>
            <a:gd name="adj" fmla="val 10000"/>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990B552-0FFF-4681-8E17-9661D49AEB62}">
      <dsp:nvSpPr>
        <dsp:cNvPr id="0" name=""/>
        <dsp:cNvSpPr/>
      </dsp:nvSpPr>
      <dsp:spPr>
        <a:xfrm>
          <a:off x="376522" y="3392347"/>
          <a:ext cx="684586" cy="684586"/>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F4F7A97-7883-4EDA-9408-296EA111978F}">
      <dsp:nvSpPr>
        <dsp:cNvPr id="0" name=""/>
        <dsp:cNvSpPr/>
      </dsp:nvSpPr>
      <dsp:spPr>
        <a:xfrm>
          <a:off x="1437631" y="3112289"/>
          <a:ext cx="9077968" cy="12447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1731" tIns="131731" rIns="131731" bIns="131731" numCol="1" spcCol="1270" anchor="ctr" anchorCtr="0">
          <a:noAutofit/>
        </a:bodyPr>
        <a:lstStyle/>
        <a:p>
          <a:pPr marL="0" lvl="0" indent="0" algn="l" defTabSz="755650">
            <a:lnSpc>
              <a:spcPct val="90000"/>
            </a:lnSpc>
            <a:spcBef>
              <a:spcPct val="0"/>
            </a:spcBef>
            <a:spcAft>
              <a:spcPct val="35000"/>
            </a:spcAft>
            <a:buNone/>
          </a:pPr>
          <a:r>
            <a:rPr lang="en-IN" sz="1700" kern="1200"/>
            <a:t>Lists are designed to grow and shrink as elements are added or removed. To efficiently handle this, lists </a:t>
          </a:r>
          <a:r>
            <a:rPr lang="en-IN" sz="1700" b="1" kern="1200"/>
            <a:t>typically allocate more memory than currently needed to accommodate future growth </a:t>
          </a:r>
          <a:r>
            <a:rPr lang="en-IN" sz="1700" kern="1200"/>
            <a:t>without needing frequent reallocations. This extra allocated space is known as over-allocation.</a:t>
          </a:r>
          <a:endParaRPr lang="en-US" sz="1700" kern="1200"/>
        </a:p>
      </dsp:txBody>
      <dsp:txXfrm>
        <a:off x="1437631" y="3112289"/>
        <a:ext cx="9077968" cy="1244702"/>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AD9B65-73A5-2D04-DF33-8EF4EA51A065}"/>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US"/>
          </a:p>
        </p:txBody>
      </p:sp>
      <p:sp>
        <p:nvSpPr>
          <p:cNvPr id="3" name="Subtitle 2">
            <a:extLst>
              <a:ext uri="{FF2B5EF4-FFF2-40B4-BE49-F238E27FC236}">
                <a16:creationId xmlns:a16="http://schemas.microsoft.com/office/drawing/2014/main" id="{1A4E4A67-31CE-55DB-36BC-595F68415CD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FCAEEF23-6AEF-C8B8-C05C-B7C571F6C3DE}"/>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9E2A1E89-056F-8886-7999-87574B25E71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DA6479-20B1-E08B-7A53-5CFBCB341373}"/>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1704986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B6DBF6-BB93-33D0-1BCB-87BE9B0662DF}"/>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404AFEB0-CC25-1067-FCC1-1BC38DA80C69}"/>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84D88AFC-F255-C783-5FD5-467AB63BEADA}"/>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F0CDA05E-375C-AC9B-26B9-674ECEF0132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CFB70AA-26E6-76EF-2655-F966707471F8}"/>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2423414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250850-D16E-8D16-A0D9-10CA8527A723}"/>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US"/>
          </a:p>
        </p:txBody>
      </p:sp>
      <p:sp>
        <p:nvSpPr>
          <p:cNvPr id="3" name="Text Placeholder 2">
            <a:extLst>
              <a:ext uri="{FF2B5EF4-FFF2-40B4-BE49-F238E27FC236}">
                <a16:creationId xmlns:a16="http://schemas.microsoft.com/office/drawing/2014/main" id="{E9C455C2-B69F-BAF8-740B-2E2DFAC422E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8320175-D908-6851-CC52-71E192907E3C}"/>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A6A80667-3B2C-27E6-325A-063432B38AD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9F2A68-D255-8579-34A7-8F5558A1A29B}"/>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39995785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D67129-9825-885B-48E2-E7022393075C}"/>
              </a:ext>
            </a:extLst>
          </p:cNvPr>
          <p:cNvSpPr>
            <a:spLocks noGrp="1"/>
          </p:cNvSpPr>
          <p:nvPr>
            <p:ph type="title"/>
          </p:nvPr>
        </p:nvSpPr>
        <p:spPr/>
        <p:txBody>
          <a:bodyPr/>
          <a:lstStyle/>
          <a:p>
            <a:r>
              <a:rPr lang="en-GB"/>
              <a:t>Click to edit Master title style</a:t>
            </a:r>
            <a:endParaRPr lang="en-US"/>
          </a:p>
        </p:txBody>
      </p:sp>
      <p:sp>
        <p:nvSpPr>
          <p:cNvPr id="3" name="Content Placeholder 2">
            <a:extLst>
              <a:ext uri="{FF2B5EF4-FFF2-40B4-BE49-F238E27FC236}">
                <a16:creationId xmlns:a16="http://schemas.microsoft.com/office/drawing/2014/main" id="{B9FB7C6D-122A-9680-78E0-89325D6E34C4}"/>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a:extLst>
              <a:ext uri="{FF2B5EF4-FFF2-40B4-BE49-F238E27FC236}">
                <a16:creationId xmlns:a16="http://schemas.microsoft.com/office/drawing/2014/main" id="{8368017C-A55D-4594-ABD1-AD439829273E}"/>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4">
            <a:extLst>
              <a:ext uri="{FF2B5EF4-FFF2-40B4-BE49-F238E27FC236}">
                <a16:creationId xmlns:a16="http://schemas.microsoft.com/office/drawing/2014/main" id="{923E7E0E-2F5C-B95F-2807-0410779CEA48}"/>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6" name="Footer Placeholder 5">
            <a:extLst>
              <a:ext uri="{FF2B5EF4-FFF2-40B4-BE49-F238E27FC236}">
                <a16:creationId xmlns:a16="http://schemas.microsoft.com/office/drawing/2014/main" id="{DBD0637E-6EA0-4E22-287B-9D1A46522C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17C58B5-FF8F-210E-8E5F-CAB509E411AE}"/>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33928924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048AD3-5129-19E6-D2B7-1EF506BBAF4B}"/>
              </a:ext>
            </a:extLst>
          </p:cNvPr>
          <p:cNvSpPr>
            <a:spLocks noGrp="1"/>
          </p:cNvSpPr>
          <p:nvPr>
            <p:ph type="title"/>
          </p:nvPr>
        </p:nvSpPr>
        <p:spPr>
          <a:xfrm>
            <a:off x="839788" y="365125"/>
            <a:ext cx="10515600" cy="1325563"/>
          </a:xfrm>
        </p:spPr>
        <p:txBody>
          <a:bodyPr/>
          <a:lstStyle/>
          <a:p>
            <a:r>
              <a:rPr lang="en-GB"/>
              <a:t>Click to edit Master title style</a:t>
            </a:r>
            <a:endParaRPr lang="en-US"/>
          </a:p>
        </p:txBody>
      </p:sp>
      <p:sp>
        <p:nvSpPr>
          <p:cNvPr id="3" name="Text Placeholder 2">
            <a:extLst>
              <a:ext uri="{FF2B5EF4-FFF2-40B4-BE49-F238E27FC236}">
                <a16:creationId xmlns:a16="http://schemas.microsoft.com/office/drawing/2014/main" id="{8C5A0D87-7721-BEBC-D980-06AD8BC9BA0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B5F49295-BD2D-2771-4460-ACA8417EC20C}"/>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a:extLst>
              <a:ext uri="{FF2B5EF4-FFF2-40B4-BE49-F238E27FC236}">
                <a16:creationId xmlns:a16="http://schemas.microsoft.com/office/drawing/2014/main" id="{5BEA51D4-8587-28A8-58AA-D09E14FDB8A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78E1B37D-8698-6C6D-9559-218CDED7A036}"/>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6">
            <a:extLst>
              <a:ext uri="{FF2B5EF4-FFF2-40B4-BE49-F238E27FC236}">
                <a16:creationId xmlns:a16="http://schemas.microsoft.com/office/drawing/2014/main" id="{CB183B95-92F6-F962-0FF9-2A76F36B282E}"/>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8" name="Footer Placeholder 7">
            <a:extLst>
              <a:ext uri="{FF2B5EF4-FFF2-40B4-BE49-F238E27FC236}">
                <a16:creationId xmlns:a16="http://schemas.microsoft.com/office/drawing/2014/main" id="{9E384663-2376-FCBF-C178-7A709E8FF2D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85C5629-1A69-20FD-80C0-B72AA3EB516E}"/>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34528534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937248-9E25-308E-16E3-0CEEC09CDAE2}"/>
              </a:ext>
            </a:extLst>
          </p:cNvPr>
          <p:cNvSpPr>
            <a:spLocks noGrp="1"/>
          </p:cNvSpPr>
          <p:nvPr>
            <p:ph type="title"/>
          </p:nvPr>
        </p:nvSpPr>
        <p:spPr/>
        <p:txBody>
          <a:bodyPr/>
          <a:lstStyle/>
          <a:p>
            <a:r>
              <a:rPr lang="en-GB"/>
              <a:t>Click to edit Master title style</a:t>
            </a:r>
            <a:endParaRPr lang="en-US"/>
          </a:p>
        </p:txBody>
      </p:sp>
      <p:sp>
        <p:nvSpPr>
          <p:cNvPr id="3" name="Date Placeholder 2">
            <a:extLst>
              <a:ext uri="{FF2B5EF4-FFF2-40B4-BE49-F238E27FC236}">
                <a16:creationId xmlns:a16="http://schemas.microsoft.com/office/drawing/2014/main" id="{629C3C8C-3B52-81FC-A99A-E48632A4B57C}"/>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4" name="Footer Placeholder 3">
            <a:extLst>
              <a:ext uri="{FF2B5EF4-FFF2-40B4-BE49-F238E27FC236}">
                <a16:creationId xmlns:a16="http://schemas.microsoft.com/office/drawing/2014/main" id="{46067992-4E8B-43DA-EAF9-F092BCCC97F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BE49AC1-F6E0-D184-D1DB-059ED4EEDC58}"/>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12361429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25132C-B72B-F458-C108-848CE2240DC6}"/>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3" name="Footer Placeholder 2">
            <a:extLst>
              <a:ext uri="{FF2B5EF4-FFF2-40B4-BE49-F238E27FC236}">
                <a16:creationId xmlns:a16="http://schemas.microsoft.com/office/drawing/2014/main" id="{59E48453-8A02-71B0-2E9D-EAC4BDFB1B1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1B74882D-6E5A-56BE-67D9-EAFA5D015B81}"/>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41598337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84B07F-F7A0-BA3B-CEB0-C089E36255AA}"/>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Content Placeholder 2">
            <a:extLst>
              <a:ext uri="{FF2B5EF4-FFF2-40B4-BE49-F238E27FC236}">
                <a16:creationId xmlns:a16="http://schemas.microsoft.com/office/drawing/2014/main" id="{432C923A-DCEC-07F6-FF93-D8560C42380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a:extLst>
              <a:ext uri="{FF2B5EF4-FFF2-40B4-BE49-F238E27FC236}">
                <a16:creationId xmlns:a16="http://schemas.microsoft.com/office/drawing/2014/main" id="{5B650909-60B9-EB81-13B3-7F616356034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AD8CC1D-30E9-BB02-6A49-B3A49A23D129}"/>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6" name="Footer Placeholder 5">
            <a:extLst>
              <a:ext uri="{FF2B5EF4-FFF2-40B4-BE49-F238E27FC236}">
                <a16:creationId xmlns:a16="http://schemas.microsoft.com/office/drawing/2014/main" id="{5BA2DEC9-7308-04A5-61FF-3FF05AA2902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9F6FCDE-72C6-A60F-258A-119138B11A0D}"/>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3839750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8D79B-57AF-E058-A69F-E470BFE82D23}"/>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US"/>
          </a:p>
        </p:txBody>
      </p:sp>
      <p:sp>
        <p:nvSpPr>
          <p:cNvPr id="3" name="Picture Placeholder 2">
            <a:extLst>
              <a:ext uri="{FF2B5EF4-FFF2-40B4-BE49-F238E27FC236}">
                <a16:creationId xmlns:a16="http://schemas.microsoft.com/office/drawing/2014/main" id="{2B2CD9AB-A323-607D-68CC-E3DEB0A8DF1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5D11A14-50DF-FE46-92DB-5AC8E04396E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56AB3337-1B6C-2CD7-22D9-214792AB1D72}"/>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6" name="Footer Placeholder 5">
            <a:extLst>
              <a:ext uri="{FF2B5EF4-FFF2-40B4-BE49-F238E27FC236}">
                <a16:creationId xmlns:a16="http://schemas.microsoft.com/office/drawing/2014/main" id="{FB4E0990-769E-8419-B4E2-B42BA387D6F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6F23BA3-D296-E4B8-3EF8-53B2096BB00A}"/>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37477494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BDEA05-7497-587F-ABB4-9E380DCCB134}"/>
              </a:ext>
            </a:extLst>
          </p:cNvPr>
          <p:cNvSpPr>
            <a:spLocks noGrp="1"/>
          </p:cNvSpPr>
          <p:nvPr>
            <p:ph type="title"/>
          </p:nvPr>
        </p:nvSpPr>
        <p:spPr/>
        <p:txBody>
          <a:bodyPr/>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1D4F319E-B9F8-EBEF-4FE9-3445D7CFB7D4}"/>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58EC1F07-5726-4B5E-04BF-FF04EA280F55}"/>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021449FA-4387-00E3-B5F4-F8A06A1A0D0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531CF9C-4C6F-00E0-A0E5-5881A75CCD9A}"/>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15300764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C1D31D8-D006-3C32-70AD-BDA26AA733C7}"/>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US"/>
          </a:p>
        </p:txBody>
      </p:sp>
      <p:sp>
        <p:nvSpPr>
          <p:cNvPr id="3" name="Vertical Text Placeholder 2">
            <a:extLst>
              <a:ext uri="{FF2B5EF4-FFF2-40B4-BE49-F238E27FC236}">
                <a16:creationId xmlns:a16="http://schemas.microsoft.com/office/drawing/2014/main" id="{6EBA8504-0532-A71C-B99A-AC9C08E126D7}"/>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E5A12D31-64D7-BEB3-80F9-A38F3FBE88DD}"/>
              </a:ext>
            </a:extLst>
          </p:cNvPr>
          <p:cNvSpPr>
            <a:spLocks noGrp="1"/>
          </p:cNvSpPr>
          <p:nvPr>
            <p:ph type="dt" sz="half" idx="10"/>
          </p:nvPr>
        </p:nvSpPr>
        <p:spPr/>
        <p:txBody>
          <a:body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5D613640-1E9C-2187-DFB8-7D0C511EFAC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615819-AB62-41C3-CE45-D8C8A3E99DCE}"/>
              </a:ext>
            </a:extLst>
          </p:cNvPr>
          <p:cNvSpPr>
            <a:spLocks noGrp="1"/>
          </p:cNvSpPr>
          <p:nvPr>
            <p:ph type="sldNum" sz="quarter" idx="12"/>
          </p:nvPr>
        </p:nvSpPr>
        <p:spPr/>
        <p:txBody>
          <a:bodyPr/>
          <a:lstStyle/>
          <a:p>
            <a:fld id="{5AED1350-06D8-004A-8BE6-0A1C22F96ACD}" type="slidenum">
              <a:rPr lang="en-US" smtClean="0"/>
              <a:t>‹#›</a:t>
            </a:fld>
            <a:endParaRPr lang="en-US"/>
          </a:p>
        </p:txBody>
      </p:sp>
    </p:spTree>
    <p:extLst>
      <p:ext uri="{BB962C8B-B14F-4D97-AF65-F5344CB8AC3E}">
        <p14:creationId xmlns:p14="http://schemas.microsoft.com/office/powerpoint/2010/main" val="27521824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E0E0AC2-96F2-2C2C-E246-F0F42726A72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US"/>
          </a:p>
        </p:txBody>
      </p:sp>
      <p:sp>
        <p:nvSpPr>
          <p:cNvPr id="3" name="Text Placeholder 2">
            <a:extLst>
              <a:ext uri="{FF2B5EF4-FFF2-40B4-BE49-F238E27FC236}">
                <a16:creationId xmlns:a16="http://schemas.microsoft.com/office/drawing/2014/main" id="{FB47F8EB-67A0-9A29-4C7B-0003111CF4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A359FB68-3762-108F-49F0-AE024AF07BC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6C53A05-9351-E846-8CC7-D737A6080AD0}" type="datetimeFigureOut">
              <a:rPr lang="en-US" smtClean="0"/>
              <a:t>8/6/24</a:t>
            </a:fld>
            <a:endParaRPr lang="en-US"/>
          </a:p>
        </p:txBody>
      </p:sp>
      <p:sp>
        <p:nvSpPr>
          <p:cNvPr id="5" name="Footer Placeholder 4">
            <a:extLst>
              <a:ext uri="{FF2B5EF4-FFF2-40B4-BE49-F238E27FC236}">
                <a16:creationId xmlns:a16="http://schemas.microsoft.com/office/drawing/2014/main" id="{4731C524-E3BC-E0A1-C759-73A13F2CDC7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4FEEB7E-4DEF-C301-9A3C-CFA4B3E817E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AED1350-06D8-004A-8BE6-0A1C22F96ACD}" type="slidenum">
              <a:rPr lang="en-US" smtClean="0"/>
              <a:t>‹#›</a:t>
            </a:fld>
            <a:endParaRPr lang="en-US"/>
          </a:p>
        </p:txBody>
      </p:sp>
    </p:spTree>
    <p:extLst>
      <p:ext uri="{BB962C8B-B14F-4D97-AF65-F5344CB8AC3E}">
        <p14:creationId xmlns:p14="http://schemas.microsoft.com/office/powerpoint/2010/main" val="41165414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hyperlink" Target="https://www.youtube.com/watch?v=E20azLHxUH8" TargetMode="Externa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3.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hyperlink" Target="https://www.youtube.com/watch?v=SgUwPDT9tEs" TargetMode="Externa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hyperlink" Target="https://builtin.com/software-engineering-perspectives/arguments-in-python" TargetMode="External"/><Relationship Id="rId1" Type="http://schemas.openxmlformats.org/officeDocument/2006/relationships/slideLayout" Target="../slideLayouts/slideLayout2.xml"/><Relationship Id="rId5" Type="http://schemas.openxmlformats.org/officeDocument/2006/relationships/image" Target="../media/image86.png"/><Relationship Id="rId4" Type="http://schemas.openxmlformats.org/officeDocument/2006/relationships/image" Target="../media/image85.png"/></Relationships>
</file>

<file path=ppt/slides/_rels/slide9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image" Target="../media/image89.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91.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image" Target="../media/image93.png"/><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9.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2" Type="http://schemas.openxmlformats.org/officeDocument/2006/relationships/image" Target="../media/image107.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2" Type="http://schemas.openxmlformats.org/officeDocument/2006/relationships/image" Target="../media/image10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56E6B8-860C-6FFB-C6C0-AE704968D2C1}"/>
              </a:ext>
            </a:extLst>
          </p:cNvPr>
          <p:cNvSpPr>
            <a:spLocks noGrp="1"/>
          </p:cNvSpPr>
          <p:nvPr>
            <p:ph type="ctrTitle"/>
          </p:nvPr>
        </p:nvSpPr>
        <p:spPr/>
        <p:txBody>
          <a:bodyPr/>
          <a:lstStyle/>
          <a:p>
            <a:r>
              <a:rPr lang="en-US" u="sng" dirty="0"/>
              <a:t>Programing </a:t>
            </a:r>
          </a:p>
        </p:txBody>
      </p:sp>
      <p:sp>
        <p:nvSpPr>
          <p:cNvPr id="3" name="Subtitle 2">
            <a:extLst>
              <a:ext uri="{FF2B5EF4-FFF2-40B4-BE49-F238E27FC236}">
                <a16:creationId xmlns:a16="http://schemas.microsoft.com/office/drawing/2014/main" id="{2BFBD8DE-3B69-63A8-DA3D-F5E4CC9CB04D}"/>
              </a:ext>
            </a:extLst>
          </p:cNvPr>
          <p:cNvSpPr>
            <a:spLocks noGrp="1"/>
          </p:cNvSpPr>
          <p:nvPr>
            <p:ph type="subTitle" idx="1"/>
          </p:nvPr>
        </p:nvSpPr>
        <p:spPr/>
        <p:txBody>
          <a:bodyPr/>
          <a:lstStyle/>
          <a:p>
            <a:r>
              <a:rPr lang="en-US" u="sng" dirty="0"/>
              <a:t>16-Sep-2023</a:t>
            </a:r>
          </a:p>
        </p:txBody>
      </p:sp>
    </p:spTree>
    <p:extLst>
      <p:ext uri="{BB962C8B-B14F-4D97-AF65-F5344CB8AC3E}">
        <p14:creationId xmlns:p14="http://schemas.microsoft.com/office/powerpoint/2010/main" val="494740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D376EC-BC58-AAC7-2E39-AE049402C992}"/>
              </a:ext>
            </a:extLst>
          </p:cNvPr>
          <p:cNvSpPr>
            <a:spLocks noGrp="1"/>
          </p:cNvSpPr>
          <p:nvPr>
            <p:ph type="title"/>
          </p:nvPr>
        </p:nvSpPr>
        <p:spPr/>
        <p:txBody>
          <a:bodyPr/>
          <a:lstStyle/>
          <a:p>
            <a:r>
              <a:rPr lang="en-US" u="sng" dirty="0"/>
              <a:t>Swap two number without using third </a:t>
            </a:r>
            <a:r>
              <a:rPr lang="en-US" u="sng" dirty="0" err="1"/>
              <a:t>varible</a:t>
            </a:r>
            <a:endParaRPr lang="en-US" u="sng" dirty="0"/>
          </a:p>
        </p:txBody>
      </p:sp>
      <p:sp>
        <p:nvSpPr>
          <p:cNvPr id="3" name="Content Placeholder 2">
            <a:extLst>
              <a:ext uri="{FF2B5EF4-FFF2-40B4-BE49-F238E27FC236}">
                <a16:creationId xmlns:a16="http://schemas.microsoft.com/office/drawing/2014/main" id="{40E92691-27A3-F73E-1D85-B28C1BA3E268}"/>
              </a:ext>
            </a:extLst>
          </p:cNvPr>
          <p:cNvSpPr>
            <a:spLocks noGrp="1"/>
          </p:cNvSpPr>
          <p:nvPr>
            <p:ph idx="1"/>
          </p:nvPr>
        </p:nvSpPr>
        <p:spPr/>
        <p:txBody>
          <a:bodyPr>
            <a:normAutofit fontScale="77500" lnSpcReduction="20000"/>
          </a:bodyPr>
          <a:lstStyle/>
          <a:p>
            <a:r>
              <a:rPr lang="en-US" dirty="0"/>
              <a:t># Define two variables with values</a:t>
            </a:r>
          </a:p>
          <a:p>
            <a:r>
              <a:rPr lang="en-US" dirty="0"/>
              <a:t>a = 5</a:t>
            </a:r>
          </a:p>
          <a:p>
            <a:r>
              <a:rPr lang="en-US" dirty="0"/>
              <a:t>b = 10</a:t>
            </a:r>
          </a:p>
          <a:p>
            <a:r>
              <a:rPr lang="en-US" dirty="0"/>
              <a:t># Swap the values without using a third variable</a:t>
            </a:r>
          </a:p>
          <a:p>
            <a:r>
              <a:rPr lang="en-US" dirty="0"/>
              <a:t>a, b = b, a</a:t>
            </a:r>
          </a:p>
          <a:p>
            <a:r>
              <a:rPr lang="en-US" dirty="0"/>
              <a:t>(Or)</a:t>
            </a:r>
          </a:p>
          <a:p>
            <a:r>
              <a:rPr lang="en-US" dirty="0"/>
              <a:t>a=</a:t>
            </a:r>
            <a:r>
              <a:rPr lang="en-US" dirty="0" err="1"/>
              <a:t>a+b</a:t>
            </a:r>
            <a:endParaRPr lang="en-US" dirty="0"/>
          </a:p>
          <a:p>
            <a:r>
              <a:rPr lang="en-US" dirty="0"/>
              <a:t>b=a-b</a:t>
            </a:r>
          </a:p>
          <a:p>
            <a:r>
              <a:rPr lang="en-US" dirty="0"/>
              <a:t>a=a-b</a:t>
            </a:r>
          </a:p>
          <a:p>
            <a:r>
              <a:rPr lang="en-US" dirty="0"/>
              <a:t># Now, 'a' will contain 10, and 'b' will contain 5</a:t>
            </a:r>
          </a:p>
          <a:p>
            <a:r>
              <a:rPr lang="en-US" dirty="0"/>
              <a:t>print("a =", a)</a:t>
            </a:r>
          </a:p>
          <a:p>
            <a:r>
              <a:rPr lang="en-US" dirty="0"/>
              <a:t>print("b =", b)</a:t>
            </a:r>
          </a:p>
          <a:p>
            <a:endParaRPr lang="en-US" dirty="0"/>
          </a:p>
        </p:txBody>
      </p:sp>
    </p:spTree>
    <p:extLst>
      <p:ext uri="{BB962C8B-B14F-4D97-AF65-F5344CB8AC3E}">
        <p14:creationId xmlns:p14="http://schemas.microsoft.com/office/powerpoint/2010/main" val="18842053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E7CEB-EC26-C030-F392-5DF8D3B53D55}"/>
              </a:ext>
            </a:extLst>
          </p:cNvPr>
          <p:cNvSpPr>
            <a:spLocks noGrp="1"/>
          </p:cNvSpPr>
          <p:nvPr>
            <p:ph type="title"/>
          </p:nvPr>
        </p:nvSpPr>
        <p:spPr/>
        <p:txBody>
          <a:bodyPr/>
          <a:lstStyle/>
          <a:p>
            <a:r>
              <a:rPr lang="en-US" u="sng" dirty="0"/>
              <a:t>Reading integers and strings in python</a:t>
            </a:r>
          </a:p>
        </p:txBody>
      </p:sp>
      <p:sp>
        <p:nvSpPr>
          <p:cNvPr id="3" name="Content Placeholder 2">
            <a:extLst>
              <a:ext uri="{FF2B5EF4-FFF2-40B4-BE49-F238E27FC236}">
                <a16:creationId xmlns:a16="http://schemas.microsoft.com/office/drawing/2014/main" id="{B7DDE242-6301-C35F-0A80-18ED65300DB4}"/>
              </a:ext>
            </a:extLst>
          </p:cNvPr>
          <p:cNvSpPr>
            <a:spLocks noGrp="1"/>
          </p:cNvSpPr>
          <p:nvPr>
            <p:ph idx="1"/>
          </p:nvPr>
        </p:nvSpPr>
        <p:spPr/>
        <p:txBody>
          <a:bodyPr/>
          <a:lstStyle/>
          <a:p>
            <a:r>
              <a:rPr lang="en-IN" b="0" i="0" dirty="0">
                <a:effectLst/>
                <a:latin typeface="Calibri" panose="020F0502020204030204" pitchFamily="34" charset="0"/>
                <a:cs typeface="Calibri" panose="020F0502020204030204" pitchFamily="34" charset="0"/>
              </a:rPr>
              <a:t>integer = int(input("Enter an integer as input: "))</a:t>
            </a:r>
          </a:p>
          <a:p>
            <a:r>
              <a:rPr lang="en-IN" b="0" i="0" dirty="0">
                <a:effectLst/>
                <a:latin typeface="Calibri" panose="020F0502020204030204" pitchFamily="34" charset="0"/>
                <a:cs typeface="Calibri" panose="020F0502020204030204" pitchFamily="34" charset="0"/>
              </a:rPr>
              <a:t>name = input("What is your name? ")</a:t>
            </a:r>
          </a:p>
          <a:p>
            <a:r>
              <a:rPr lang="en-IN" b="0" i="0" dirty="0">
                <a:effectLst/>
                <a:latin typeface="Calibri" panose="020F0502020204030204" pitchFamily="34" charset="0"/>
                <a:cs typeface="Calibri" panose="020F0502020204030204" pitchFamily="34" charset="0"/>
              </a:rPr>
              <a:t>print("Hello, " + name + "!")</a:t>
            </a:r>
          </a:p>
          <a:p>
            <a:r>
              <a:rPr lang="en-IN" dirty="0">
                <a:latin typeface="Calibri" panose="020F0502020204030204" pitchFamily="34" charset="0"/>
                <a:cs typeface="Calibri" panose="020F0502020204030204" pitchFamily="34" charset="0"/>
              </a:rPr>
              <a:t>a=10,b=20</a:t>
            </a:r>
          </a:p>
          <a:p>
            <a:r>
              <a:rPr lang="en-IN" dirty="0">
                <a:latin typeface="Calibri" panose="020F0502020204030204" pitchFamily="34" charset="0"/>
                <a:cs typeface="Calibri" panose="020F0502020204030204" pitchFamily="34" charset="0"/>
              </a:rPr>
              <a:t>a=</a:t>
            </a:r>
            <a:r>
              <a:rPr lang="en-IN" dirty="0" err="1">
                <a:latin typeface="Calibri" panose="020F0502020204030204" pitchFamily="34" charset="0"/>
                <a:cs typeface="Calibri" panose="020F0502020204030204" pitchFamily="34" charset="0"/>
              </a:rPr>
              <a:t>a+b</a:t>
            </a:r>
            <a:r>
              <a:rPr lang="en-IN" dirty="0">
                <a:latin typeface="Calibri" panose="020F0502020204030204" pitchFamily="34" charset="0"/>
                <a:cs typeface="Calibri" panose="020F0502020204030204" pitchFamily="34" charset="0"/>
              </a:rPr>
              <a:t>=30</a:t>
            </a:r>
          </a:p>
          <a:p>
            <a:r>
              <a:rPr lang="en-IN" dirty="0">
                <a:latin typeface="Calibri" panose="020F0502020204030204" pitchFamily="34" charset="0"/>
                <a:cs typeface="Calibri" panose="020F0502020204030204" pitchFamily="34" charset="0"/>
              </a:rPr>
              <a:t>b</a:t>
            </a:r>
            <a:r>
              <a:rPr lang="en-IN" b="0" i="0" dirty="0">
                <a:effectLst/>
                <a:latin typeface="Calibri" panose="020F0502020204030204" pitchFamily="34" charset="0"/>
                <a:cs typeface="Calibri" panose="020F0502020204030204" pitchFamily="34" charset="0"/>
              </a:rPr>
              <a:t>=a-b=30-20=10</a:t>
            </a:r>
          </a:p>
          <a:p>
            <a:r>
              <a:rPr lang="en-IN" dirty="0">
                <a:latin typeface="Calibri" panose="020F0502020204030204" pitchFamily="34" charset="0"/>
                <a:cs typeface="Calibri" panose="020F0502020204030204" pitchFamily="34" charset="0"/>
              </a:rPr>
              <a:t>a=a-b=30-10=20</a:t>
            </a:r>
            <a:endParaRPr lang="en-IN" b="0" i="0" dirty="0">
              <a:effectLst/>
              <a:latin typeface="Calibri" panose="020F0502020204030204" pitchFamily="34" charset="0"/>
              <a:cs typeface="Calibri" panose="020F0502020204030204" pitchFamily="34" charset="0"/>
            </a:endParaRPr>
          </a:p>
          <a:p>
            <a:endParaRPr lang="en-IN" b="0" i="0" dirty="0">
              <a:effectLst/>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9910673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D6A8EA-B480-06BE-6E76-9C4CB861325F}"/>
              </a:ext>
            </a:extLst>
          </p:cNvPr>
          <p:cNvSpPr>
            <a:spLocks noGrp="1"/>
          </p:cNvSpPr>
          <p:nvPr>
            <p:ph type="title"/>
          </p:nvPr>
        </p:nvSpPr>
        <p:spPr>
          <a:xfrm>
            <a:off x="838200" y="365126"/>
            <a:ext cx="10515600" cy="789118"/>
          </a:xfrm>
        </p:spPr>
        <p:txBody>
          <a:bodyPr>
            <a:normAutofit fontScale="90000"/>
          </a:bodyPr>
          <a:lstStyle/>
          <a:p>
            <a:r>
              <a:rPr lang="en-IN" u="sng" dirty="0">
                <a:latin typeface="+mn-lt"/>
              </a:rPr>
              <a:t>R</a:t>
            </a:r>
            <a:r>
              <a:rPr lang="en-IN" b="0" i="0" u="sng" dirty="0">
                <a:effectLst/>
                <a:latin typeface="+mn-lt"/>
              </a:rPr>
              <a:t>everse a number</a:t>
            </a:r>
            <a:br>
              <a:rPr lang="en-IN" b="0" i="0" u="sng" dirty="0">
                <a:effectLst/>
                <a:latin typeface="+mn-lt"/>
              </a:rPr>
            </a:br>
            <a:endParaRPr lang="en-US" u="sng" dirty="0">
              <a:latin typeface="+mn-lt"/>
            </a:endParaRPr>
          </a:p>
        </p:txBody>
      </p:sp>
      <p:sp>
        <p:nvSpPr>
          <p:cNvPr id="3" name="Content Placeholder 2">
            <a:extLst>
              <a:ext uri="{FF2B5EF4-FFF2-40B4-BE49-F238E27FC236}">
                <a16:creationId xmlns:a16="http://schemas.microsoft.com/office/drawing/2014/main" id="{6472D424-307E-C896-6E78-CD347F2A9C0A}"/>
              </a:ext>
            </a:extLst>
          </p:cNvPr>
          <p:cNvSpPr>
            <a:spLocks noGrp="1"/>
          </p:cNvSpPr>
          <p:nvPr>
            <p:ph idx="1"/>
          </p:nvPr>
        </p:nvSpPr>
        <p:spPr>
          <a:xfrm>
            <a:off x="464695" y="1034321"/>
            <a:ext cx="10889105" cy="5142642"/>
          </a:xfrm>
        </p:spPr>
        <p:txBody>
          <a:bodyPr>
            <a:normAutofit fontScale="92500" lnSpcReduction="20000"/>
          </a:bodyPr>
          <a:lstStyle/>
          <a:p>
            <a:pPr algn="just">
              <a:buFont typeface="+mj-lt"/>
              <a:buAutoNum type="arabicPeriod"/>
            </a:pPr>
            <a:r>
              <a:rPr lang="en-IN" b="0" i="0" dirty="0">
                <a:solidFill>
                  <a:srgbClr val="000000"/>
                </a:solidFill>
                <a:effectLst/>
                <a:latin typeface="inter-regular"/>
              </a:rPr>
              <a:t>number = int(input(</a:t>
            </a:r>
            <a:r>
              <a:rPr lang="en-IN" b="0" i="0" dirty="0">
                <a:solidFill>
                  <a:srgbClr val="0000FF"/>
                </a:solidFill>
                <a:effectLst/>
                <a:latin typeface="inter-regular"/>
              </a:rPr>
              <a:t>"Enter the integer number: "</a:t>
            </a:r>
            <a:r>
              <a:rPr lang="en-IN" b="0" i="0" dirty="0">
                <a:solidFill>
                  <a:srgbClr val="000000"/>
                </a:solidFill>
                <a:effectLst/>
                <a:latin typeface="inter-regular"/>
              </a:rPr>
              <a:t>))  </a:t>
            </a:r>
          </a:p>
          <a:p>
            <a:pPr algn="just">
              <a:buFont typeface="+mj-lt"/>
              <a:buAutoNum type="arabicPeriod"/>
            </a:pPr>
            <a:r>
              <a:rPr lang="en-IN" b="0" i="0" dirty="0">
                <a:solidFill>
                  <a:srgbClr val="008200"/>
                </a:solidFill>
                <a:effectLst/>
                <a:latin typeface="inter-regular"/>
              </a:rPr>
              <a:t># Initiate value to null</a:t>
            </a:r>
            <a:r>
              <a:rPr lang="en-IN" b="0" i="0" dirty="0">
                <a:solidFill>
                  <a:srgbClr val="000000"/>
                </a:solidFill>
                <a:effectLst/>
                <a:latin typeface="inter-regular"/>
              </a:rPr>
              <a:t>  </a:t>
            </a:r>
          </a:p>
          <a:p>
            <a:pPr algn="just">
              <a:buFont typeface="+mj-lt"/>
              <a:buAutoNum type="arabicPeriod"/>
            </a:pPr>
            <a:r>
              <a:rPr lang="en-IN" b="0" i="0" dirty="0" err="1">
                <a:solidFill>
                  <a:srgbClr val="000000"/>
                </a:solidFill>
                <a:effectLst/>
                <a:latin typeface="inter-regular"/>
              </a:rPr>
              <a:t>revs_number</a:t>
            </a:r>
            <a:r>
              <a:rPr lang="en-IN" b="0" i="0" dirty="0">
                <a:solidFill>
                  <a:srgbClr val="000000"/>
                </a:solidFill>
                <a:effectLst/>
                <a:latin typeface="inter-regular"/>
              </a:rPr>
              <a:t> = 0  </a:t>
            </a:r>
          </a:p>
          <a:p>
            <a:pPr algn="just">
              <a:buFont typeface="+mj-lt"/>
              <a:buAutoNum type="arabicPeriod"/>
            </a:pPr>
            <a:r>
              <a:rPr lang="en-IN" b="0" i="0" dirty="0">
                <a:solidFill>
                  <a:srgbClr val="008200"/>
                </a:solidFill>
                <a:effectLst/>
                <a:latin typeface="inter-regular"/>
              </a:rPr>
              <a:t># reverse the integer number using the while loop</a:t>
            </a:r>
            <a:r>
              <a:rPr lang="en-IN" b="0" i="0" dirty="0">
                <a:solidFill>
                  <a:srgbClr val="000000"/>
                </a:solidFill>
                <a:effectLst/>
                <a:latin typeface="inter-regular"/>
              </a:rPr>
              <a:t>  </a:t>
            </a:r>
          </a:p>
          <a:p>
            <a:pPr algn="just">
              <a:buFont typeface="+mj-lt"/>
              <a:buAutoNum type="arabicPeriod"/>
            </a:pPr>
            <a:r>
              <a:rPr lang="en-IN" b="1" i="0" dirty="0">
                <a:solidFill>
                  <a:srgbClr val="006699"/>
                </a:solidFill>
                <a:effectLst/>
                <a:latin typeface="inter-regular"/>
              </a:rPr>
              <a:t>while</a:t>
            </a:r>
            <a:r>
              <a:rPr lang="en-IN" b="0" i="0" dirty="0">
                <a:solidFill>
                  <a:srgbClr val="000000"/>
                </a:solidFill>
                <a:effectLst/>
                <a:latin typeface="inter-regular"/>
              </a:rPr>
              <a:t> (number &gt; 0):  </a:t>
            </a:r>
          </a:p>
          <a:p>
            <a:pPr algn="just">
              <a:buFont typeface="+mj-lt"/>
              <a:buAutoNum type="arabicPeriod"/>
            </a:pPr>
            <a:r>
              <a:rPr lang="en-IN" b="0" i="0" dirty="0">
                <a:solidFill>
                  <a:srgbClr val="000000"/>
                </a:solidFill>
                <a:effectLst/>
                <a:latin typeface="inter-regular"/>
              </a:rPr>
              <a:t>    </a:t>
            </a:r>
            <a:r>
              <a:rPr lang="en-IN" b="0" i="0" dirty="0">
                <a:solidFill>
                  <a:srgbClr val="008200"/>
                </a:solidFill>
                <a:effectLst/>
                <a:latin typeface="inter-regular"/>
              </a:rPr>
              <a:t># Logic</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remainder = number % 10  </a:t>
            </a:r>
          </a:p>
          <a:p>
            <a:pPr algn="just">
              <a:buFont typeface="+mj-lt"/>
              <a:buAutoNum type="arabicPeriod"/>
            </a:pPr>
            <a:r>
              <a:rPr lang="en-IN" b="0" i="0" dirty="0">
                <a:solidFill>
                  <a:srgbClr val="000000"/>
                </a:solidFill>
                <a:effectLst/>
                <a:latin typeface="inter-regular"/>
              </a:rPr>
              <a:t>    </a:t>
            </a:r>
            <a:r>
              <a:rPr lang="en-IN" b="0" i="0" dirty="0" err="1">
                <a:solidFill>
                  <a:srgbClr val="000000"/>
                </a:solidFill>
                <a:effectLst/>
                <a:latin typeface="inter-regular"/>
              </a:rPr>
              <a:t>revs_number</a:t>
            </a:r>
            <a:r>
              <a:rPr lang="en-IN" b="0" i="0" dirty="0">
                <a:solidFill>
                  <a:srgbClr val="000000"/>
                </a:solidFill>
                <a:effectLst/>
                <a:latin typeface="inter-regular"/>
              </a:rPr>
              <a:t> = (</a:t>
            </a:r>
            <a:r>
              <a:rPr lang="en-IN" b="0" i="0" dirty="0" err="1">
                <a:solidFill>
                  <a:srgbClr val="000000"/>
                </a:solidFill>
                <a:effectLst/>
                <a:latin typeface="inter-regular"/>
              </a:rPr>
              <a:t>revs_number</a:t>
            </a:r>
            <a:r>
              <a:rPr lang="en-IN" b="0" i="0" dirty="0">
                <a:solidFill>
                  <a:srgbClr val="000000"/>
                </a:solidFill>
                <a:effectLst/>
                <a:latin typeface="inter-regular"/>
              </a:rPr>
              <a:t> * 10) + remainder  </a:t>
            </a:r>
          </a:p>
          <a:p>
            <a:pPr algn="just">
              <a:buFont typeface="+mj-lt"/>
              <a:buAutoNum type="arabicPeriod"/>
            </a:pPr>
            <a:r>
              <a:rPr lang="en-IN" b="0" i="0" dirty="0">
                <a:solidFill>
                  <a:srgbClr val="000000"/>
                </a:solidFill>
                <a:effectLst/>
                <a:latin typeface="inter-regular"/>
              </a:rPr>
              <a:t>    number = number // 10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8200"/>
                </a:solidFill>
                <a:effectLst/>
                <a:latin typeface="inter-regular"/>
              </a:rPr>
              <a:t># Display the result</a:t>
            </a:r>
            <a:r>
              <a:rPr lang="en-IN" b="0" i="0" dirty="0">
                <a:solidFill>
                  <a:srgbClr val="000000"/>
                </a:solidFill>
                <a:effectLst/>
                <a:latin typeface="inter-regular"/>
              </a:rPr>
              <a:t>  </a:t>
            </a:r>
          </a:p>
          <a:p>
            <a:pPr algn="just">
              <a:buFont typeface="+mj-lt"/>
              <a:buAutoNum type="arabicPeriod"/>
            </a:pPr>
            <a:r>
              <a:rPr lang="en-IN" b="1" i="0" dirty="0">
                <a:solidFill>
                  <a:srgbClr val="006699"/>
                </a:solidFill>
                <a:effectLst/>
                <a:latin typeface="inter-regular"/>
              </a:rPr>
              <a:t>print</a:t>
            </a:r>
            <a:r>
              <a:rPr lang="en-IN" b="0" i="0" dirty="0">
                <a:solidFill>
                  <a:srgbClr val="000000"/>
                </a:solidFill>
                <a:effectLst/>
                <a:latin typeface="inter-regular"/>
              </a:rPr>
              <a:t>(</a:t>
            </a:r>
            <a:r>
              <a:rPr lang="en-IN" b="0" i="0" dirty="0">
                <a:solidFill>
                  <a:srgbClr val="0000FF"/>
                </a:solidFill>
                <a:effectLst/>
                <a:latin typeface="inter-regular"/>
              </a:rPr>
              <a:t>"The reverse number is : {}"</a:t>
            </a:r>
            <a:r>
              <a:rPr lang="en-IN" b="0" i="0" dirty="0">
                <a:solidFill>
                  <a:srgbClr val="000000"/>
                </a:solidFill>
                <a:effectLst/>
                <a:latin typeface="inter-regular"/>
              </a:rPr>
              <a:t>.format(</a:t>
            </a:r>
            <a:r>
              <a:rPr lang="en-IN" b="0" i="0" dirty="0" err="1">
                <a:solidFill>
                  <a:srgbClr val="000000"/>
                </a:solidFill>
                <a:effectLst/>
                <a:latin typeface="inter-regular"/>
              </a:rPr>
              <a:t>revs_number</a:t>
            </a:r>
            <a:r>
              <a:rPr lang="en-IN" b="0" i="0" dirty="0">
                <a:solidFill>
                  <a:srgbClr val="000000"/>
                </a:solidFill>
                <a:effectLst/>
                <a:latin typeface="inter-regular"/>
              </a:rPr>
              <a:t>))  </a:t>
            </a:r>
          </a:p>
          <a:p>
            <a:endParaRPr lang="en-US" dirty="0"/>
          </a:p>
        </p:txBody>
      </p:sp>
    </p:spTree>
    <p:extLst>
      <p:ext uri="{BB962C8B-B14F-4D97-AF65-F5344CB8AC3E}">
        <p14:creationId xmlns:p14="http://schemas.microsoft.com/office/powerpoint/2010/main" val="87387403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A2A7A83-63CE-3952-65EE-54D5AA50FD39}"/>
              </a:ext>
            </a:extLst>
          </p:cNvPr>
          <p:cNvSpPr>
            <a:spLocks noGrp="1"/>
          </p:cNvSpPr>
          <p:nvPr>
            <p:ph type="title"/>
          </p:nvPr>
        </p:nvSpPr>
        <p:spPr>
          <a:xfrm>
            <a:off x="1198181" y="404735"/>
            <a:ext cx="9795638" cy="1998970"/>
          </a:xfrm>
        </p:spPr>
        <p:txBody>
          <a:bodyPr vert="horz" lIns="91440" tIns="45720" rIns="91440" bIns="45720" rtlCol="0" anchor="b">
            <a:normAutofit/>
          </a:bodyPr>
          <a:lstStyle/>
          <a:p>
            <a:pPr algn="ctr"/>
            <a:r>
              <a:rPr lang="en-IN" sz="5400" u="sng" dirty="0">
                <a:latin typeface="+mn-lt"/>
              </a:rPr>
              <a:t>R</a:t>
            </a:r>
            <a:r>
              <a:rPr lang="en-IN" sz="5400" b="0" i="0" u="sng" dirty="0">
                <a:effectLst/>
                <a:latin typeface="+mn-lt"/>
              </a:rPr>
              <a:t>everse a number</a:t>
            </a:r>
            <a:br>
              <a:rPr lang="en-IN" sz="5400" b="0" i="0" u="sng" dirty="0">
                <a:effectLst/>
                <a:latin typeface="+mn-lt"/>
              </a:rPr>
            </a:br>
            <a:endParaRPr lang="en-US" sz="5200" dirty="0"/>
          </a:p>
        </p:txBody>
      </p:sp>
      <p:pic>
        <p:nvPicPr>
          <p:cNvPr id="7" name="Picture 6" descr="A math problem with numbers&#10;&#10;Description automatically generated">
            <a:extLst>
              <a:ext uri="{FF2B5EF4-FFF2-40B4-BE49-F238E27FC236}">
                <a16:creationId xmlns:a16="http://schemas.microsoft.com/office/drawing/2014/main" id="{93380D6A-1810-D6D4-4AC8-C641B232B897}"/>
              </a:ext>
            </a:extLst>
          </p:cNvPr>
          <p:cNvPicPr>
            <a:picLocks noChangeAspect="1"/>
          </p:cNvPicPr>
          <p:nvPr/>
        </p:nvPicPr>
        <p:blipFill>
          <a:blip r:embed="rId2"/>
          <a:stretch>
            <a:fillRect/>
          </a:stretch>
        </p:blipFill>
        <p:spPr>
          <a:xfrm>
            <a:off x="181234" y="3217500"/>
            <a:ext cx="5828261" cy="2826705"/>
          </a:xfrm>
          <a:prstGeom prst="rect">
            <a:avLst/>
          </a:prstGeom>
        </p:spPr>
      </p:pic>
      <p:pic>
        <p:nvPicPr>
          <p:cNvPr id="5" name="Content Placeholder 4" descr="A screenshot of a math problem&#10;&#10;Description automatically generated">
            <a:extLst>
              <a:ext uri="{FF2B5EF4-FFF2-40B4-BE49-F238E27FC236}">
                <a16:creationId xmlns:a16="http://schemas.microsoft.com/office/drawing/2014/main" id="{888BD98A-3EDE-9A10-5D62-81F1521EA0B8}"/>
              </a:ext>
            </a:extLst>
          </p:cNvPr>
          <p:cNvPicPr>
            <a:picLocks noGrp="1" noChangeAspect="1"/>
          </p:cNvPicPr>
          <p:nvPr>
            <p:ph idx="1"/>
          </p:nvPr>
        </p:nvPicPr>
        <p:blipFill>
          <a:blip r:embed="rId3"/>
          <a:stretch>
            <a:fillRect/>
          </a:stretch>
        </p:blipFill>
        <p:spPr>
          <a:xfrm>
            <a:off x="6182505" y="3399633"/>
            <a:ext cx="5828261" cy="2462439"/>
          </a:xfrm>
          <a:prstGeom prst="rect">
            <a:avLst/>
          </a:prstGeom>
        </p:spPr>
      </p:pic>
    </p:spTree>
    <p:extLst>
      <p:ext uri="{BB962C8B-B14F-4D97-AF65-F5344CB8AC3E}">
        <p14:creationId xmlns:p14="http://schemas.microsoft.com/office/powerpoint/2010/main" val="204881289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7B3E5D-47AE-5FA3-AE2F-235A6FC55C57}"/>
              </a:ext>
            </a:extLst>
          </p:cNvPr>
          <p:cNvSpPr>
            <a:spLocks noGrp="1"/>
          </p:cNvSpPr>
          <p:nvPr>
            <p:ph type="title"/>
          </p:nvPr>
        </p:nvSpPr>
        <p:spPr/>
        <p:txBody>
          <a:bodyPr/>
          <a:lstStyle/>
          <a:p>
            <a:r>
              <a:rPr lang="en-US" u="sng" dirty="0" err="1"/>
              <a:t>Palindrom</a:t>
            </a:r>
            <a:endParaRPr lang="en-US" u="sng" dirty="0"/>
          </a:p>
        </p:txBody>
      </p:sp>
      <p:sp>
        <p:nvSpPr>
          <p:cNvPr id="3" name="Content Placeholder 2">
            <a:extLst>
              <a:ext uri="{FF2B5EF4-FFF2-40B4-BE49-F238E27FC236}">
                <a16:creationId xmlns:a16="http://schemas.microsoft.com/office/drawing/2014/main" id="{DF852A4D-0607-573C-048E-39E4192B0B85}"/>
              </a:ext>
            </a:extLst>
          </p:cNvPr>
          <p:cNvSpPr>
            <a:spLocks noGrp="1"/>
          </p:cNvSpPr>
          <p:nvPr>
            <p:ph idx="1"/>
          </p:nvPr>
        </p:nvSpPr>
        <p:spPr/>
        <p:txBody>
          <a:bodyPr>
            <a:normAutofit fontScale="85000" lnSpcReduction="20000"/>
          </a:bodyPr>
          <a:lstStyle/>
          <a:p>
            <a:pPr algn="just">
              <a:buFont typeface="+mj-lt"/>
              <a:buAutoNum type="arabicPeriod"/>
            </a:pPr>
            <a:r>
              <a:rPr lang="en-IN" b="0" i="0" dirty="0" err="1">
                <a:effectLst/>
              </a:rPr>
              <a:t>Num</a:t>
            </a:r>
            <a:r>
              <a:rPr lang="en-IN" b="0" i="0" dirty="0">
                <a:effectLst/>
              </a:rPr>
              <a:t> = int(input("Enter a value:"))  </a:t>
            </a:r>
          </a:p>
          <a:p>
            <a:pPr algn="just">
              <a:buFont typeface="+mj-lt"/>
              <a:buAutoNum type="arabicPeriod"/>
            </a:pPr>
            <a:r>
              <a:rPr lang="en-IN" b="0" i="0" dirty="0">
                <a:effectLst/>
              </a:rPr>
              <a:t>Temp = </a:t>
            </a:r>
            <a:r>
              <a:rPr lang="en-IN" b="0" i="0" dirty="0" err="1">
                <a:effectLst/>
              </a:rPr>
              <a:t>num</a:t>
            </a:r>
            <a:r>
              <a:rPr lang="en-IN" b="0" i="0" dirty="0">
                <a:effectLst/>
              </a:rPr>
              <a:t>  </a:t>
            </a:r>
          </a:p>
          <a:p>
            <a:pPr algn="just">
              <a:buFont typeface="+mj-lt"/>
              <a:buAutoNum type="arabicPeriod"/>
            </a:pPr>
            <a:r>
              <a:rPr lang="en-IN" b="0" i="0" dirty="0">
                <a:effectLst/>
              </a:rPr>
              <a:t>Rev = 0  </a:t>
            </a:r>
          </a:p>
          <a:p>
            <a:pPr algn="just">
              <a:buFont typeface="+mj-lt"/>
              <a:buAutoNum type="arabicPeriod"/>
            </a:pPr>
            <a:r>
              <a:rPr lang="en-IN" b="0" i="0" dirty="0">
                <a:effectLst/>
              </a:rPr>
              <a:t>while(</a:t>
            </a:r>
            <a:r>
              <a:rPr lang="en-IN" b="0" i="0" dirty="0" err="1">
                <a:effectLst/>
              </a:rPr>
              <a:t>num</a:t>
            </a:r>
            <a:r>
              <a:rPr lang="en-IN" b="0" i="0" dirty="0">
                <a:effectLst/>
              </a:rPr>
              <a:t> </a:t>
            </a:r>
            <a:r>
              <a:rPr lang="en-IN" b="1" i="0" dirty="0">
                <a:effectLst/>
              </a:rPr>
              <a:t>&gt;</a:t>
            </a:r>
            <a:r>
              <a:rPr lang="en-IN" b="0" i="0" dirty="0">
                <a:effectLst/>
              </a:rPr>
              <a:t> 0):  </a:t>
            </a:r>
          </a:p>
          <a:p>
            <a:pPr algn="just">
              <a:buFont typeface="+mj-lt"/>
              <a:buAutoNum type="arabicPeriod"/>
            </a:pPr>
            <a:r>
              <a:rPr lang="en-IN" b="0" i="0" dirty="0">
                <a:effectLst/>
              </a:rPr>
              <a:t>    dig = </a:t>
            </a:r>
            <a:r>
              <a:rPr lang="en-IN" b="0" i="0" dirty="0" err="1">
                <a:effectLst/>
              </a:rPr>
              <a:t>num</a:t>
            </a:r>
            <a:r>
              <a:rPr lang="en-IN" b="0" i="0" dirty="0">
                <a:effectLst/>
              </a:rPr>
              <a:t> % 10  </a:t>
            </a:r>
          </a:p>
          <a:p>
            <a:pPr algn="just">
              <a:buFont typeface="+mj-lt"/>
              <a:buAutoNum type="arabicPeriod"/>
            </a:pPr>
            <a:r>
              <a:rPr lang="en-IN" b="0" i="0" dirty="0">
                <a:effectLst/>
              </a:rPr>
              <a:t>    </a:t>
            </a:r>
            <a:r>
              <a:rPr lang="en-IN" b="0" i="0" dirty="0" err="1">
                <a:effectLst/>
              </a:rPr>
              <a:t>revrev</a:t>
            </a:r>
            <a:r>
              <a:rPr lang="en-IN" b="0" i="0" dirty="0">
                <a:effectLst/>
              </a:rPr>
              <a:t> = rev * 10 + dig  </a:t>
            </a:r>
          </a:p>
          <a:p>
            <a:pPr algn="just">
              <a:buFont typeface="+mj-lt"/>
              <a:buAutoNum type="arabicPeriod"/>
            </a:pPr>
            <a:r>
              <a:rPr lang="en-IN" b="0" i="0" dirty="0">
                <a:effectLst/>
              </a:rPr>
              <a:t>    </a:t>
            </a:r>
            <a:r>
              <a:rPr lang="en-IN" b="0" i="0" dirty="0" err="1">
                <a:effectLst/>
              </a:rPr>
              <a:t>numnum</a:t>
            </a:r>
            <a:r>
              <a:rPr lang="en-IN" b="0" i="0" dirty="0">
                <a:effectLst/>
              </a:rPr>
              <a:t> = </a:t>
            </a:r>
            <a:r>
              <a:rPr lang="en-IN" b="0" i="0" dirty="0" err="1">
                <a:effectLst/>
              </a:rPr>
              <a:t>num</a:t>
            </a:r>
            <a:r>
              <a:rPr lang="en-IN" b="0" i="0" dirty="0">
                <a:effectLst/>
              </a:rPr>
              <a:t> // 10  </a:t>
            </a:r>
          </a:p>
          <a:p>
            <a:pPr algn="just">
              <a:buFont typeface="+mj-lt"/>
              <a:buAutoNum type="arabicPeriod"/>
            </a:pPr>
            <a:r>
              <a:rPr lang="en-IN" b="0" i="0" dirty="0">
                <a:effectLst/>
              </a:rPr>
              <a:t>if(temp == rev):  </a:t>
            </a:r>
          </a:p>
          <a:p>
            <a:pPr algn="just">
              <a:buFont typeface="+mj-lt"/>
              <a:buAutoNum type="arabicPeriod"/>
            </a:pPr>
            <a:r>
              <a:rPr lang="en-IN" b="0" i="0" dirty="0">
                <a:effectLst/>
              </a:rPr>
              <a:t>    print("This value is a palindrome number!")  </a:t>
            </a:r>
          </a:p>
          <a:p>
            <a:pPr algn="just">
              <a:buFont typeface="+mj-lt"/>
              <a:buAutoNum type="arabicPeriod"/>
            </a:pPr>
            <a:r>
              <a:rPr lang="en-IN" b="0" i="0" dirty="0">
                <a:effectLst/>
              </a:rPr>
              <a:t>else:  </a:t>
            </a:r>
          </a:p>
          <a:p>
            <a:pPr algn="just">
              <a:buFont typeface="+mj-lt"/>
              <a:buAutoNum type="arabicPeriod"/>
            </a:pPr>
            <a:r>
              <a:rPr lang="en-IN" b="0" i="0" dirty="0">
                <a:effectLst/>
              </a:rPr>
              <a:t>    print("This value is not a palindrome number!") </a:t>
            </a:r>
          </a:p>
          <a:p>
            <a:endParaRPr lang="en-US" dirty="0"/>
          </a:p>
        </p:txBody>
      </p:sp>
    </p:spTree>
    <p:extLst>
      <p:ext uri="{BB962C8B-B14F-4D97-AF65-F5344CB8AC3E}">
        <p14:creationId xmlns:p14="http://schemas.microsoft.com/office/powerpoint/2010/main" val="1341072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EBE55-FB40-F02C-C383-F2746EC5476F}"/>
              </a:ext>
            </a:extLst>
          </p:cNvPr>
          <p:cNvSpPr>
            <a:spLocks noGrp="1"/>
          </p:cNvSpPr>
          <p:nvPr>
            <p:ph type="title"/>
          </p:nvPr>
        </p:nvSpPr>
        <p:spPr/>
        <p:txBody>
          <a:bodyPr/>
          <a:lstStyle/>
          <a:p>
            <a:r>
              <a:rPr lang="en-US" u="sng" dirty="0"/>
              <a:t>Range</a:t>
            </a:r>
          </a:p>
        </p:txBody>
      </p:sp>
      <p:pic>
        <p:nvPicPr>
          <p:cNvPr id="5" name="Content Placeholder 4" descr="A black screen with purple text&#10;&#10;Description automatically generated">
            <a:extLst>
              <a:ext uri="{FF2B5EF4-FFF2-40B4-BE49-F238E27FC236}">
                <a16:creationId xmlns:a16="http://schemas.microsoft.com/office/drawing/2014/main" id="{DF07AF5E-F96A-ABA3-2EE3-99FFBBD1FD2D}"/>
              </a:ext>
            </a:extLst>
          </p:cNvPr>
          <p:cNvPicPr>
            <a:picLocks noGrp="1" noChangeAspect="1"/>
          </p:cNvPicPr>
          <p:nvPr>
            <p:ph idx="1"/>
          </p:nvPr>
        </p:nvPicPr>
        <p:blipFill>
          <a:blip r:embed="rId2"/>
          <a:stretch>
            <a:fillRect/>
          </a:stretch>
        </p:blipFill>
        <p:spPr>
          <a:xfrm>
            <a:off x="1054968" y="1765300"/>
            <a:ext cx="9283700" cy="1663700"/>
          </a:xfrm>
        </p:spPr>
      </p:pic>
      <p:pic>
        <p:nvPicPr>
          <p:cNvPr id="7" name="Picture 6" descr="A screenshot of a computer&#10;&#10;Description automatically generated">
            <a:extLst>
              <a:ext uri="{FF2B5EF4-FFF2-40B4-BE49-F238E27FC236}">
                <a16:creationId xmlns:a16="http://schemas.microsoft.com/office/drawing/2014/main" id="{8FE10079-D73D-F77D-C602-E55F27AC1EC0}"/>
              </a:ext>
            </a:extLst>
          </p:cNvPr>
          <p:cNvPicPr>
            <a:picLocks noChangeAspect="1"/>
          </p:cNvPicPr>
          <p:nvPr/>
        </p:nvPicPr>
        <p:blipFill>
          <a:blip r:embed="rId3"/>
          <a:stretch>
            <a:fillRect/>
          </a:stretch>
        </p:blipFill>
        <p:spPr>
          <a:xfrm>
            <a:off x="2002679" y="3749675"/>
            <a:ext cx="7759700" cy="2743200"/>
          </a:xfrm>
          <a:prstGeom prst="rect">
            <a:avLst/>
          </a:prstGeom>
        </p:spPr>
      </p:pic>
    </p:spTree>
    <p:extLst>
      <p:ext uri="{BB962C8B-B14F-4D97-AF65-F5344CB8AC3E}">
        <p14:creationId xmlns:p14="http://schemas.microsoft.com/office/powerpoint/2010/main" val="22156844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BCC8D1-7E16-947D-7C8C-6206129756CF}"/>
              </a:ext>
            </a:extLst>
          </p:cNvPr>
          <p:cNvSpPr>
            <a:spLocks noGrp="1"/>
          </p:cNvSpPr>
          <p:nvPr>
            <p:ph type="title"/>
          </p:nvPr>
        </p:nvSpPr>
        <p:spPr/>
        <p:txBody>
          <a:bodyPr/>
          <a:lstStyle/>
          <a:p>
            <a:r>
              <a:rPr lang="en-US" u="sng" dirty="0"/>
              <a:t>Range</a:t>
            </a:r>
            <a:endParaRPr lang="en-US" dirty="0"/>
          </a:p>
        </p:txBody>
      </p:sp>
      <p:sp>
        <p:nvSpPr>
          <p:cNvPr id="3" name="Content Placeholder 2">
            <a:extLst>
              <a:ext uri="{FF2B5EF4-FFF2-40B4-BE49-F238E27FC236}">
                <a16:creationId xmlns:a16="http://schemas.microsoft.com/office/drawing/2014/main" id="{410C9DE1-ACE8-E257-10DF-D121DACA819A}"/>
              </a:ext>
            </a:extLst>
          </p:cNvPr>
          <p:cNvSpPr>
            <a:spLocks noGrp="1"/>
          </p:cNvSpPr>
          <p:nvPr>
            <p:ph idx="1"/>
          </p:nvPr>
        </p:nvSpPr>
        <p:spPr/>
        <p:txBody>
          <a:bodyPr/>
          <a:lstStyle/>
          <a:p>
            <a:r>
              <a:rPr lang="en-IN" b="0" i="0" dirty="0">
                <a:effectLst/>
              </a:rPr>
              <a:t>The </a:t>
            </a:r>
            <a:r>
              <a:rPr lang="en-IN" dirty="0"/>
              <a:t>range(0, 6)</a:t>
            </a:r>
            <a:r>
              <a:rPr lang="en-IN" b="0" i="0" dirty="0">
                <a:effectLst/>
              </a:rPr>
              <a:t> function generates a sequence of numbers starting from 0 (inclusive) up to 6 (exclusive), so it includes the numbers 0, 1, 2, 3, 4, and 5, which are then printed one at a time in the loop.</a:t>
            </a:r>
            <a:endParaRPr lang="en-US" dirty="0"/>
          </a:p>
        </p:txBody>
      </p:sp>
    </p:spTree>
    <p:extLst>
      <p:ext uri="{BB962C8B-B14F-4D97-AF65-F5344CB8AC3E}">
        <p14:creationId xmlns:p14="http://schemas.microsoft.com/office/powerpoint/2010/main" val="1586072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8C3C0-3958-B731-8722-2CAB4F273C43}"/>
              </a:ext>
            </a:extLst>
          </p:cNvPr>
          <p:cNvSpPr>
            <a:spLocks noGrp="1"/>
          </p:cNvSpPr>
          <p:nvPr>
            <p:ph type="title"/>
          </p:nvPr>
        </p:nvSpPr>
        <p:spPr/>
        <p:txBody>
          <a:bodyPr/>
          <a:lstStyle/>
          <a:p>
            <a:r>
              <a:rPr lang="en-US" u="sng" dirty="0"/>
              <a:t>Fibonacci series</a:t>
            </a:r>
          </a:p>
        </p:txBody>
      </p:sp>
      <p:sp>
        <p:nvSpPr>
          <p:cNvPr id="3" name="Content Placeholder 2">
            <a:extLst>
              <a:ext uri="{FF2B5EF4-FFF2-40B4-BE49-F238E27FC236}">
                <a16:creationId xmlns:a16="http://schemas.microsoft.com/office/drawing/2014/main" id="{457DB593-7374-BED2-8656-56A783D88670}"/>
              </a:ext>
            </a:extLst>
          </p:cNvPr>
          <p:cNvSpPr>
            <a:spLocks noGrp="1"/>
          </p:cNvSpPr>
          <p:nvPr>
            <p:ph idx="1"/>
          </p:nvPr>
        </p:nvSpPr>
        <p:spPr/>
        <p:txBody>
          <a:bodyPr>
            <a:normAutofit/>
          </a:bodyPr>
          <a:lstStyle/>
          <a:p>
            <a:pPr algn="just">
              <a:buFont typeface="+mj-lt"/>
              <a:buAutoNum type="arabicPeriod"/>
            </a:pPr>
            <a:r>
              <a:rPr lang="en-IN" b="0" i="0" dirty="0">
                <a:solidFill>
                  <a:srgbClr val="000000"/>
                </a:solidFill>
                <a:effectLst/>
                <a:latin typeface="inter-regular"/>
              </a:rPr>
              <a:t>a = 0    </a:t>
            </a:r>
          </a:p>
          <a:p>
            <a:pPr algn="just">
              <a:buFont typeface="+mj-lt"/>
              <a:buAutoNum type="arabicPeriod"/>
            </a:pPr>
            <a:r>
              <a:rPr lang="en-IN" b="0" i="0" dirty="0">
                <a:solidFill>
                  <a:srgbClr val="000000"/>
                </a:solidFill>
                <a:effectLst/>
                <a:latin typeface="inter-regular"/>
              </a:rPr>
              <a:t>b = 1    </a:t>
            </a:r>
          </a:p>
          <a:p>
            <a:pPr algn="just">
              <a:buFont typeface="+mj-lt"/>
              <a:buAutoNum type="arabicPeriod"/>
            </a:pPr>
            <a:r>
              <a:rPr lang="en-IN" b="1" i="0" dirty="0">
                <a:solidFill>
                  <a:srgbClr val="006699"/>
                </a:solidFill>
                <a:effectLst/>
                <a:latin typeface="inter-regular"/>
              </a:rPr>
              <a:t>for</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a:t>
            </a:r>
            <a:r>
              <a:rPr lang="en-IN" b="1" i="0" dirty="0">
                <a:solidFill>
                  <a:srgbClr val="006699"/>
                </a:solidFill>
                <a:effectLst/>
                <a:latin typeface="inter-regular"/>
              </a:rPr>
              <a:t>in</a:t>
            </a:r>
            <a:r>
              <a:rPr lang="en-IN" b="0" i="0" dirty="0">
                <a:solidFill>
                  <a:srgbClr val="000000"/>
                </a:solidFill>
                <a:effectLst/>
                <a:latin typeface="inter-regular"/>
              </a:rPr>
              <a:t> range(0,n):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print</a:t>
            </a:r>
            <a:r>
              <a:rPr lang="en-IN" b="0" i="0" dirty="0">
                <a:solidFill>
                  <a:srgbClr val="000000"/>
                </a:solidFill>
                <a:effectLst/>
                <a:latin typeface="inter-regular"/>
              </a:rPr>
              <a:t>(a, end = </a:t>
            </a:r>
            <a:r>
              <a:rPr lang="en-IN" b="0" i="0" dirty="0">
                <a:solidFill>
                  <a:srgbClr val="0000FF"/>
                </a:solidFill>
                <a:effectLst/>
                <a:latin typeface="inter-regular"/>
              </a:rPr>
              <a:t>" "</a:t>
            </a:r>
            <a:r>
              <a:rPr lang="en-IN" b="0" i="0" dirty="0">
                <a:solidFill>
                  <a:srgbClr val="000000"/>
                </a:solidFill>
                <a:effectLst/>
                <a:latin typeface="inter-regular"/>
              </a:rPr>
              <a:t>)             </a:t>
            </a:r>
            <a:r>
              <a:rPr lang="en-IN" b="0" i="0" dirty="0">
                <a:solidFill>
                  <a:srgbClr val="008200"/>
                </a:solidFill>
                <a:effectLst/>
                <a:latin typeface="inter-regular"/>
              </a:rPr>
              <a:t># a:0;    a:1;       a:2</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c = </a:t>
            </a:r>
            <a:r>
              <a:rPr lang="en-IN" b="0" i="0" dirty="0" err="1">
                <a:solidFill>
                  <a:srgbClr val="000000"/>
                </a:solidFill>
                <a:effectLst/>
                <a:latin typeface="inter-regular"/>
              </a:rPr>
              <a:t>a+b</a:t>
            </a:r>
            <a:r>
              <a:rPr lang="en-IN" b="0" i="0" dirty="0">
                <a:solidFill>
                  <a:srgbClr val="000000"/>
                </a:solidFill>
                <a:effectLst/>
                <a:latin typeface="inter-regular"/>
              </a:rPr>
              <a:t>                     </a:t>
            </a:r>
            <a:r>
              <a:rPr lang="en-IN" b="0" i="0" dirty="0">
                <a:solidFill>
                  <a:srgbClr val="008200"/>
                </a:solidFill>
                <a:effectLst/>
                <a:latin typeface="inter-regular"/>
              </a:rPr>
              <a:t>#c=0+1=1; c= 1+1=2;  c=1+2=3</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 = b           	    </a:t>
            </a:r>
            <a:r>
              <a:rPr lang="en-IN" b="0" i="0" dirty="0">
                <a:solidFill>
                  <a:srgbClr val="008200"/>
                </a:solidFill>
                <a:effectLst/>
                <a:latin typeface="inter-regular"/>
              </a:rPr>
              <a:t>#a=1    ; a=1;       a=2</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b = c       		</a:t>
            </a:r>
            <a:r>
              <a:rPr lang="en-IN" b="0" i="0" dirty="0">
                <a:solidFill>
                  <a:srgbClr val="008200"/>
                </a:solidFill>
                <a:effectLst/>
                <a:latin typeface="inter-regular"/>
              </a:rPr>
              <a:t>#b=1    ; b=2;       b=3</a:t>
            </a:r>
            <a:r>
              <a:rPr lang="en-IN" b="0" i="0" dirty="0">
                <a:solidFill>
                  <a:srgbClr val="000000"/>
                </a:solidFill>
                <a:effectLst/>
                <a:latin typeface="inter-regular"/>
              </a:rPr>
              <a:t>  </a:t>
            </a:r>
          </a:p>
          <a:p>
            <a:endParaRPr lang="en-US" dirty="0"/>
          </a:p>
        </p:txBody>
      </p:sp>
    </p:spTree>
    <p:extLst>
      <p:ext uri="{BB962C8B-B14F-4D97-AF65-F5344CB8AC3E}">
        <p14:creationId xmlns:p14="http://schemas.microsoft.com/office/powerpoint/2010/main" val="363354277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A5621C-ED60-4616-56A1-746D76A79EB8}"/>
              </a:ext>
            </a:extLst>
          </p:cNvPr>
          <p:cNvSpPr>
            <a:spLocks noGrp="1"/>
          </p:cNvSpPr>
          <p:nvPr>
            <p:ph type="title"/>
          </p:nvPr>
        </p:nvSpPr>
        <p:spPr>
          <a:xfrm>
            <a:off x="838200" y="365126"/>
            <a:ext cx="10515600" cy="489314"/>
          </a:xfrm>
        </p:spPr>
        <p:txBody>
          <a:bodyPr>
            <a:normAutofit fontScale="90000"/>
          </a:bodyPr>
          <a:lstStyle/>
          <a:p>
            <a:r>
              <a:rPr lang="en-US" u="sng" dirty="0"/>
              <a:t>Reverse a list in python</a:t>
            </a:r>
            <a:br>
              <a:rPr lang="en-US" u="sng" dirty="0"/>
            </a:br>
            <a:endParaRPr lang="en-US" u="sng" dirty="0"/>
          </a:p>
        </p:txBody>
      </p:sp>
      <p:sp>
        <p:nvSpPr>
          <p:cNvPr id="3" name="Content Placeholder 2">
            <a:extLst>
              <a:ext uri="{FF2B5EF4-FFF2-40B4-BE49-F238E27FC236}">
                <a16:creationId xmlns:a16="http://schemas.microsoft.com/office/drawing/2014/main" id="{94FC54CE-F6DB-D7E9-E84B-1D013CB7D5B1}"/>
              </a:ext>
            </a:extLst>
          </p:cNvPr>
          <p:cNvSpPr>
            <a:spLocks noGrp="1"/>
          </p:cNvSpPr>
          <p:nvPr>
            <p:ph idx="1"/>
          </p:nvPr>
        </p:nvSpPr>
        <p:spPr>
          <a:xfrm>
            <a:off x="449705" y="854440"/>
            <a:ext cx="11257613" cy="5771212"/>
          </a:xfrm>
        </p:spPr>
        <p:txBody>
          <a:bodyPr>
            <a:normAutofit fontScale="70000" lnSpcReduction="20000"/>
          </a:bodyPr>
          <a:lstStyle/>
          <a:p>
            <a:pPr marL="0" indent="0">
              <a:buNone/>
            </a:pPr>
            <a:r>
              <a:rPr lang="en-US" dirty="0"/>
              <a:t>list=[1,2,3]</a:t>
            </a:r>
          </a:p>
          <a:p>
            <a:pPr marL="0" indent="0">
              <a:buNone/>
            </a:pPr>
            <a:r>
              <a:rPr lang="en-US" dirty="0"/>
              <a:t>For </a:t>
            </a:r>
            <a:r>
              <a:rPr lang="en-US" dirty="0" err="1"/>
              <a:t>i</a:t>
            </a:r>
            <a:r>
              <a:rPr lang="en-US" dirty="0"/>
              <a:t> in list[::-1]:</a:t>
            </a:r>
          </a:p>
          <a:p>
            <a:pPr marL="0" indent="0">
              <a:buNone/>
            </a:pPr>
            <a:r>
              <a:rPr lang="en-US" dirty="0"/>
              <a:t>	print(</a:t>
            </a:r>
            <a:r>
              <a:rPr lang="en-US" dirty="0" err="1"/>
              <a:t>i</a:t>
            </a:r>
            <a:r>
              <a:rPr lang="en-US" dirty="0"/>
              <a:t>)</a:t>
            </a:r>
          </a:p>
          <a:p>
            <a:pPr marL="0" indent="0">
              <a:buNone/>
            </a:pPr>
            <a:r>
              <a:rPr lang="en-US" u="sng" dirty="0"/>
              <a:t>Factorial Number</a:t>
            </a:r>
          </a:p>
          <a:p>
            <a:pPr algn="just">
              <a:buFont typeface="+mj-lt"/>
              <a:buAutoNum type="arabicPeriod"/>
            </a:pPr>
            <a:r>
              <a:rPr lang="en-IN" b="0" i="0" dirty="0" err="1">
                <a:effectLst/>
                <a:latin typeface="inter-regular"/>
              </a:rPr>
              <a:t>num</a:t>
            </a:r>
            <a:r>
              <a:rPr lang="en-IN" b="0" i="0" dirty="0">
                <a:effectLst/>
                <a:latin typeface="inter-regular"/>
              </a:rPr>
              <a:t> = int(input("Enter a number: "))    </a:t>
            </a:r>
          </a:p>
          <a:p>
            <a:pPr algn="just">
              <a:buFont typeface="+mj-lt"/>
              <a:buAutoNum type="arabicPeriod"/>
            </a:pPr>
            <a:r>
              <a:rPr lang="en-IN" b="0" i="0" dirty="0">
                <a:effectLst/>
                <a:latin typeface="inter-regular"/>
              </a:rPr>
              <a:t>factorial = 1    </a:t>
            </a:r>
          </a:p>
          <a:p>
            <a:pPr algn="just">
              <a:buFont typeface="+mj-lt"/>
              <a:buAutoNum type="arabicPeriod"/>
            </a:pPr>
            <a:r>
              <a:rPr lang="en-IN" b="1" i="0" dirty="0">
                <a:effectLst/>
                <a:latin typeface="inter-regular"/>
              </a:rPr>
              <a:t>if</a:t>
            </a:r>
            <a:r>
              <a:rPr lang="en-IN" b="0" i="0" dirty="0">
                <a:effectLst/>
                <a:latin typeface="inter-regular"/>
              </a:rPr>
              <a:t> </a:t>
            </a:r>
            <a:r>
              <a:rPr lang="en-IN" b="0" i="0" dirty="0" err="1">
                <a:effectLst/>
                <a:latin typeface="inter-regular"/>
              </a:rPr>
              <a:t>num</a:t>
            </a:r>
            <a:r>
              <a:rPr lang="en-IN" b="0" i="0" dirty="0">
                <a:effectLst/>
                <a:latin typeface="inter-regular"/>
              </a:rPr>
              <a:t> &lt; 0:    </a:t>
            </a:r>
          </a:p>
          <a:p>
            <a:pPr algn="just">
              <a:buFont typeface="+mj-lt"/>
              <a:buAutoNum type="arabicPeriod"/>
            </a:pPr>
            <a:r>
              <a:rPr lang="en-IN" b="0" i="0" dirty="0">
                <a:effectLst/>
                <a:latin typeface="inter-regular"/>
              </a:rPr>
              <a:t>   </a:t>
            </a:r>
            <a:r>
              <a:rPr lang="en-IN" b="1" i="0" dirty="0">
                <a:effectLst/>
                <a:latin typeface="inter-regular"/>
              </a:rPr>
              <a:t>print</a:t>
            </a:r>
            <a:r>
              <a:rPr lang="en-IN" b="0" i="0" dirty="0">
                <a:effectLst/>
                <a:latin typeface="inter-regular"/>
              </a:rPr>
              <a:t>(" Factorial does not exist for negative numbers")    </a:t>
            </a:r>
          </a:p>
          <a:p>
            <a:pPr algn="just">
              <a:buFont typeface="+mj-lt"/>
              <a:buAutoNum type="arabicPeriod"/>
            </a:pPr>
            <a:r>
              <a:rPr lang="en-IN" b="1" i="0" dirty="0" err="1">
                <a:effectLst/>
                <a:latin typeface="inter-regular"/>
              </a:rPr>
              <a:t>elif</a:t>
            </a:r>
            <a:r>
              <a:rPr lang="en-IN" b="0" i="0" dirty="0">
                <a:effectLst/>
                <a:latin typeface="inter-regular"/>
              </a:rPr>
              <a:t> </a:t>
            </a:r>
            <a:r>
              <a:rPr lang="en-IN" b="0" i="0" dirty="0" err="1">
                <a:effectLst/>
                <a:latin typeface="inter-regular"/>
              </a:rPr>
              <a:t>num</a:t>
            </a:r>
            <a:r>
              <a:rPr lang="en-IN" b="0" i="0" dirty="0">
                <a:effectLst/>
                <a:latin typeface="inter-regular"/>
              </a:rPr>
              <a:t> == 0:    </a:t>
            </a:r>
          </a:p>
          <a:p>
            <a:pPr algn="just">
              <a:buFont typeface="+mj-lt"/>
              <a:buAutoNum type="arabicPeriod"/>
            </a:pPr>
            <a:r>
              <a:rPr lang="en-IN" b="0" i="0" dirty="0">
                <a:effectLst/>
                <a:latin typeface="inter-regular"/>
              </a:rPr>
              <a:t>   </a:t>
            </a:r>
            <a:r>
              <a:rPr lang="en-IN" b="1" i="0" dirty="0">
                <a:effectLst/>
                <a:latin typeface="inter-regular"/>
              </a:rPr>
              <a:t>print</a:t>
            </a:r>
            <a:r>
              <a:rPr lang="en-IN" b="0" i="0" dirty="0">
                <a:effectLst/>
                <a:latin typeface="inter-regular"/>
              </a:rPr>
              <a:t>("The factorial of 0 is 1")    </a:t>
            </a:r>
          </a:p>
          <a:p>
            <a:pPr algn="just">
              <a:buFont typeface="+mj-lt"/>
              <a:buAutoNum type="arabicPeriod"/>
            </a:pPr>
            <a:r>
              <a:rPr lang="en-IN" b="1" i="0" dirty="0">
                <a:effectLst/>
                <a:latin typeface="inter-regular"/>
              </a:rPr>
              <a:t>else</a:t>
            </a:r>
            <a:r>
              <a:rPr lang="en-IN" b="0" i="0" dirty="0">
                <a:effectLst/>
                <a:latin typeface="inter-regular"/>
              </a:rPr>
              <a:t>:    </a:t>
            </a:r>
          </a:p>
          <a:p>
            <a:pPr algn="just">
              <a:buFont typeface="+mj-lt"/>
              <a:buAutoNum type="arabicPeriod"/>
            </a:pPr>
            <a:r>
              <a:rPr lang="en-IN" b="0" i="0" dirty="0">
                <a:effectLst/>
                <a:latin typeface="inter-regular"/>
              </a:rPr>
              <a:t>   </a:t>
            </a:r>
            <a:r>
              <a:rPr lang="en-IN" b="1" i="0" dirty="0">
                <a:effectLst/>
                <a:latin typeface="inter-regular"/>
              </a:rPr>
              <a:t>for</a:t>
            </a:r>
            <a:r>
              <a:rPr lang="en-IN" b="0" i="0" dirty="0">
                <a:effectLst/>
                <a:latin typeface="inter-regular"/>
              </a:rPr>
              <a:t> </a:t>
            </a:r>
            <a:r>
              <a:rPr lang="en-IN" b="0" i="0" dirty="0" err="1">
                <a:effectLst/>
                <a:latin typeface="inter-regular"/>
              </a:rPr>
              <a:t>i</a:t>
            </a:r>
            <a:r>
              <a:rPr lang="en-IN" b="0" i="0" dirty="0">
                <a:effectLst/>
                <a:latin typeface="inter-regular"/>
              </a:rPr>
              <a:t> </a:t>
            </a:r>
            <a:r>
              <a:rPr lang="en-IN" b="1" i="0" dirty="0">
                <a:effectLst/>
                <a:latin typeface="inter-regular"/>
              </a:rPr>
              <a:t>in</a:t>
            </a:r>
            <a:r>
              <a:rPr lang="en-IN" b="0" i="0" dirty="0">
                <a:effectLst/>
                <a:latin typeface="inter-regular"/>
              </a:rPr>
              <a:t> range(1,num + 1):    </a:t>
            </a:r>
          </a:p>
          <a:p>
            <a:pPr algn="just">
              <a:buFont typeface="+mj-lt"/>
              <a:buAutoNum type="arabicPeriod"/>
            </a:pPr>
            <a:r>
              <a:rPr lang="en-IN" b="0" i="0" dirty="0">
                <a:effectLst/>
                <a:latin typeface="inter-regular"/>
              </a:rPr>
              <a:t>       factorial = factorial*</a:t>
            </a:r>
            <a:r>
              <a:rPr lang="en-IN" b="0" i="0" dirty="0" err="1">
                <a:effectLst/>
                <a:latin typeface="inter-regular"/>
              </a:rPr>
              <a:t>i</a:t>
            </a:r>
            <a:r>
              <a:rPr lang="en-IN" b="0" i="0" dirty="0">
                <a:effectLst/>
                <a:latin typeface="inter-regular"/>
              </a:rPr>
              <a:t>    </a:t>
            </a:r>
          </a:p>
          <a:p>
            <a:pPr algn="just">
              <a:buFont typeface="+mj-lt"/>
              <a:buAutoNum type="arabicPeriod"/>
            </a:pPr>
            <a:r>
              <a:rPr lang="en-IN" b="0" i="0" dirty="0">
                <a:effectLst/>
                <a:latin typeface="inter-regular"/>
              </a:rPr>
              <a:t>   </a:t>
            </a:r>
            <a:r>
              <a:rPr lang="en-IN" b="1" i="0" dirty="0">
                <a:effectLst/>
                <a:latin typeface="inter-regular"/>
              </a:rPr>
              <a:t>print</a:t>
            </a:r>
            <a:r>
              <a:rPr lang="en-IN" b="0" i="0" dirty="0">
                <a:effectLst/>
                <a:latin typeface="inter-regular"/>
              </a:rPr>
              <a:t>("The factorial of",</a:t>
            </a:r>
            <a:r>
              <a:rPr lang="en-IN" b="0" i="0" dirty="0" err="1">
                <a:effectLst/>
                <a:latin typeface="inter-regular"/>
              </a:rPr>
              <a:t>num</a:t>
            </a:r>
            <a:r>
              <a:rPr lang="en-IN" b="0" i="0" dirty="0">
                <a:effectLst/>
                <a:latin typeface="inter-regular"/>
              </a:rPr>
              <a:t>,"</a:t>
            </a:r>
            <a:r>
              <a:rPr lang="en-IN" b="0" i="0" dirty="0" err="1">
                <a:effectLst/>
                <a:latin typeface="inter-regular"/>
              </a:rPr>
              <a:t>is",factorial</a:t>
            </a:r>
            <a:r>
              <a:rPr lang="en-IN" b="0" i="0" dirty="0">
                <a:effectLst/>
                <a:latin typeface="inter-regular"/>
              </a:rPr>
              <a:t>) </a:t>
            </a:r>
          </a:p>
          <a:p>
            <a:pPr marL="0" indent="0" algn="just">
              <a:buNone/>
            </a:pPr>
            <a:endParaRPr lang="en-IN" b="0" i="0" dirty="0">
              <a:effectLst/>
              <a:latin typeface="inter-regular"/>
            </a:endParaRPr>
          </a:p>
          <a:p>
            <a:pPr algn="just"/>
            <a:r>
              <a:rPr lang="en-IN" b="1" i="0" dirty="0">
                <a:effectLst/>
                <a:latin typeface="inter-bold"/>
              </a:rPr>
              <a:t>Output:</a:t>
            </a:r>
            <a:endParaRPr lang="en-IN" b="0" i="0" dirty="0">
              <a:effectLst/>
              <a:latin typeface="inter-regular"/>
            </a:endParaRPr>
          </a:p>
          <a:p>
            <a:pPr algn="just"/>
            <a:r>
              <a:rPr lang="en-IN" b="0" i="0" dirty="0">
                <a:effectLst/>
              </a:rPr>
              <a:t>Enter a number: 10 The factorial of 10 is 3628800</a:t>
            </a:r>
          </a:p>
          <a:p>
            <a:pPr marL="0" indent="0">
              <a:buNone/>
            </a:pPr>
            <a:endParaRPr lang="en-US" u="sng" dirty="0"/>
          </a:p>
        </p:txBody>
      </p:sp>
    </p:spTree>
    <p:extLst>
      <p:ext uri="{BB962C8B-B14F-4D97-AF65-F5344CB8AC3E}">
        <p14:creationId xmlns:p14="http://schemas.microsoft.com/office/powerpoint/2010/main" val="234899122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3224B1-6634-D165-EF97-9FD69E125072}"/>
              </a:ext>
            </a:extLst>
          </p:cNvPr>
          <p:cNvSpPr>
            <a:spLocks noGrp="1"/>
          </p:cNvSpPr>
          <p:nvPr>
            <p:ph type="title"/>
          </p:nvPr>
        </p:nvSpPr>
        <p:spPr/>
        <p:txBody>
          <a:bodyPr/>
          <a:lstStyle/>
          <a:p>
            <a:r>
              <a:rPr lang="en-US" u="sng" dirty="0"/>
              <a:t>Maximum element in python</a:t>
            </a:r>
          </a:p>
        </p:txBody>
      </p:sp>
      <p:sp>
        <p:nvSpPr>
          <p:cNvPr id="3" name="Content Placeholder 2">
            <a:extLst>
              <a:ext uri="{FF2B5EF4-FFF2-40B4-BE49-F238E27FC236}">
                <a16:creationId xmlns:a16="http://schemas.microsoft.com/office/drawing/2014/main" id="{611087C0-A826-F1DB-01FF-3C3180749FC8}"/>
              </a:ext>
            </a:extLst>
          </p:cNvPr>
          <p:cNvSpPr>
            <a:spLocks noGrp="1"/>
          </p:cNvSpPr>
          <p:nvPr>
            <p:ph idx="1"/>
          </p:nvPr>
        </p:nvSpPr>
        <p:spPr/>
        <p:txBody>
          <a:bodyPr>
            <a:normAutofit fontScale="77500" lnSpcReduction="20000"/>
          </a:bodyPr>
          <a:lstStyle/>
          <a:p>
            <a:r>
              <a:rPr lang="en-US" dirty="0"/>
              <a:t>numbers = [3, 7, 1, 9, 4, 2, 8, 5, 6]</a:t>
            </a:r>
          </a:p>
          <a:p>
            <a:endParaRPr lang="en-US" dirty="0"/>
          </a:p>
          <a:p>
            <a:r>
              <a:rPr lang="en-US" dirty="0"/>
              <a:t># Initialize the maximum to the first element of the list</a:t>
            </a:r>
          </a:p>
          <a:p>
            <a:r>
              <a:rPr lang="en-US" dirty="0" err="1"/>
              <a:t>max_number</a:t>
            </a:r>
            <a:r>
              <a:rPr lang="en-US" dirty="0"/>
              <a:t> = numbers[0]</a:t>
            </a:r>
          </a:p>
          <a:p>
            <a:endParaRPr lang="en-US" dirty="0"/>
          </a:p>
          <a:p>
            <a:r>
              <a:rPr lang="en-US" dirty="0"/>
              <a:t># Iterate through the list and update </a:t>
            </a:r>
            <a:r>
              <a:rPr lang="en-US" dirty="0" err="1"/>
              <a:t>max_number</a:t>
            </a:r>
            <a:r>
              <a:rPr lang="en-US" dirty="0"/>
              <a:t> if a larger number is found</a:t>
            </a:r>
          </a:p>
          <a:p>
            <a:r>
              <a:rPr lang="en-US" dirty="0"/>
              <a:t>for num in numbers:</a:t>
            </a:r>
          </a:p>
          <a:p>
            <a:r>
              <a:rPr lang="en-US" dirty="0"/>
              <a:t>    if num &gt; </a:t>
            </a:r>
            <a:r>
              <a:rPr lang="en-US" dirty="0" err="1"/>
              <a:t>max_number</a:t>
            </a:r>
            <a:r>
              <a:rPr lang="en-US" dirty="0"/>
              <a:t>:</a:t>
            </a:r>
          </a:p>
          <a:p>
            <a:r>
              <a:rPr lang="en-US" dirty="0"/>
              <a:t>        </a:t>
            </a:r>
            <a:r>
              <a:rPr lang="en-US" dirty="0" err="1"/>
              <a:t>max_number</a:t>
            </a:r>
            <a:r>
              <a:rPr lang="en-US" dirty="0"/>
              <a:t> = num</a:t>
            </a:r>
          </a:p>
          <a:p>
            <a:endParaRPr lang="en-US" dirty="0"/>
          </a:p>
          <a:p>
            <a:r>
              <a:rPr lang="en-US" dirty="0"/>
              <a:t># </a:t>
            </a:r>
            <a:r>
              <a:rPr lang="en-US" dirty="0" err="1"/>
              <a:t>max_number</a:t>
            </a:r>
            <a:r>
              <a:rPr lang="en-US" dirty="0"/>
              <a:t> now contains the maximum number</a:t>
            </a:r>
          </a:p>
          <a:p>
            <a:r>
              <a:rPr lang="en-US" dirty="0"/>
              <a:t>print("The maximum number is:", </a:t>
            </a:r>
            <a:r>
              <a:rPr lang="en-US" dirty="0" err="1"/>
              <a:t>max_number</a:t>
            </a:r>
            <a:r>
              <a:rPr lang="en-US" dirty="0"/>
              <a:t>)</a:t>
            </a:r>
          </a:p>
          <a:p>
            <a:endParaRPr lang="en-US" dirty="0"/>
          </a:p>
        </p:txBody>
      </p:sp>
    </p:spTree>
    <p:extLst>
      <p:ext uri="{BB962C8B-B14F-4D97-AF65-F5344CB8AC3E}">
        <p14:creationId xmlns:p14="http://schemas.microsoft.com/office/powerpoint/2010/main" val="24514134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934FA1-4475-B14C-6252-AA89D42D7CD5}"/>
              </a:ext>
            </a:extLst>
          </p:cNvPr>
          <p:cNvSpPr>
            <a:spLocks noGrp="1"/>
          </p:cNvSpPr>
          <p:nvPr>
            <p:ph type="title"/>
          </p:nvPr>
        </p:nvSpPr>
        <p:spPr>
          <a:xfrm>
            <a:off x="838200" y="365125"/>
            <a:ext cx="10515600" cy="954009"/>
          </a:xfrm>
        </p:spPr>
        <p:txBody>
          <a:bodyPr/>
          <a:lstStyle/>
          <a:p>
            <a:r>
              <a:rPr lang="en-US" u="sng" dirty="0"/>
              <a:t>Armstrong number in python</a:t>
            </a:r>
          </a:p>
        </p:txBody>
      </p:sp>
      <p:sp>
        <p:nvSpPr>
          <p:cNvPr id="3" name="Content Placeholder 2">
            <a:extLst>
              <a:ext uri="{FF2B5EF4-FFF2-40B4-BE49-F238E27FC236}">
                <a16:creationId xmlns:a16="http://schemas.microsoft.com/office/drawing/2014/main" id="{DFC2A0C3-C5B6-1285-3C79-A0F6F297568F}"/>
              </a:ext>
            </a:extLst>
          </p:cNvPr>
          <p:cNvSpPr>
            <a:spLocks noGrp="1"/>
          </p:cNvSpPr>
          <p:nvPr>
            <p:ph idx="1"/>
          </p:nvPr>
        </p:nvSpPr>
        <p:spPr>
          <a:xfrm>
            <a:off x="539646" y="1424066"/>
            <a:ext cx="10814154" cy="4752897"/>
          </a:xfrm>
        </p:spPr>
        <p:txBody>
          <a:bodyPr>
            <a:normAutofit fontScale="70000" lnSpcReduction="20000"/>
          </a:bodyPr>
          <a:lstStyle/>
          <a:p>
            <a:pPr algn="just">
              <a:buFont typeface="+mj-lt"/>
              <a:buAutoNum type="arabicPeriod"/>
            </a:pPr>
            <a:r>
              <a:rPr lang="en-IN" b="0" i="0" dirty="0">
                <a:effectLst/>
                <a:latin typeface="inter-regular"/>
              </a:rPr>
              <a:t>lower = int(input("Enter lower range: "))  </a:t>
            </a:r>
          </a:p>
          <a:p>
            <a:pPr algn="just">
              <a:buFont typeface="+mj-lt"/>
              <a:buAutoNum type="arabicPeriod"/>
            </a:pPr>
            <a:r>
              <a:rPr lang="en-IN" b="0" i="0" dirty="0">
                <a:effectLst/>
                <a:latin typeface="inter-regular"/>
              </a:rPr>
              <a:t>upper = int(input("Enter upper range: "))  </a:t>
            </a:r>
          </a:p>
          <a:p>
            <a:pPr algn="just">
              <a:buFont typeface="+mj-lt"/>
              <a:buAutoNum type="arabicPeriod"/>
            </a:pPr>
            <a:r>
              <a:rPr lang="en-IN" b="0" i="0" dirty="0">
                <a:effectLst/>
                <a:latin typeface="inter-regular"/>
              </a:rPr>
              <a:t>  </a:t>
            </a:r>
          </a:p>
          <a:p>
            <a:pPr algn="just">
              <a:buFont typeface="+mj-lt"/>
              <a:buAutoNum type="arabicPeriod"/>
            </a:pPr>
            <a:r>
              <a:rPr lang="en-IN" b="1" i="0" dirty="0">
                <a:effectLst/>
                <a:latin typeface="inter-regular"/>
              </a:rPr>
              <a:t>for</a:t>
            </a:r>
            <a:r>
              <a:rPr lang="en-IN" b="0" i="0" dirty="0">
                <a:effectLst/>
                <a:latin typeface="inter-regular"/>
              </a:rPr>
              <a:t> </a:t>
            </a:r>
            <a:r>
              <a:rPr lang="en-IN" b="0" i="0" dirty="0" err="1">
                <a:effectLst/>
                <a:latin typeface="inter-regular"/>
              </a:rPr>
              <a:t>num</a:t>
            </a:r>
            <a:r>
              <a:rPr lang="en-IN" b="0" i="0" dirty="0">
                <a:effectLst/>
                <a:latin typeface="inter-regular"/>
              </a:rPr>
              <a:t> </a:t>
            </a:r>
            <a:r>
              <a:rPr lang="en-IN" b="1" i="0" dirty="0">
                <a:effectLst/>
                <a:latin typeface="inter-regular"/>
              </a:rPr>
              <a:t>in</a:t>
            </a:r>
            <a:r>
              <a:rPr lang="en-IN" b="0" i="0" dirty="0">
                <a:effectLst/>
                <a:latin typeface="inter-regular"/>
              </a:rPr>
              <a:t> range(</a:t>
            </a:r>
            <a:r>
              <a:rPr lang="en-IN" b="0" i="0" dirty="0" err="1">
                <a:effectLst/>
                <a:latin typeface="inter-regular"/>
              </a:rPr>
              <a:t>lower,upper</a:t>
            </a:r>
            <a:r>
              <a:rPr lang="en-IN" b="0" i="0" dirty="0">
                <a:effectLst/>
                <a:latin typeface="inter-regular"/>
              </a:rPr>
              <a:t> + 1):  </a:t>
            </a:r>
          </a:p>
          <a:p>
            <a:pPr algn="just">
              <a:buFont typeface="+mj-lt"/>
              <a:buAutoNum type="arabicPeriod"/>
            </a:pPr>
            <a:r>
              <a:rPr lang="en-IN" b="0" i="0" dirty="0">
                <a:effectLst/>
                <a:latin typeface="inter-regular"/>
              </a:rPr>
              <a:t>   sum = 0  </a:t>
            </a:r>
          </a:p>
          <a:p>
            <a:pPr algn="just">
              <a:buFont typeface="+mj-lt"/>
              <a:buAutoNum type="arabicPeriod"/>
            </a:pPr>
            <a:r>
              <a:rPr lang="en-IN" b="0" i="0" dirty="0">
                <a:effectLst/>
                <a:latin typeface="inter-regular"/>
              </a:rPr>
              <a:t>   temp = </a:t>
            </a:r>
            <a:r>
              <a:rPr lang="en-IN" b="0" i="0" dirty="0" err="1">
                <a:effectLst/>
                <a:latin typeface="inter-regular"/>
              </a:rPr>
              <a:t>num</a:t>
            </a:r>
            <a:r>
              <a:rPr lang="en-IN" b="0" i="0" dirty="0">
                <a:effectLst/>
                <a:latin typeface="inter-regular"/>
              </a:rPr>
              <a:t>  </a:t>
            </a:r>
          </a:p>
          <a:p>
            <a:pPr algn="just">
              <a:buFont typeface="+mj-lt"/>
              <a:buAutoNum type="arabicPeriod"/>
            </a:pPr>
            <a:r>
              <a:rPr lang="en-IN" b="0" i="0" dirty="0">
                <a:effectLst/>
                <a:latin typeface="inter-regular"/>
              </a:rPr>
              <a:t>   </a:t>
            </a:r>
            <a:r>
              <a:rPr lang="en-IN" b="1" i="0" dirty="0">
                <a:effectLst/>
                <a:latin typeface="inter-regular"/>
              </a:rPr>
              <a:t>while</a:t>
            </a:r>
            <a:r>
              <a:rPr lang="en-IN" b="0" i="0" dirty="0">
                <a:effectLst/>
                <a:latin typeface="inter-regular"/>
              </a:rPr>
              <a:t> temp &gt; 0:  </a:t>
            </a:r>
          </a:p>
          <a:p>
            <a:pPr algn="just">
              <a:buFont typeface="+mj-lt"/>
              <a:buAutoNum type="arabicPeriod"/>
            </a:pPr>
            <a:r>
              <a:rPr lang="en-IN" b="0" i="0" dirty="0">
                <a:effectLst/>
                <a:latin typeface="inter-regular"/>
              </a:rPr>
              <a:t>       digit = temp % 10  </a:t>
            </a:r>
          </a:p>
          <a:p>
            <a:pPr algn="just">
              <a:buFont typeface="+mj-lt"/>
              <a:buAutoNum type="arabicPeriod"/>
            </a:pPr>
            <a:r>
              <a:rPr lang="en-IN" b="0" i="0" dirty="0">
                <a:effectLst/>
                <a:latin typeface="inter-regular"/>
              </a:rPr>
              <a:t>       sum += digit ** 3  </a:t>
            </a:r>
          </a:p>
          <a:p>
            <a:pPr algn="just">
              <a:buFont typeface="+mj-lt"/>
              <a:buAutoNum type="arabicPeriod"/>
            </a:pPr>
            <a:r>
              <a:rPr lang="en-IN" b="0" i="0" dirty="0">
                <a:effectLst/>
                <a:latin typeface="inter-regular"/>
              </a:rPr>
              <a:t>       temp //= 10  </a:t>
            </a:r>
          </a:p>
          <a:p>
            <a:pPr algn="just">
              <a:buFont typeface="+mj-lt"/>
              <a:buAutoNum type="arabicPeriod"/>
            </a:pPr>
            <a:r>
              <a:rPr lang="en-IN" b="0" i="0" dirty="0">
                <a:effectLst/>
                <a:latin typeface="inter-regular"/>
              </a:rPr>
              <a:t>       </a:t>
            </a:r>
            <a:r>
              <a:rPr lang="en-IN" b="1" i="0" dirty="0">
                <a:effectLst/>
                <a:latin typeface="inter-regular"/>
              </a:rPr>
              <a:t>if</a:t>
            </a:r>
            <a:r>
              <a:rPr lang="en-IN" b="0" i="0" dirty="0">
                <a:effectLst/>
                <a:latin typeface="inter-regular"/>
              </a:rPr>
              <a:t> </a:t>
            </a:r>
            <a:r>
              <a:rPr lang="en-IN" b="0" i="0" dirty="0" err="1">
                <a:effectLst/>
                <a:latin typeface="inter-regular"/>
              </a:rPr>
              <a:t>num</a:t>
            </a:r>
            <a:r>
              <a:rPr lang="en-IN" b="0" i="0" dirty="0">
                <a:effectLst/>
                <a:latin typeface="inter-regular"/>
              </a:rPr>
              <a:t> == sum:  </a:t>
            </a:r>
          </a:p>
          <a:p>
            <a:pPr algn="just">
              <a:buFont typeface="+mj-lt"/>
              <a:buAutoNum type="arabicPeriod"/>
            </a:pPr>
            <a:r>
              <a:rPr lang="en-IN" b="0" i="0" dirty="0">
                <a:effectLst/>
                <a:latin typeface="inter-regular"/>
              </a:rPr>
              <a:t>            </a:t>
            </a:r>
            <a:r>
              <a:rPr lang="en-IN" b="1" i="0" dirty="0">
                <a:effectLst/>
                <a:latin typeface="inter-regular"/>
              </a:rPr>
              <a:t>print</a:t>
            </a:r>
            <a:r>
              <a:rPr lang="en-IN" b="0" i="0" dirty="0">
                <a:effectLst/>
                <a:latin typeface="inter-regular"/>
              </a:rPr>
              <a:t>(</a:t>
            </a:r>
            <a:r>
              <a:rPr lang="en-IN" b="0" i="0" dirty="0" err="1">
                <a:effectLst/>
                <a:latin typeface="inter-regular"/>
              </a:rPr>
              <a:t>num</a:t>
            </a:r>
            <a:r>
              <a:rPr lang="en-IN" b="0" i="0" dirty="0">
                <a:effectLst/>
                <a:latin typeface="inter-regular"/>
              </a:rPr>
              <a:t>)  </a:t>
            </a:r>
          </a:p>
          <a:p>
            <a:r>
              <a:rPr lang="en-IN" b="0" i="0" dirty="0">
                <a:effectLst/>
                <a:latin typeface="Google Sans"/>
              </a:rPr>
              <a:t>The sum of the cubes of its digits is equal to the number itself. For example, 371 is an Armstrong number since 3**3 + 7**3 + 1**3 = 371.</a:t>
            </a:r>
            <a:endParaRPr lang="en-US" dirty="0"/>
          </a:p>
        </p:txBody>
      </p:sp>
    </p:spTree>
    <p:extLst>
      <p:ext uri="{BB962C8B-B14F-4D97-AF65-F5344CB8AC3E}">
        <p14:creationId xmlns:p14="http://schemas.microsoft.com/office/powerpoint/2010/main" val="116886457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72850C-3D25-A1D3-0972-5540FE60218D}"/>
              </a:ext>
            </a:extLst>
          </p:cNvPr>
          <p:cNvSpPr>
            <a:spLocks noGrp="1"/>
          </p:cNvSpPr>
          <p:nvPr>
            <p:ph type="title"/>
          </p:nvPr>
        </p:nvSpPr>
        <p:spPr>
          <a:xfrm>
            <a:off x="838200" y="365125"/>
            <a:ext cx="10515600" cy="1057803"/>
          </a:xfrm>
        </p:spPr>
        <p:txBody>
          <a:bodyPr/>
          <a:lstStyle/>
          <a:p>
            <a:r>
              <a:rPr lang="en-US" u="sng" dirty="0"/>
              <a:t>Left Half Pyramid</a:t>
            </a:r>
          </a:p>
        </p:txBody>
      </p:sp>
      <p:sp>
        <p:nvSpPr>
          <p:cNvPr id="3" name="Content Placeholder 2">
            <a:extLst>
              <a:ext uri="{FF2B5EF4-FFF2-40B4-BE49-F238E27FC236}">
                <a16:creationId xmlns:a16="http://schemas.microsoft.com/office/drawing/2014/main" id="{1292CFE3-E22F-9354-9CE1-F8FA2018C2F0}"/>
              </a:ext>
            </a:extLst>
          </p:cNvPr>
          <p:cNvSpPr>
            <a:spLocks noGrp="1"/>
          </p:cNvSpPr>
          <p:nvPr>
            <p:ph idx="1"/>
          </p:nvPr>
        </p:nvSpPr>
        <p:spPr/>
        <p:txBody>
          <a:bodyPr/>
          <a:lstStyle/>
          <a:p>
            <a:r>
              <a:rPr lang="en-IN" b="0" i="0" dirty="0">
                <a:solidFill>
                  <a:srgbClr val="708090"/>
                </a:solidFill>
                <a:effectLst/>
                <a:latin typeface="Consolas" panose="020B0609020204030204" pitchFamily="49" charset="0"/>
              </a:rPr>
              <a:t>#Program to print Left Half Pyramid</a:t>
            </a:r>
          </a:p>
          <a:p>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num_rows</a:t>
            </a:r>
            <a:r>
              <a:rPr lang="en-IN" b="0" i="0" dirty="0">
                <a:solidFill>
                  <a:srgbClr val="000000"/>
                </a:solidFill>
                <a:effectLst/>
                <a:latin typeface="Consolas" panose="020B0609020204030204" pitchFamily="49" charset="0"/>
              </a:rPr>
              <a:t> </a:t>
            </a:r>
            <a:r>
              <a:rPr lang="en-IN" b="0" i="0" dirty="0">
                <a:solidFill>
                  <a:srgbClr val="9A6E3A"/>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669900"/>
                </a:solidFill>
                <a:effectLst/>
                <a:latin typeface="Consolas" panose="020B0609020204030204" pitchFamily="49" charset="0"/>
              </a:rPr>
              <a:t>int</a:t>
            </a:r>
            <a:r>
              <a:rPr lang="en-IN" b="0" i="0" dirty="0">
                <a:solidFill>
                  <a:srgbClr val="999999"/>
                </a:solidFill>
                <a:effectLst/>
                <a:latin typeface="Consolas" panose="020B0609020204030204" pitchFamily="49" charset="0"/>
              </a:rPr>
              <a:t>(</a:t>
            </a:r>
            <a:r>
              <a:rPr lang="en-IN" b="0" i="0" dirty="0">
                <a:solidFill>
                  <a:srgbClr val="669900"/>
                </a:solidFill>
                <a:effectLst/>
                <a:latin typeface="Consolas" panose="020B0609020204030204" pitchFamily="49" charset="0"/>
              </a:rPr>
              <a:t>input</a:t>
            </a:r>
            <a:r>
              <a:rPr lang="en-IN" b="0" i="0" dirty="0">
                <a:solidFill>
                  <a:srgbClr val="999999"/>
                </a:solidFill>
                <a:effectLst/>
                <a:latin typeface="Consolas" panose="020B0609020204030204" pitchFamily="49" charset="0"/>
              </a:rPr>
              <a:t>(</a:t>
            </a:r>
            <a:r>
              <a:rPr lang="en-IN" b="0" i="0" dirty="0">
                <a:solidFill>
                  <a:srgbClr val="669900"/>
                </a:solidFill>
                <a:effectLst/>
                <a:latin typeface="Consolas" panose="020B0609020204030204" pitchFamily="49" charset="0"/>
              </a:rPr>
              <a:t>"Enter the number of rows"</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k </a:t>
            </a:r>
            <a:r>
              <a:rPr lang="en-IN" b="0" i="0" dirty="0">
                <a:solidFill>
                  <a:srgbClr val="9A6E3A"/>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for</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i</a:t>
            </a:r>
            <a:r>
              <a:rPr lang="en-IN" b="0" i="0" dirty="0">
                <a:solidFill>
                  <a:srgbClr val="000000"/>
                </a:solidFill>
                <a:effectLst/>
                <a:latin typeface="Consolas" panose="020B0609020204030204" pitchFamily="49" charset="0"/>
              </a:rPr>
              <a:t> </a:t>
            </a:r>
            <a:r>
              <a:rPr lang="en-IN" b="0" i="0" dirty="0">
                <a:solidFill>
                  <a:srgbClr val="0077AA"/>
                </a:solidFill>
                <a:effectLst/>
                <a:latin typeface="Consolas" panose="020B0609020204030204" pitchFamily="49" charset="0"/>
              </a:rPr>
              <a:t>in</a:t>
            </a:r>
            <a:r>
              <a:rPr lang="en-IN" b="0" i="0" dirty="0">
                <a:solidFill>
                  <a:srgbClr val="000000"/>
                </a:solidFill>
                <a:effectLst/>
                <a:latin typeface="Consolas" panose="020B0609020204030204" pitchFamily="49" charset="0"/>
              </a:rPr>
              <a:t> </a:t>
            </a:r>
            <a:r>
              <a:rPr lang="en-IN" b="0" i="0" dirty="0">
                <a:solidFill>
                  <a:srgbClr val="669900"/>
                </a:solidFill>
                <a:effectLst/>
                <a:latin typeface="Consolas" panose="020B0609020204030204" pitchFamily="49" charset="0"/>
              </a:rPr>
              <a:t>range</a:t>
            </a:r>
            <a:r>
              <a:rPr lang="en-IN" b="0" i="0" dirty="0">
                <a:solidFill>
                  <a:srgbClr val="999999"/>
                </a:solidFill>
                <a:effectLst/>
                <a:latin typeface="Consolas" panose="020B0609020204030204" pitchFamily="49" charset="0"/>
              </a:rPr>
              <a:t>(</a:t>
            </a:r>
            <a:r>
              <a:rPr lang="en-IN" b="0" i="0" dirty="0">
                <a:solidFill>
                  <a:srgbClr val="990055"/>
                </a:solidFill>
                <a:effectLst/>
                <a:latin typeface="Consolas" panose="020B0609020204030204" pitchFamily="49" charset="0"/>
              </a:rPr>
              <a:t>0</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err="1">
                <a:solidFill>
                  <a:srgbClr val="000000"/>
                </a:solidFill>
                <a:effectLst/>
                <a:latin typeface="Consolas" panose="020B0609020204030204" pitchFamily="49" charset="0"/>
              </a:rPr>
              <a:t>num_rows</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for</a:t>
            </a:r>
            <a:r>
              <a:rPr lang="en-IN" b="0" i="0" dirty="0">
                <a:solidFill>
                  <a:srgbClr val="000000"/>
                </a:solidFill>
                <a:effectLst/>
                <a:latin typeface="Consolas" panose="020B0609020204030204" pitchFamily="49" charset="0"/>
              </a:rPr>
              <a:t> j </a:t>
            </a:r>
            <a:r>
              <a:rPr lang="en-IN" b="0" i="0" dirty="0">
                <a:solidFill>
                  <a:srgbClr val="0077AA"/>
                </a:solidFill>
                <a:effectLst/>
                <a:latin typeface="Consolas" panose="020B0609020204030204" pitchFamily="49" charset="0"/>
              </a:rPr>
              <a:t>in</a:t>
            </a:r>
            <a:r>
              <a:rPr lang="en-IN" b="0" i="0" dirty="0">
                <a:solidFill>
                  <a:srgbClr val="000000"/>
                </a:solidFill>
                <a:effectLst/>
                <a:latin typeface="Consolas" panose="020B0609020204030204" pitchFamily="49" charset="0"/>
              </a:rPr>
              <a:t> </a:t>
            </a:r>
            <a:r>
              <a:rPr lang="en-IN" b="0" i="0" dirty="0">
                <a:solidFill>
                  <a:srgbClr val="669900"/>
                </a:solidFill>
                <a:effectLst/>
                <a:latin typeface="Consolas" panose="020B0609020204030204" pitchFamily="49" charset="0"/>
              </a:rPr>
              <a:t>range</a:t>
            </a:r>
            <a:r>
              <a:rPr lang="en-IN" b="0" i="0" dirty="0">
                <a:solidFill>
                  <a:srgbClr val="999999"/>
                </a:solidFill>
                <a:effectLst/>
                <a:latin typeface="Consolas" panose="020B0609020204030204" pitchFamily="49" charset="0"/>
              </a:rPr>
              <a:t>(</a:t>
            </a:r>
            <a:r>
              <a:rPr lang="en-IN" b="0" i="0" dirty="0">
                <a:solidFill>
                  <a:srgbClr val="990055"/>
                </a:solidFill>
                <a:effectLst/>
                <a:latin typeface="Consolas" panose="020B0609020204030204" pitchFamily="49" charset="0"/>
              </a:rPr>
              <a:t>0</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k</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print</a:t>
            </a:r>
            <a:r>
              <a:rPr lang="en-IN" b="0" i="0" dirty="0">
                <a:solidFill>
                  <a:srgbClr val="999999"/>
                </a:solidFill>
                <a:effectLst/>
                <a:latin typeface="Consolas" panose="020B0609020204030204" pitchFamily="49" charset="0"/>
              </a:rPr>
              <a:t>(</a:t>
            </a:r>
            <a:r>
              <a:rPr lang="en-IN" b="0" i="0" dirty="0">
                <a:solidFill>
                  <a:srgbClr val="669900"/>
                </a:solidFill>
                <a:effectLst/>
                <a:latin typeface="Consolas" panose="020B0609020204030204" pitchFamily="49" charset="0"/>
              </a:rPr>
              <a:t>"* "</a:t>
            </a:r>
            <a:r>
              <a:rPr lang="en-IN" b="0" i="0" dirty="0">
                <a:solidFill>
                  <a:srgbClr val="999999"/>
                </a:solidFill>
                <a:effectLst/>
                <a:latin typeface="Consolas" panose="020B0609020204030204" pitchFamily="49" charset="0"/>
              </a:rPr>
              <a:t>,</a:t>
            </a:r>
            <a:r>
              <a:rPr lang="en-IN" b="0" i="0" dirty="0">
                <a:solidFill>
                  <a:srgbClr val="000000"/>
                </a:solidFill>
                <a:effectLst/>
                <a:latin typeface="Consolas" panose="020B0609020204030204" pitchFamily="49" charset="0"/>
              </a:rPr>
              <a:t> end</a:t>
            </a:r>
            <a:r>
              <a:rPr lang="en-IN" b="0" i="0" dirty="0">
                <a:solidFill>
                  <a:srgbClr val="9A6E3A"/>
                </a:solidFill>
                <a:effectLst/>
                <a:latin typeface="Consolas" panose="020B0609020204030204" pitchFamily="49" charset="0"/>
              </a:rPr>
              <a:t>=</a:t>
            </a:r>
            <a:r>
              <a:rPr lang="en-IN" b="0" i="0" dirty="0">
                <a:solidFill>
                  <a:srgbClr val="669900"/>
                </a:solidFill>
                <a:effectLst/>
                <a:latin typeface="Consolas" panose="020B0609020204030204" pitchFamily="49" charset="0"/>
              </a:rPr>
              <a:t>""</a:t>
            </a:r>
            <a:r>
              <a:rPr lang="en-IN" b="0" i="0" dirty="0">
                <a:solidFill>
                  <a:srgbClr val="999999"/>
                </a:solidFill>
                <a:effectLst/>
                <a:latin typeface="Consolas" panose="020B0609020204030204" pitchFamily="49" charset="0"/>
              </a:rPr>
              <a:t>)</a:t>
            </a:r>
          </a:p>
          <a:p>
            <a:r>
              <a:rPr lang="en-IN" b="0" i="0" dirty="0">
                <a:solidFill>
                  <a:srgbClr val="000000"/>
                </a:solidFill>
                <a:effectLst/>
                <a:latin typeface="Consolas" panose="020B0609020204030204" pitchFamily="49" charset="0"/>
              </a:rPr>
              <a:t> k </a:t>
            </a:r>
            <a:r>
              <a:rPr lang="en-IN" b="0" i="0" dirty="0">
                <a:solidFill>
                  <a:srgbClr val="9A6E3A"/>
                </a:solidFill>
                <a:effectLst/>
                <a:latin typeface="Consolas" panose="020B0609020204030204" pitchFamily="49" charset="0"/>
              </a:rPr>
              <a:t>=</a:t>
            </a:r>
            <a:r>
              <a:rPr lang="en-IN" b="0" i="0" dirty="0">
                <a:solidFill>
                  <a:srgbClr val="000000"/>
                </a:solidFill>
                <a:effectLst/>
                <a:latin typeface="Consolas" panose="020B0609020204030204" pitchFamily="49" charset="0"/>
              </a:rPr>
              <a:t> k </a:t>
            </a:r>
            <a:r>
              <a:rPr lang="en-IN" b="0" i="0" dirty="0">
                <a:solidFill>
                  <a:srgbClr val="9A6E3A"/>
                </a:solidFill>
                <a:effectLst/>
                <a:latin typeface="Consolas" panose="020B0609020204030204" pitchFamily="49" charset="0"/>
              </a:rPr>
              <a:t>+</a:t>
            </a:r>
            <a:r>
              <a:rPr lang="en-IN" b="0" i="0" dirty="0">
                <a:solidFill>
                  <a:srgbClr val="000000"/>
                </a:solidFill>
                <a:effectLst/>
                <a:latin typeface="Consolas" panose="020B0609020204030204" pitchFamily="49" charset="0"/>
              </a:rPr>
              <a:t> </a:t>
            </a:r>
            <a:r>
              <a:rPr lang="en-IN" b="0" i="0" dirty="0">
                <a:solidFill>
                  <a:srgbClr val="990055"/>
                </a:solidFill>
                <a:effectLst/>
                <a:latin typeface="Consolas" panose="020B0609020204030204" pitchFamily="49" charset="0"/>
              </a:rPr>
              <a:t>1</a:t>
            </a:r>
            <a:r>
              <a:rPr lang="en-IN" b="0" i="0" dirty="0">
                <a:solidFill>
                  <a:srgbClr val="000000"/>
                </a:solidFill>
                <a:effectLst/>
                <a:latin typeface="Consolas" panose="020B0609020204030204" pitchFamily="49" charset="0"/>
              </a:rPr>
              <a:t> </a:t>
            </a:r>
          </a:p>
          <a:p>
            <a:r>
              <a:rPr lang="en-IN" b="0" i="0" dirty="0">
                <a:solidFill>
                  <a:srgbClr val="0077AA"/>
                </a:solidFill>
                <a:effectLst/>
                <a:latin typeface="Consolas" panose="020B0609020204030204" pitchFamily="49" charset="0"/>
              </a:rPr>
              <a:t>print</a:t>
            </a:r>
            <a:r>
              <a:rPr lang="en-IN" b="0" i="0" dirty="0">
                <a:solidFill>
                  <a:srgbClr val="999999"/>
                </a:solidFill>
                <a:effectLst/>
                <a:latin typeface="Consolas" panose="020B0609020204030204" pitchFamily="49" charset="0"/>
              </a:rPr>
              <a:t>()</a:t>
            </a:r>
            <a:endParaRPr lang="en-US" dirty="0"/>
          </a:p>
        </p:txBody>
      </p:sp>
      <p:pic>
        <p:nvPicPr>
          <p:cNvPr id="5" name="Picture 4" descr="A screen shot of a computer&#10;&#10;Description automatically generated">
            <a:extLst>
              <a:ext uri="{FF2B5EF4-FFF2-40B4-BE49-F238E27FC236}">
                <a16:creationId xmlns:a16="http://schemas.microsoft.com/office/drawing/2014/main" id="{0790B667-6B18-5242-0E6A-D49C438C5ED4}"/>
              </a:ext>
            </a:extLst>
          </p:cNvPr>
          <p:cNvPicPr>
            <a:picLocks noChangeAspect="1"/>
          </p:cNvPicPr>
          <p:nvPr/>
        </p:nvPicPr>
        <p:blipFill>
          <a:blip r:embed="rId2"/>
          <a:stretch>
            <a:fillRect/>
          </a:stretch>
        </p:blipFill>
        <p:spPr>
          <a:xfrm>
            <a:off x="7382932" y="4001293"/>
            <a:ext cx="2954955" cy="1772973"/>
          </a:xfrm>
          <a:prstGeom prst="rect">
            <a:avLst/>
          </a:prstGeom>
        </p:spPr>
      </p:pic>
    </p:spTree>
    <p:extLst>
      <p:ext uri="{BB962C8B-B14F-4D97-AF65-F5344CB8AC3E}">
        <p14:creationId xmlns:p14="http://schemas.microsoft.com/office/powerpoint/2010/main" val="11435710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0CC9AA-E86D-353D-4461-A4A76AF1FFEA}"/>
              </a:ext>
            </a:extLst>
          </p:cNvPr>
          <p:cNvSpPr>
            <a:spLocks noGrp="1"/>
          </p:cNvSpPr>
          <p:nvPr>
            <p:ph type="title"/>
          </p:nvPr>
        </p:nvSpPr>
        <p:spPr>
          <a:xfrm>
            <a:off x="838200" y="365125"/>
            <a:ext cx="10515600" cy="504305"/>
          </a:xfrm>
        </p:spPr>
        <p:txBody>
          <a:bodyPr>
            <a:normAutofit fontScale="90000"/>
          </a:bodyPr>
          <a:lstStyle/>
          <a:p>
            <a:r>
              <a:rPr lang="en-US" u="sng" dirty="0"/>
              <a:t>Bubble Sort </a:t>
            </a:r>
          </a:p>
        </p:txBody>
      </p:sp>
      <p:sp>
        <p:nvSpPr>
          <p:cNvPr id="3" name="Content Placeholder 2">
            <a:extLst>
              <a:ext uri="{FF2B5EF4-FFF2-40B4-BE49-F238E27FC236}">
                <a16:creationId xmlns:a16="http://schemas.microsoft.com/office/drawing/2014/main" id="{C66FD582-5CD8-34E0-D478-83FE68178F31}"/>
              </a:ext>
            </a:extLst>
          </p:cNvPr>
          <p:cNvSpPr>
            <a:spLocks noGrp="1"/>
          </p:cNvSpPr>
          <p:nvPr>
            <p:ph idx="1"/>
          </p:nvPr>
        </p:nvSpPr>
        <p:spPr>
          <a:xfrm>
            <a:off x="569626" y="1094282"/>
            <a:ext cx="10784174" cy="5082681"/>
          </a:xfrm>
        </p:spPr>
        <p:txBody>
          <a:bodyPr>
            <a:normAutofit fontScale="70000" lnSpcReduction="20000"/>
          </a:bodyPr>
          <a:lstStyle/>
          <a:p>
            <a:r>
              <a:rPr lang="en-US" dirty="0"/>
              <a:t># List of numbers to be sorted</a:t>
            </a:r>
          </a:p>
          <a:p>
            <a:r>
              <a:rPr lang="en-US" dirty="0"/>
              <a:t>numbers = [64, 25, 12, 22, 11]</a:t>
            </a:r>
          </a:p>
          <a:p>
            <a:r>
              <a:rPr lang="en-US" dirty="0"/>
              <a:t># Get the length of the list</a:t>
            </a:r>
          </a:p>
          <a:p>
            <a:r>
              <a:rPr lang="en-US" dirty="0"/>
              <a:t>n = </a:t>
            </a:r>
            <a:r>
              <a:rPr lang="en-US" dirty="0" err="1"/>
              <a:t>len</a:t>
            </a:r>
            <a:r>
              <a:rPr lang="en-US" dirty="0"/>
              <a:t>(numbers)</a:t>
            </a:r>
          </a:p>
          <a:p>
            <a:r>
              <a:rPr lang="en-US" dirty="0"/>
              <a:t>for </a:t>
            </a:r>
            <a:r>
              <a:rPr lang="en-US" dirty="0" err="1"/>
              <a:t>i</a:t>
            </a:r>
            <a:r>
              <a:rPr lang="en-US" dirty="0"/>
              <a:t> in range(n):</a:t>
            </a:r>
          </a:p>
          <a:p>
            <a:r>
              <a:rPr lang="en-US" dirty="0"/>
              <a:t>    # Last </a:t>
            </a:r>
            <a:r>
              <a:rPr lang="en-US" dirty="0" err="1"/>
              <a:t>i</a:t>
            </a:r>
            <a:r>
              <a:rPr lang="en-US" dirty="0"/>
              <a:t> elements are already in place, so we don't need to check them again</a:t>
            </a:r>
          </a:p>
          <a:p>
            <a:r>
              <a:rPr lang="en-US" dirty="0"/>
              <a:t>    for j in range(0, n - </a:t>
            </a:r>
            <a:r>
              <a:rPr lang="en-US" dirty="0" err="1"/>
              <a:t>i</a:t>
            </a:r>
            <a:r>
              <a:rPr lang="en-US" dirty="0"/>
              <a:t> - 1):</a:t>
            </a:r>
          </a:p>
          <a:p>
            <a:r>
              <a:rPr lang="en-US" dirty="0"/>
              <a:t>        # Swap if the element found is greater than the next element</a:t>
            </a:r>
          </a:p>
          <a:p>
            <a:r>
              <a:rPr lang="en-US" dirty="0"/>
              <a:t>        if numbers[j] &gt; numbers[j + 1]:</a:t>
            </a:r>
          </a:p>
          <a:p>
            <a:r>
              <a:rPr lang="en-US" dirty="0"/>
              <a:t>            numbers[j], numbers[j + 1] = numbers[j + 1], numbers[j]</a:t>
            </a:r>
          </a:p>
          <a:p>
            <a:endParaRPr lang="en-US" dirty="0"/>
          </a:p>
          <a:p>
            <a:r>
              <a:rPr lang="en-US" dirty="0"/>
              <a:t># Print the sorted list</a:t>
            </a:r>
          </a:p>
          <a:p>
            <a:r>
              <a:rPr lang="en-US" dirty="0"/>
              <a:t>print("Sorted list:")</a:t>
            </a:r>
          </a:p>
          <a:p>
            <a:r>
              <a:rPr lang="en-US" dirty="0"/>
              <a:t>for num in numbers:</a:t>
            </a:r>
          </a:p>
          <a:p>
            <a:r>
              <a:rPr lang="en-US" dirty="0"/>
              <a:t>    print(num, end=" ")</a:t>
            </a:r>
          </a:p>
          <a:p>
            <a:endParaRPr lang="en-US" dirty="0"/>
          </a:p>
        </p:txBody>
      </p:sp>
    </p:spTree>
    <p:extLst>
      <p:ext uri="{BB962C8B-B14F-4D97-AF65-F5344CB8AC3E}">
        <p14:creationId xmlns:p14="http://schemas.microsoft.com/office/powerpoint/2010/main" val="31310185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C9C966-9B9A-A1F6-F5FA-4EEFB1D774EB}"/>
              </a:ext>
            </a:extLst>
          </p:cNvPr>
          <p:cNvSpPr>
            <a:spLocks noGrp="1"/>
          </p:cNvSpPr>
          <p:nvPr>
            <p:ph type="title"/>
          </p:nvPr>
        </p:nvSpPr>
        <p:spPr>
          <a:xfrm>
            <a:off x="838200" y="365126"/>
            <a:ext cx="10515600" cy="532342"/>
          </a:xfrm>
        </p:spPr>
        <p:txBody>
          <a:bodyPr>
            <a:normAutofit fontScale="90000"/>
          </a:bodyPr>
          <a:lstStyle/>
          <a:p>
            <a:r>
              <a:rPr lang="en-US" u="sng" dirty="0"/>
              <a:t>Bubble Sort </a:t>
            </a:r>
            <a:endParaRPr lang="en-US" dirty="0"/>
          </a:p>
        </p:txBody>
      </p:sp>
      <p:pic>
        <p:nvPicPr>
          <p:cNvPr id="5" name="Content Placeholder 4" descr="A piece of paper with writing on it&#10;&#10;Description automatically generated">
            <a:extLst>
              <a:ext uri="{FF2B5EF4-FFF2-40B4-BE49-F238E27FC236}">
                <a16:creationId xmlns:a16="http://schemas.microsoft.com/office/drawing/2014/main" id="{F209A645-841F-280B-30E4-499473073BB0}"/>
              </a:ext>
            </a:extLst>
          </p:cNvPr>
          <p:cNvPicPr>
            <a:picLocks noGrp="1" noChangeAspect="1"/>
          </p:cNvPicPr>
          <p:nvPr>
            <p:ph idx="1"/>
          </p:nvPr>
        </p:nvPicPr>
        <p:blipFill>
          <a:blip r:embed="rId2"/>
          <a:stretch>
            <a:fillRect/>
          </a:stretch>
        </p:blipFill>
        <p:spPr>
          <a:xfrm>
            <a:off x="1659467" y="1049867"/>
            <a:ext cx="8128000" cy="5659430"/>
          </a:xfrm>
        </p:spPr>
      </p:pic>
    </p:spTree>
    <p:extLst>
      <p:ext uri="{BB962C8B-B14F-4D97-AF65-F5344CB8AC3E}">
        <p14:creationId xmlns:p14="http://schemas.microsoft.com/office/powerpoint/2010/main" val="25253120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Slide Background">
            <a:extLst>
              <a:ext uri="{FF2B5EF4-FFF2-40B4-BE49-F238E27FC236}">
                <a16:creationId xmlns:a16="http://schemas.microsoft.com/office/drawing/2014/main" id="{C0763A76-9F1C-4FC5-82B7-DD475DA461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4" name="Rectangle 13">
            <a:extLst>
              <a:ext uri="{FF2B5EF4-FFF2-40B4-BE49-F238E27FC236}">
                <a16:creationId xmlns:a16="http://schemas.microsoft.com/office/drawing/2014/main" id="{E81BF4F6-F2CF-4984-9D14-D6966D92F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8522446" cy="2285999"/>
          </a:xfrm>
          <a:prstGeom prst="rect">
            <a:avLst/>
          </a:prstGeom>
          <a:ln>
            <a:noFill/>
          </a:ln>
          <a:effectLst>
            <a:outerShdw blurRad="596900" dist="304800" dir="7140000" sx="90000" sy="90000" algn="t" rotWithShape="0">
              <a:srgbClr val="000000">
                <a:alpha val="15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B5ACB4-F0B8-9BD0-E830-02D22F1FD32B}"/>
              </a:ext>
            </a:extLst>
          </p:cNvPr>
          <p:cNvSpPr>
            <a:spLocks noGrp="1"/>
          </p:cNvSpPr>
          <p:nvPr>
            <p:ph type="title"/>
          </p:nvPr>
        </p:nvSpPr>
        <p:spPr>
          <a:xfrm>
            <a:off x="761803" y="350196"/>
            <a:ext cx="4646904" cy="1624520"/>
          </a:xfrm>
        </p:spPr>
        <p:txBody>
          <a:bodyPr anchor="ctr">
            <a:normAutofit/>
          </a:bodyPr>
          <a:lstStyle/>
          <a:p>
            <a:r>
              <a:rPr lang="en-US" sz="4000" u="sng" dirty="0"/>
              <a:t>Prime number</a:t>
            </a:r>
          </a:p>
        </p:txBody>
      </p:sp>
      <p:sp>
        <p:nvSpPr>
          <p:cNvPr id="3" name="Content Placeholder 2">
            <a:extLst>
              <a:ext uri="{FF2B5EF4-FFF2-40B4-BE49-F238E27FC236}">
                <a16:creationId xmlns:a16="http://schemas.microsoft.com/office/drawing/2014/main" id="{FFBFC12D-F745-784D-FBBC-294AA06799EC}"/>
              </a:ext>
            </a:extLst>
          </p:cNvPr>
          <p:cNvSpPr>
            <a:spLocks noGrp="1"/>
          </p:cNvSpPr>
          <p:nvPr>
            <p:ph idx="1"/>
          </p:nvPr>
        </p:nvSpPr>
        <p:spPr>
          <a:xfrm>
            <a:off x="761802" y="2743200"/>
            <a:ext cx="4646905" cy="3613149"/>
          </a:xfrm>
        </p:spPr>
        <p:txBody>
          <a:bodyPr anchor="ctr">
            <a:normAutofit/>
          </a:bodyPr>
          <a:lstStyle/>
          <a:p>
            <a:r>
              <a:rPr lang="en-IN" sz="2400" b="0" i="0" dirty="0">
                <a:effectLst/>
              </a:rPr>
              <a:t>A positive integer greater than 1 which has no other factors except 1 and the number itself is called a prime number. 2, 3, 5, 7 etc. are prime numbers as they do not have any other factors. </a:t>
            </a:r>
          </a:p>
          <a:p>
            <a:endParaRPr lang="en-US" sz="2400" dirty="0"/>
          </a:p>
        </p:txBody>
      </p:sp>
      <p:pic>
        <p:nvPicPr>
          <p:cNvPr id="7" name="Picture 6" descr="A screenshot of a computer program&#10;&#10;Description automatically generated">
            <a:extLst>
              <a:ext uri="{FF2B5EF4-FFF2-40B4-BE49-F238E27FC236}">
                <a16:creationId xmlns:a16="http://schemas.microsoft.com/office/drawing/2014/main" id="{11361FEB-4417-02B4-D40D-2FA18FBAC1F0}"/>
              </a:ext>
            </a:extLst>
          </p:cNvPr>
          <p:cNvPicPr>
            <a:picLocks noChangeAspect="1"/>
          </p:cNvPicPr>
          <p:nvPr/>
        </p:nvPicPr>
        <p:blipFill rotWithShape="1">
          <a:blip r:embed="rId2"/>
          <a:srcRect r="40823"/>
          <a:stretch/>
        </p:blipFill>
        <p:spPr>
          <a:xfrm>
            <a:off x="6096000" y="29981"/>
            <a:ext cx="6102825" cy="6858000"/>
          </a:xfrm>
          <a:prstGeom prst="rect">
            <a:avLst/>
          </a:prstGeom>
        </p:spPr>
      </p:pic>
    </p:spTree>
    <p:extLst>
      <p:ext uri="{BB962C8B-B14F-4D97-AF65-F5344CB8AC3E}">
        <p14:creationId xmlns:p14="http://schemas.microsoft.com/office/powerpoint/2010/main" val="208344687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3A70CE-A311-36B0-D3A3-BEF4895CC650}"/>
              </a:ext>
            </a:extLst>
          </p:cNvPr>
          <p:cNvSpPr>
            <a:spLocks noGrp="1"/>
          </p:cNvSpPr>
          <p:nvPr>
            <p:ph type="title"/>
          </p:nvPr>
        </p:nvSpPr>
        <p:spPr/>
        <p:txBody>
          <a:bodyPr>
            <a:normAutofit fontScale="90000"/>
          </a:bodyPr>
          <a:lstStyle/>
          <a:p>
            <a:r>
              <a:rPr lang="en-US" u="sng" dirty="0"/>
              <a:t>Prime number by giving a number as input</a:t>
            </a:r>
            <a:br>
              <a:rPr lang="en-US" u="sng" dirty="0"/>
            </a:br>
            <a:r>
              <a:rPr lang="en-US" u="sng" dirty="0"/>
              <a:t>n+1 if u give 5 as input and  suppose if u give n as range it </a:t>
            </a:r>
            <a:r>
              <a:rPr lang="en-US" u="sng" dirty="0" err="1"/>
              <a:t>itterates</a:t>
            </a:r>
            <a:r>
              <a:rPr lang="en-US" u="sng" dirty="0"/>
              <a:t> till 4 only.</a:t>
            </a:r>
          </a:p>
        </p:txBody>
      </p:sp>
      <p:pic>
        <p:nvPicPr>
          <p:cNvPr id="5" name="Content Placeholder 4" descr="A person writing on a white board&#10;&#10;Description automatically generated">
            <a:extLst>
              <a:ext uri="{FF2B5EF4-FFF2-40B4-BE49-F238E27FC236}">
                <a16:creationId xmlns:a16="http://schemas.microsoft.com/office/drawing/2014/main" id="{1AEBB304-04D7-D339-632C-16ACF1F6C95D}"/>
              </a:ext>
            </a:extLst>
          </p:cNvPr>
          <p:cNvPicPr>
            <a:picLocks noGrp="1" noChangeAspect="1"/>
          </p:cNvPicPr>
          <p:nvPr>
            <p:ph idx="1"/>
          </p:nvPr>
        </p:nvPicPr>
        <p:blipFill>
          <a:blip r:embed="rId2"/>
          <a:stretch>
            <a:fillRect/>
          </a:stretch>
        </p:blipFill>
        <p:spPr>
          <a:xfrm>
            <a:off x="3848354" y="2053651"/>
            <a:ext cx="4495292" cy="4123311"/>
          </a:xfrm>
        </p:spPr>
      </p:pic>
    </p:spTree>
    <p:extLst>
      <p:ext uri="{BB962C8B-B14F-4D97-AF65-F5344CB8AC3E}">
        <p14:creationId xmlns:p14="http://schemas.microsoft.com/office/powerpoint/2010/main" val="274035460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4FEE2D-E30A-9AC1-0977-AD336FC91CF8}"/>
              </a:ext>
            </a:extLst>
          </p:cNvPr>
          <p:cNvSpPr>
            <a:spLocks noGrp="1"/>
          </p:cNvSpPr>
          <p:nvPr>
            <p:ph type="title"/>
          </p:nvPr>
        </p:nvSpPr>
        <p:spPr/>
        <p:txBody>
          <a:bodyPr/>
          <a:lstStyle/>
          <a:p>
            <a:r>
              <a:rPr lang="en-US" u="sng" dirty="0"/>
              <a:t>Prime numbers within a range</a:t>
            </a:r>
          </a:p>
        </p:txBody>
      </p:sp>
      <p:sp>
        <p:nvSpPr>
          <p:cNvPr id="7" name="Content Placeholder 6">
            <a:extLst>
              <a:ext uri="{FF2B5EF4-FFF2-40B4-BE49-F238E27FC236}">
                <a16:creationId xmlns:a16="http://schemas.microsoft.com/office/drawing/2014/main" id="{618BB0D3-268F-103C-1DF2-4DBB85F2AAF7}"/>
              </a:ext>
            </a:extLst>
          </p:cNvPr>
          <p:cNvSpPr>
            <a:spLocks noGrp="1"/>
          </p:cNvSpPr>
          <p:nvPr>
            <p:ph idx="1"/>
          </p:nvPr>
        </p:nvSpPr>
        <p:spPr>
          <a:xfrm>
            <a:off x="838200" y="1690688"/>
            <a:ext cx="10515600" cy="4486275"/>
          </a:xfrm>
        </p:spPr>
        <p:txBody>
          <a:bodyPr>
            <a:normAutofit fontScale="77500" lnSpcReduction="20000"/>
          </a:bodyPr>
          <a:lstStyle/>
          <a:p>
            <a:r>
              <a:rPr lang="en-IN" dirty="0">
                <a:latin typeface="Calibri" panose="020F0502020204030204" pitchFamily="34" charset="0"/>
                <a:cs typeface="Calibri" panose="020F0502020204030204" pitchFamily="34" charset="0"/>
              </a:rPr>
              <a:t>else</a:t>
            </a:r>
            <a:r>
              <a:rPr lang="en-IN" b="0" i="0" dirty="0">
                <a:effectLst/>
                <a:latin typeface="Calibri" panose="020F0502020204030204" pitchFamily="34" charset="0"/>
                <a:cs typeface="Calibri" panose="020F0502020204030204" pitchFamily="34" charset="0"/>
              </a:rPr>
              <a:t> block that executes when the loop completes its iterations without encountering a </a:t>
            </a:r>
            <a:r>
              <a:rPr lang="en-IN" dirty="0">
                <a:latin typeface="Calibri" panose="020F0502020204030204" pitchFamily="34" charset="0"/>
                <a:cs typeface="Calibri" panose="020F0502020204030204" pitchFamily="34" charset="0"/>
              </a:rPr>
              <a:t>break</a:t>
            </a:r>
            <a:r>
              <a:rPr lang="en-IN" b="0" i="0" dirty="0">
                <a:effectLst/>
                <a:latin typeface="Calibri" panose="020F0502020204030204" pitchFamily="34" charset="0"/>
                <a:cs typeface="Calibri" panose="020F0502020204030204" pitchFamily="34" charset="0"/>
              </a:rPr>
              <a:t> statement.</a:t>
            </a:r>
          </a:p>
          <a:p>
            <a:r>
              <a:rPr lang="en-IN" b="0" i="0" u="sng" dirty="0">
                <a:effectLst/>
                <a:latin typeface="Calibri" panose="020F0502020204030204" pitchFamily="34" charset="0"/>
                <a:cs typeface="Calibri" panose="020F0502020204030204" pitchFamily="34" charset="0"/>
              </a:rPr>
              <a:t>for </a:t>
            </a:r>
            <a:r>
              <a:rPr lang="en-IN" b="0" i="0" u="sng" dirty="0" err="1">
                <a:effectLst/>
                <a:latin typeface="Calibri" panose="020F0502020204030204" pitchFamily="34" charset="0"/>
                <a:cs typeface="Calibri" panose="020F0502020204030204" pitchFamily="34" charset="0"/>
              </a:rPr>
              <a:t>i</a:t>
            </a:r>
            <a:r>
              <a:rPr lang="en-IN" b="0" i="0" u="sng" dirty="0">
                <a:effectLst/>
                <a:latin typeface="Calibri" panose="020F0502020204030204" pitchFamily="34" charset="0"/>
                <a:cs typeface="Calibri" panose="020F0502020204030204" pitchFamily="34" charset="0"/>
              </a:rPr>
              <a:t> in range(2, 2): ?</a:t>
            </a:r>
          </a:p>
          <a:p>
            <a:r>
              <a:rPr lang="en-IN" dirty="0">
                <a:latin typeface="Calibri" panose="020F0502020204030204" pitchFamily="34" charset="0"/>
                <a:cs typeface="Calibri" panose="020F0502020204030204" pitchFamily="34" charset="0"/>
              </a:rPr>
              <a:t>for </a:t>
            </a:r>
            <a:r>
              <a:rPr lang="en-IN" dirty="0" err="1">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 in range(2, 2):</a:t>
            </a:r>
            <a:r>
              <a:rPr lang="en-IN" b="0" i="0" dirty="0">
                <a:effectLst/>
                <a:latin typeface="Calibri" panose="020F0502020204030204" pitchFamily="34" charset="0"/>
                <a:cs typeface="Calibri" panose="020F0502020204030204" pitchFamily="34" charset="0"/>
              </a:rPr>
              <a:t> won't execute the loop because there are no elements within the range. There are no values between 2 and 2 (exclusive) to iterate over. Hence, it won't print anything or execute any code within the loop.</a:t>
            </a:r>
            <a:endParaRPr lang="en-IN" u="sng" dirty="0">
              <a:latin typeface="Calibri" panose="020F0502020204030204" pitchFamily="34" charset="0"/>
              <a:cs typeface="Calibri" panose="020F0502020204030204" pitchFamily="34" charset="0"/>
            </a:endParaRPr>
          </a:p>
          <a:p>
            <a:r>
              <a:rPr lang="en-IN" b="0" i="0" dirty="0">
                <a:effectLst/>
                <a:latin typeface="Calibri" panose="020F0502020204030204" pitchFamily="34" charset="0"/>
                <a:cs typeface="Calibri" panose="020F0502020204030204" pitchFamily="34" charset="0"/>
              </a:rPr>
              <a:t>If you try </a:t>
            </a:r>
            <a:r>
              <a:rPr lang="en-IN" dirty="0">
                <a:latin typeface="Calibri" panose="020F0502020204030204" pitchFamily="34" charset="0"/>
                <a:cs typeface="Calibri" panose="020F0502020204030204" pitchFamily="34" charset="0"/>
              </a:rPr>
              <a:t>for </a:t>
            </a:r>
            <a:r>
              <a:rPr lang="en-IN" dirty="0" err="1">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 in range(2, 1):</a:t>
            </a:r>
            <a:r>
              <a:rPr lang="en-IN" b="0" i="0" dirty="0">
                <a:effectLst/>
                <a:latin typeface="Calibri" panose="020F0502020204030204" pitchFamily="34" charset="0"/>
                <a:cs typeface="Calibri" panose="020F0502020204030204" pitchFamily="34" charset="0"/>
              </a:rPr>
              <a:t>, it won't print anything because the range is empty. The </a:t>
            </a:r>
            <a:r>
              <a:rPr lang="en-IN" dirty="0">
                <a:latin typeface="Calibri" panose="020F0502020204030204" pitchFamily="34" charset="0"/>
                <a:cs typeface="Calibri" panose="020F0502020204030204" pitchFamily="34" charset="0"/>
              </a:rPr>
              <a:t>range(2, 1)</a:t>
            </a:r>
            <a:r>
              <a:rPr lang="en-IN" b="0" i="0" dirty="0">
                <a:effectLst/>
                <a:latin typeface="Calibri" panose="020F0502020204030204" pitchFamily="34" charset="0"/>
                <a:cs typeface="Calibri" panose="020F0502020204030204" pitchFamily="34" charset="0"/>
              </a:rPr>
              <a:t> specifies a range that starts at 2 but ends before reaching 1. Since the starting value (2) is greater than or equal to the ending value (1), it doesn't generate any values within the range. Empty range</a:t>
            </a:r>
          </a:p>
          <a:p>
            <a:r>
              <a:rPr lang="en-IN" dirty="0">
                <a:latin typeface="Calibri" panose="020F0502020204030204" pitchFamily="34" charset="0"/>
                <a:cs typeface="Calibri" panose="020F0502020204030204" pitchFamily="34" charset="0"/>
              </a:rPr>
              <a:t>There is line called for </a:t>
            </a:r>
            <a:r>
              <a:rPr lang="en-IN" dirty="0" err="1">
                <a:latin typeface="Calibri" panose="020F0502020204030204" pitchFamily="34" charset="0"/>
                <a:cs typeface="Calibri" panose="020F0502020204030204" pitchFamily="34" charset="0"/>
              </a:rPr>
              <a:t>i</a:t>
            </a:r>
            <a:r>
              <a:rPr lang="en-IN" dirty="0">
                <a:latin typeface="Calibri" panose="020F0502020204030204" pitchFamily="34" charset="0"/>
                <a:cs typeface="Calibri" panose="020F0502020204030204" pitchFamily="34" charset="0"/>
              </a:rPr>
              <a:t> in rage(2,num) here lets take 2,5 in this case loop will iterate till to 4 only lets take 5 as input 2,5 but it iterate over to 4 if condition checks &gt;1 and it checks 3,4 in between these are not factors so its prime number we are not checking the number we give as prime number says its divisible by and itself if it found any other factors in between them break it out and say its not prime number.</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4215365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B8C311F-7253-4AED-9701-7FC0708C41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384209-CB15-4CDF-9D31-C44FD9A3F2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2666617" y="-2666188"/>
            <a:ext cx="6858000" cy="12191233"/>
          </a:xfrm>
          <a:prstGeom prst="rect">
            <a:avLst/>
          </a:prstGeom>
          <a:gradFill>
            <a:gsLst>
              <a:gs pos="8000">
                <a:schemeClr val="accent1"/>
              </a:gs>
              <a:gs pos="100000">
                <a:schemeClr val="accent1">
                  <a:lumMod val="5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633B3B5-CC90-43F0-8714-D31D1F3F02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311" y="0"/>
            <a:ext cx="9070846" cy="6857572"/>
          </a:xfrm>
          <a:prstGeom prst="rect">
            <a:avLst/>
          </a:prstGeom>
          <a:gradFill>
            <a:gsLst>
              <a:gs pos="8000">
                <a:srgbClr val="000000">
                  <a:alpha val="52000"/>
                </a:srgbClr>
              </a:gs>
              <a:gs pos="100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8D57A06-A426-446D-B02C-A2DC6B62E45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3649491" y="-1685840"/>
            <a:ext cx="4894564" cy="12193546"/>
          </a:xfrm>
          <a:prstGeom prst="rect">
            <a:avLst/>
          </a:prstGeom>
          <a:gradFill>
            <a:gsLst>
              <a:gs pos="0">
                <a:schemeClr val="accent5">
                  <a:lumMod val="60000"/>
                  <a:lumOff val="40000"/>
                  <a:alpha val="0"/>
                </a:schemeClr>
              </a:gs>
              <a:gs pos="100000">
                <a:srgbClr val="000000">
                  <a:alpha val="46000"/>
                </a:srgbClr>
              </a:gs>
            </a:gsLst>
            <a:lin ang="1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screenshot of a computer program&#10;&#10;Description automatically generated">
            <a:extLst>
              <a:ext uri="{FF2B5EF4-FFF2-40B4-BE49-F238E27FC236}">
                <a16:creationId xmlns:a16="http://schemas.microsoft.com/office/drawing/2014/main" id="{CC331347-3742-5853-CFC7-712210EA14A3}"/>
              </a:ext>
            </a:extLst>
          </p:cNvPr>
          <p:cNvPicPr>
            <a:picLocks noGrp="1" noChangeAspect="1"/>
          </p:cNvPicPr>
          <p:nvPr>
            <p:ph idx="1"/>
          </p:nvPr>
        </p:nvPicPr>
        <p:blipFill>
          <a:blip r:embed="rId2"/>
          <a:stretch>
            <a:fillRect/>
          </a:stretch>
        </p:blipFill>
        <p:spPr>
          <a:xfrm>
            <a:off x="1142998" y="457200"/>
            <a:ext cx="9906003" cy="5943600"/>
          </a:xfrm>
          <a:prstGeom prst="rect">
            <a:avLst/>
          </a:prstGeom>
        </p:spPr>
      </p:pic>
    </p:spTree>
    <p:extLst>
      <p:ext uri="{BB962C8B-B14F-4D97-AF65-F5344CB8AC3E}">
        <p14:creationId xmlns:p14="http://schemas.microsoft.com/office/powerpoint/2010/main" val="246175799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a:extLst>
              <a:ext uri="{FF2B5EF4-FFF2-40B4-BE49-F238E27FC236}">
                <a16:creationId xmlns:a16="http://schemas.microsoft.com/office/drawing/2014/main" id="{FE1EC756-41E9-4FD6-AD48-EF46A28137B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1"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5" name="Rectangle 11">
            <a:extLst>
              <a:ext uri="{FF2B5EF4-FFF2-40B4-BE49-F238E27FC236}">
                <a16:creationId xmlns:a16="http://schemas.microsoft.com/office/drawing/2014/main" id="{E66F6371-9EA5-9354-29DC-1D07B921F7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4290"/>
            <a:ext cx="12192000" cy="1733407"/>
          </a:xfrm>
          <a:prstGeom prst="rect">
            <a:avLst/>
          </a:prstGeom>
          <a:ln>
            <a:noFill/>
          </a:ln>
          <a:effectLst>
            <a:outerShdw blurRad="254000" dist="38100" dir="5460000" sx="94000" sy="94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F93086-E374-1F99-F5BE-FC3AA0912B71}"/>
              </a:ext>
            </a:extLst>
          </p:cNvPr>
          <p:cNvSpPr>
            <a:spLocks noGrp="1"/>
          </p:cNvSpPr>
          <p:nvPr>
            <p:ph type="title"/>
          </p:nvPr>
        </p:nvSpPr>
        <p:spPr>
          <a:xfrm>
            <a:off x="761995" y="307447"/>
            <a:ext cx="10693884" cy="1109932"/>
          </a:xfrm>
        </p:spPr>
        <p:txBody>
          <a:bodyPr>
            <a:normAutofit/>
          </a:bodyPr>
          <a:lstStyle/>
          <a:p>
            <a:r>
              <a:rPr lang="en-US" sz="4000" u="sng" dirty="0"/>
              <a:t>Anagram</a:t>
            </a:r>
          </a:p>
        </p:txBody>
      </p:sp>
      <p:pic>
        <p:nvPicPr>
          <p:cNvPr id="5" name="Picture 4" descr="A screenshot of a computer program&#10;&#10;Description automatically generated">
            <a:extLst>
              <a:ext uri="{FF2B5EF4-FFF2-40B4-BE49-F238E27FC236}">
                <a16:creationId xmlns:a16="http://schemas.microsoft.com/office/drawing/2014/main" id="{4EDFABC7-05BC-9978-66ED-485708522218}"/>
              </a:ext>
            </a:extLst>
          </p:cNvPr>
          <p:cNvPicPr>
            <a:picLocks noChangeAspect="1"/>
          </p:cNvPicPr>
          <p:nvPr/>
        </p:nvPicPr>
        <p:blipFill>
          <a:blip r:embed="rId2"/>
          <a:stretch>
            <a:fillRect/>
          </a:stretch>
        </p:blipFill>
        <p:spPr>
          <a:xfrm>
            <a:off x="110099" y="1733407"/>
            <a:ext cx="7161969" cy="4527116"/>
          </a:xfrm>
          <a:prstGeom prst="rect">
            <a:avLst/>
          </a:prstGeom>
        </p:spPr>
      </p:pic>
      <p:sp>
        <p:nvSpPr>
          <p:cNvPr id="3" name="Content Placeholder 2">
            <a:extLst>
              <a:ext uri="{FF2B5EF4-FFF2-40B4-BE49-F238E27FC236}">
                <a16:creationId xmlns:a16="http://schemas.microsoft.com/office/drawing/2014/main" id="{B3F0100A-8E73-3BF7-A75F-801331885AA0}"/>
              </a:ext>
            </a:extLst>
          </p:cNvPr>
          <p:cNvSpPr>
            <a:spLocks noGrp="1"/>
          </p:cNvSpPr>
          <p:nvPr>
            <p:ph idx="1"/>
          </p:nvPr>
        </p:nvSpPr>
        <p:spPr>
          <a:xfrm>
            <a:off x="7315199" y="2357888"/>
            <a:ext cx="4140679" cy="3902635"/>
          </a:xfrm>
        </p:spPr>
        <p:txBody>
          <a:bodyPr anchor="ctr">
            <a:normAutofit fontScale="92500" lnSpcReduction="20000"/>
          </a:bodyPr>
          <a:lstStyle/>
          <a:p>
            <a:r>
              <a:rPr lang="en-IN" b="0" i="0" dirty="0">
                <a:effectLst/>
              </a:rPr>
              <a:t>An anagram of a string is another string that contains same characters, only the order of  on both </a:t>
            </a:r>
            <a:r>
              <a:rPr lang="en-IN" b="0" i="0" dirty="0" err="1">
                <a:effectLst/>
              </a:rPr>
              <a:t>strings,characters</a:t>
            </a:r>
            <a:r>
              <a:rPr lang="en-IN" b="0" i="0" dirty="0">
                <a:effectLst/>
              </a:rPr>
              <a:t> can be different. For example, “</a:t>
            </a:r>
            <a:r>
              <a:rPr lang="en-IN" b="0" i="0" dirty="0" err="1">
                <a:effectLst/>
              </a:rPr>
              <a:t>abcd</a:t>
            </a:r>
            <a:r>
              <a:rPr lang="en-IN" b="0" i="0" dirty="0">
                <a:effectLst/>
              </a:rPr>
              <a:t>” and “</a:t>
            </a:r>
            <a:r>
              <a:rPr lang="en-IN" b="0" i="0" dirty="0" err="1">
                <a:effectLst/>
              </a:rPr>
              <a:t>dabc</a:t>
            </a:r>
            <a:r>
              <a:rPr lang="en-IN" b="0" i="0" dirty="0">
                <a:effectLst/>
              </a:rPr>
              <a:t>” are anagram of each other. Examples: Input : str1 = “</a:t>
            </a:r>
            <a:r>
              <a:rPr lang="en-IN" b="0" i="0" dirty="0" err="1">
                <a:effectLst/>
              </a:rPr>
              <a:t>abcd</a:t>
            </a:r>
            <a:r>
              <a:rPr lang="en-IN" b="0" i="0" dirty="0">
                <a:effectLst/>
              </a:rPr>
              <a:t>”, str2 = “</a:t>
            </a:r>
            <a:r>
              <a:rPr lang="en-IN" b="0" i="0" dirty="0" err="1">
                <a:effectLst/>
              </a:rPr>
              <a:t>dabc</a:t>
            </a:r>
            <a:r>
              <a:rPr lang="en-IN" b="0" i="0" dirty="0">
                <a:effectLst/>
              </a:rPr>
              <a:t>” Output : True Input : str1 = “</a:t>
            </a:r>
            <a:r>
              <a:rPr lang="en-IN" b="0" i="0" dirty="0" err="1">
                <a:effectLst/>
              </a:rPr>
              <a:t>abcf</a:t>
            </a:r>
            <a:r>
              <a:rPr lang="en-IN" b="0" i="0" dirty="0">
                <a:effectLst/>
              </a:rPr>
              <a:t>”, str2 = “</a:t>
            </a:r>
            <a:r>
              <a:rPr lang="en-IN" b="0" i="0" dirty="0" err="1">
                <a:effectLst/>
              </a:rPr>
              <a:t>kabc</a:t>
            </a:r>
            <a:r>
              <a:rPr lang="en-IN" b="0" i="0" dirty="0">
                <a:effectLst/>
              </a:rPr>
              <a:t>” Output : False.</a:t>
            </a:r>
            <a:endParaRPr lang="en-US" dirty="0"/>
          </a:p>
        </p:txBody>
      </p:sp>
    </p:spTree>
    <p:extLst>
      <p:ext uri="{BB962C8B-B14F-4D97-AF65-F5344CB8AC3E}">
        <p14:creationId xmlns:p14="http://schemas.microsoft.com/office/powerpoint/2010/main" val="26846624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AEAF6D-09F7-A78C-C515-D1A3D4058831}"/>
              </a:ext>
            </a:extLst>
          </p:cNvPr>
          <p:cNvSpPr>
            <a:spLocks noGrp="1"/>
          </p:cNvSpPr>
          <p:nvPr>
            <p:ph type="title"/>
          </p:nvPr>
        </p:nvSpPr>
        <p:spPr/>
        <p:txBody>
          <a:bodyPr/>
          <a:lstStyle/>
          <a:p>
            <a:r>
              <a:rPr lang="en-US" u="sng" dirty="0"/>
              <a:t>Symmetric Difference</a:t>
            </a:r>
          </a:p>
        </p:txBody>
      </p:sp>
      <p:sp>
        <p:nvSpPr>
          <p:cNvPr id="3" name="Content Placeholder 2">
            <a:extLst>
              <a:ext uri="{FF2B5EF4-FFF2-40B4-BE49-F238E27FC236}">
                <a16:creationId xmlns:a16="http://schemas.microsoft.com/office/drawing/2014/main" id="{B0ACF1BC-2947-2C56-C3D7-1A8F93D469AF}"/>
              </a:ext>
            </a:extLst>
          </p:cNvPr>
          <p:cNvSpPr>
            <a:spLocks noGrp="1"/>
          </p:cNvSpPr>
          <p:nvPr>
            <p:ph idx="1"/>
          </p:nvPr>
        </p:nvSpPr>
        <p:spPr/>
        <p:txBody>
          <a:bodyPr/>
          <a:lstStyle/>
          <a:p>
            <a:r>
              <a:rPr lang="en-IN" b="0" i="0" dirty="0">
                <a:solidFill>
                  <a:srgbClr val="000000"/>
                </a:solidFill>
                <a:effectLst/>
                <a:latin typeface="Verdana" panose="020B0604030504040204" pitchFamily="34" charset="0"/>
              </a:rPr>
              <a:t>Return a set that contains all items from both sets, except items that are present in both sets:</a:t>
            </a:r>
          </a:p>
          <a:p>
            <a:endParaRPr lang="en-US" dirty="0"/>
          </a:p>
        </p:txBody>
      </p:sp>
      <p:pic>
        <p:nvPicPr>
          <p:cNvPr id="5" name="Picture 4" descr="A black and white square with white text&#10;&#10;Description automatically generated">
            <a:extLst>
              <a:ext uri="{FF2B5EF4-FFF2-40B4-BE49-F238E27FC236}">
                <a16:creationId xmlns:a16="http://schemas.microsoft.com/office/drawing/2014/main" id="{E02291E0-B3AC-C34F-C895-08E9809138A9}"/>
              </a:ext>
            </a:extLst>
          </p:cNvPr>
          <p:cNvPicPr>
            <a:picLocks noChangeAspect="1"/>
          </p:cNvPicPr>
          <p:nvPr/>
        </p:nvPicPr>
        <p:blipFill>
          <a:blip r:embed="rId2"/>
          <a:stretch>
            <a:fillRect/>
          </a:stretch>
        </p:blipFill>
        <p:spPr>
          <a:xfrm>
            <a:off x="999761" y="3076115"/>
            <a:ext cx="9138950" cy="2604602"/>
          </a:xfrm>
          <a:prstGeom prst="rect">
            <a:avLst/>
          </a:prstGeom>
        </p:spPr>
      </p:pic>
    </p:spTree>
    <p:extLst>
      <p:ext uri="{BB962C8B-B14F-4D97-AF65-F5344CB8AC3E}">
        <p14:creationId xmlns:p14="http://schemas.microsoft.com/office/powerpoint/2010/main" val="199385772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4CDBC-74B9-8C3A-7F11-73B0A4D72094}"/>
              </a:ext>
            </a:extLst>
          </p:cNvPr>
          <p:cNvSpPr>
            <a:spLocks noGrp="1"/>
          </p:cNvSpPr>
          <p:nvPr>
            <p:ph type="title"/>
          </p:nvPr>
        </p:nvSpPr>
        <p:spPr/>
        <p:txBody>
          <a:bodyPr/>
          <a:lstStyle/>
          <a:p>
            <a:r>
              <a:rPr lang="en-US" u="sng" dirty="0"/>
              <a:t>Find missing number in list</a:t>
            </a:r>
          </a:p>
        </p:txBody>
      </p:sp>
      <p:pic>
        <p:nvPicPr>
          <p:cNvPr id="5" name="Content Placeholder 4" descr="A screenshot of a computer program&#10;&#10;Description automatically generated">
            <a:extLst>
              <a:ext uri="{FF2B5EF4-FFF2-40B4-BE49-F238E27FC236}">
                <a16:creationId xmlns:a16="http://schemas.microsoft.com/office/drawing/2014/main" id="{A440FA0A-A433-34A0-D32E-A1338045390B}"/>
              </a:ext>
            </a:extLst>
          </p:cNvPr>
          <p:cNvPicPr>
            <a:picLocks noGrp="1" noChangeAspect="1"/>
          </p:cNvPicPr>
          <p:nvPr>
            <p:ph idx="1"/>
          </p:nvPr>
        </p:nvPicPr>
        <p:blipFill>
          <a:blip r:embed="rId2"/>
          <a:stretch>
            <a:fillRect/>
          </a:stretch>
        </p:blipFill>
        <p:spPr>
          <a:xfrm>
            <a:off x="1931593" y="1825625"/>
            <a:ext cx="8328814" cy="4351338"/>
          </a:xfrm>
        </p:spPr>
      </p:pic>
    </p:spTree>
    <p:extLst>
      <p:ext uri="{BB962C8B-B14F-4D97-AF65-F5344CB8AC3E}">
        <p14:creationId xmlns:p14="http://schemas.microsoft.com/office/powerpoint/2010/main" val="186273152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Rectangle 13">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8D348444-B28E-A100-9D84-06D762FE5D54}"/>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u="sng" kern="1200" dirty="0">
                <a:solidFill>
                  <a:srgbClr val="FFFFFF"/>
                </a:solidFill>
                <a:latin typeface="+mj-lt"/>
                <a:ea typeface="+mj-ea"/>
                <a:cs typeface="+mj-cs"/>
              </a:rPr>
              <a:t>Find missing number in list</a:t>
            </a:r>
            <a:endParaRPr lang="en-US" sz="4000" kern="1200" dirty="0">
              <a:solidFill>
                <a:srgbClr val="FFFFFF"/>
              </a:solidFill>
              <a:latin typeface="+mj-lt"/>
              <a:ea typeface="+mj-ea"/>
              <a:cs typeface="+mj-cs"/>
            </a:endParaRPr>
          </a:p>
        </p:txBody>
      </p:sp>
      <p:pic>
        <p:nvPicPr>
          <p:cNvPr id="9" name="Content Placeholder 8" descr="A computer screen with numbers and text&#10;&#10;Description automatically generated">
            <a:extLst>
              <a:ext uri="{FF2B5EF4-FFF2-40B4-BE49-F238E27FC236}">
                <a16:creationId xmlns:a16="http://schemas.microsoft.com/office/drawing/2014/main" id="{A1E4D962-2497-D0B1-9261-4BE9ED1BD95E}"/>
              </a:ext>
            </a:extLst>
          </p:cNvPr>
          <p:cNvPicPr>
            <a:picLocks noGrp="1" noChangeAspect="1"/>
          </p:cNvPicPr>
          <p:nvPr>
            <p:ph idx="1"/>
          </p:nvPr>
        </p:nvPicPr>
        <p:blipFill>
          <a:blip r:embed="rId2"/>
          <a:stretch>
            <a:fillRect/>
          </a:stretch>
        </p:blipFill>
        <p:spPr>
          <a:xfrm>
            <a:off x="4502428" y="1938690"/>
            <a:ext cx="7225748" cy="2980620"/>
          </a:xfrm>
          <a:prstGeom prst="rect">
            <a:avLst/>
          </a:prstGeom>
        </p:spPr>
      </p:pic>
    </p:spTree>
    <p:extLst>
      <p:ext uri="{BB962C8B-B14F-4D97-AF65-F5344CB8AC3E}">
        <p14:creationId xmlns:p14="http://schemas.microsoft.com/office/powerpoint/2010/main" val="34957278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4D846E4-3CBC-F8DE-5D5B-E5A8A95BE3FE}"/>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400" u="sng" kern="1200" dirty="0">
                <a:latin typeface="+mj-lt"/>
                <a:ea typeface="+mj-ea"/>
                <a:cs typeface="+mj-cs"/>
              </a:rPr>
              <a:t>Find missing number in list</a:t>
            </a:r>
            <a:endParaRPr lang="en-US" sz="5200" dirty="0"/>
          </a:p>
        </p:txBody>
      </p:sp>
      <p:pic>
        <p:nvPicPr>
          <p:cNvPr id="7" name="Picture 6" descr="A screenshot of a math problem&#10;&#10;Description automatically generated">
            <a:extLst>
              <a:ext uri="{FF2B5EF4-FFF2-40B4-BE49-F238E27FC236}">
                <a16:creationId xmlns:a16="http://schemas.microsoft.com/office/drawing/2014/main" id="{1CD55D2A-5D9B-E115-072B-38DF05917060}"/>
              </a:ext>
            </a:extLst>
          </p:cNvPr>
          <p:cNvPicPr>
            <a:picLocks noChangeAspect="1"/>
          </p:cNvPicPr>
          <p:nvPr/>
        </p:nvPicPr>
        <p:blipFill>
          <a:blip r:embed="rId2"/>
          <a:stretch>
            <a:fillRect/>
          </a:stretch>
        </p:blipFill>
        <p:spPr>
          <a:xfrm>
            <a:off x="181234" y="3086364"/>
            <a:ext cx="5828261" cy="3088977"/>
          </a:xfrm>
          <a:prstGeom prst="rect">
            <a:avLst/>
          </a:prstGeom>
        </p:spPr>
      </p:pic>
      <p:pic>
        <p:nvPicPr>
          <p:cNvPr id="5" name="Content Placeholder 4" descr="A black rectangular object with white text&#10;&#10;Description automatically generated">
            <a:extLst>
              <a:ext uri="{FF2B5EF4-FFF2-40B4-BE49-F238E27FC236}">
                <a16:creationId xmlns:a16="http://schemas.microsoft.com/office/drawing/2014/main" id="{04568F04-EAA6-9806-A907-03F7EABFBFDD}"/>
              </a:ext>
            </a:extLst>
          </p:cNvPr>
          <p:cNvPicPr>
            <a:picLocks noGrp="1" noChangeAspect="1"/>
          </p:cNvPicPr>
          <p:nvPr>
            <p:ph idx="1"/>
          </p:nvPr>
        </p:nvPicPr>
        <p:blipFill>
          <a:blip r:embed="rId3"/>
          <a:stretch>
            <a:fillRect/>
          </a:stretch>
        </p:blipFill>
        <p:spPr>
          <a:xfrm>
            <a:off x="6182505" y="3669190"/>
            <a:ext cx="5828261" cy="1923325"/>
          </a:xfrm>
          <a:prstGeom prst="rect">
            <a:avLst/>
          </a:prstGeom>
        </p:spPr>
      </p:pic>
    </p:spTree>
    <p:extLst>
      <p:ext uri="{BB962C8B-B14F-4D97-AF65-F5344CB8AC3E}">
        <p14:creationId xmlns:p14="http://schemas.microsoft.com/office/powerpoint/2010/main" val="307524771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8" name="Rectangle 17">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0F0A8E-8670-2295-09C2-43BF5C062FD8}"/>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a:t>Find missing number in list</a:t>
            </a:r>
            <a:endParaRPr lang="en-US" sz="5200"/>
          </a:p>
        </p:txBody>
      </p:sp>
      <p:pic>
        <p:nvPicPr>
          <p:cNvPr id="11" name="Content Placeholder 10" descr="A screenshot of a math test&#10;&#10;Description automatically generated">
            <a:extLst>
              <a:ext uri="{FF2B5EF4-FFF2-40B4-BE49-F238E27FC236}">
                <a16:creationId xmlns:a16="http://schemas.microsoft.com/office/drawing/2014/main" id="{B36C72FD-2E6E-1F02-9083-EA942334F0CE}"/>
              </a:ext>
            </a:extLst>
          </p:cNvPr>
          <p:cNvPicPr>
            <a:picLocks noGrp="1" noChangeAspect="1"/>
          </p:cNvPicPr>
          <p:nvPr>
            <p:ph idx="1"/>
          </p:nvPr>
        </p:nvPicPr>
        <p:blipFill>
          <a:blip r:embed="rId2"/>
          <a:stretch>
            <a:fillRect/>
          </a:stretch>
        </p:blipFill>
        <p:spPr>
          <a:xfrm>
            <a:off x="181234" y="3450630"/>
            <a:ext cx="5828261" cy="2360445"/>
          </a:xfrm>
          <a:prstGeom prst="rect">
            <a:avLst/>
          </a:prstGeom>
        </p:spPr>
      </p:pic>
      <p:pic>
        <p:nvPicPr>
          <p:cNvPr id="13" name="Picture 12" descr="A screenshot of a computer&#10;&#10;Description automatically generated">
            <a:extLst>
              <a:ext uri="{FF2B5EF4-FFF2-40B4-BE49-F238E27FC236}">
                <a16:creationId xmlns:a16="http://schemas.microsoft.com/office/drawing/2014/main" id="{EE81FB07-5FB9-55F2-B6AA-34FF5DF46387}"/>
              </a:ext>
            </a:extLst>
          </p:cNvPr>
          <p:cNvPicPr>
            <a:picLocks noChangeAspect="1"/>
          </p:cNvPicPr>
          <p:nvPr/>
        </p:nvPicPr>
        <p:blipFill>
          <a:blip r:embed="rId3"/>
          <a:stretch>
            <a:fillRect/>
          </a:stretch>
        </p:blipFill>
        <p:spPr>
          <a:xfrm>
            <a:off x="6182505" y="3654619"/>
            <a:ext cx="5828261" cy="1952467"/>
          </a:xfrm>
          <a:prstGeom prst="rect">
            <a:avLst/>
          </a:prstGeom>
        </p:spPr>
      </p:pic>
    </p:spTree>
    <p:extLst>
      <p:ext uri="{BB962C8B-B14F-4D97-AF65-F5344CB8AC3E}">
        <p14:creationId xmlns:p14="http://schemas.microsoft.com/office/powerpoint/2010/main" val="5832420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Freeform: Shape 19">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23B1D111-CDAF-39EF-CF49-4702971E41AA}"/>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u="sng" kern="1200" dirty="0">
                <a:solidFill>
                  <a:srgbClr val="FFFFFF"/>
                </a:solidFill>
                <a:latin typeface="+mj-lt"/>
                <a:ea typeface="+mj-ea"/>
                <a:cs typeface="+mj-cs"/>
              </a:rPr>
              <a:t>Find vowels and </a:t>
            </a:r>
            <a:r>
              <a:rPr lang="en-US" sz="4000" u="sng" kern="1200" dirty="0" err="1">
                <a:solidFill>
                  <a:srgbClr val="FFFFFF"/>
                </a:solidFill>
                <a:latin typeface="+mj-lt"/>
                <a:ea typeface="+mj-ea"/>
                <a:cs typeface="+mj-cs"/>
              </a:rPr>
              <a:t>consonents</a:t>
            </a:r>
            <a:r>
              <a:rPr lang="en-US" sz="4000" u="sng" kern="1200" dirty="0">
                <a:solidFill>
                  <a:srgbClr val="FFFFFF"/>
                </a:solidFill>
                <a:latin typeface="+mj-lt"/>
                <a:ea typeface="+mj-ea"/>
                <a:cs typeface="+mj-cs"/>
              </a:rPr>
              <a:t> counts</a:t>
            </a:r>
          </a:p>
        </p:txBody>
      </p:sp>
      <p:pic>
        <p:nvPicPr>
          <p:cNvPr id="7" name="Content Placeholder 6" descr="A screenshot of a computer program&#10;&#10;Description automatically generated">
            <a:extLst>
              <a:ext uri="{FF2B5EF4-FFF2-40B4-BE49-F238E27FC236}">
                <a16:creationId xmlns:a16="http://schemas.microsoft.com/office/drawing/2014/main" id="{3B87F4A8-7FE8-41F0-B0FC-A41AFD7967B3}"/>
              </a:ext>
            </a:extLst>
          </p:cNvPr>
          <p:cNvPicPr>
            <a:picLocks noGrp="1" noChangeAspect="1"/>
          </p:cNvPicPr>
          <p:nvPr>
            <p:ph idx="1"/>
          </p:nvPr>
        </p:nvPicPr>
        <p:blipFill>
          <a:blip r:embed="rId2"/>
          <a:stretch>
            <a:fillRect/>
          </a:stretch>
        </p:blipFill>
        <p:spPr>
          <a:xfrm>
            <a:off x="4495807" y="467208"/>
            <a:ext cx="7238990" cy="5923584"/>
          </a:xfrm>
          <a:prstGeom prst="rect">
            <a:avLst/>
          </a:prstGeom>
        </p:spPr>
      </p:pic>
    </p:spTree>
    <p:extLst>
      <p:ext uri="{BB962C8B-B14F-4D97-AF65-F5344CB8AC3E}">
        <p14:creationId xmlns:p14="http://schemas.microsoft.com/office/powerpoint/2010/main" val="216853521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2151139A-886F-4B97-8815-729AD3831B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
        <p:nvSpPr>
          <p:cNvPr id="14" name="Rectangle 13">
            <a:extLst>
              <a:ext uri="{FF2B5EF4-FFF2-40B4-BE49-F238E27FC236}">
                <a16:creationId xmlns:a16="http://schemas.microsoft.com/office/drawing/2014/main" id="{5428AC11-BFDF-42EF-80FF-717BBF909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08628" y="1408629"/>
            <a:ext cx="6858000" cy="4040744"/>
          </a:xfrm>
          <a:prstGeom prst="rect">
            <a:avLst/>
          </a:prstGeom>
          <a:gradFill>
            <a:gsLst>
              <a:gs pos="1100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2CC56AF6-38E4-490B-8E2B-1A1037B4ED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9565" y="2659832"/>
            <a:ext cx="4355594" cy="4040742"/>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339A6F5-AD6A-4D80-8AD9-6290D13AC4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513"/>
            <a:ext cx="6857572" cy="3581401"/>
          </a:xfrm>
          <a:prstGeom prst="rect">
            <a:avLst/>
          </a:prstGeom>
          <a:gradFill>
            <a:gsLst>
              <a:gs pos="0">
                <a:srgbClr val="000000">
                  <a:alpha val="61000"/>
                </a:srgbClr>
              </a:gs>
              <a:gs pos="95000">
                <a:schemeClr val="accent5">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B55EB4D-0D8A-9D7A-83AB-FD2516B6F609}"/>
              </a:ext>
            </a:extLst>
          </p:cNvPr>
          <p:cNvSpPr>
            <a:spLocks noGrp="1"/>
          </p:cNvSpPr>
          <p:nvPr>
            <p:ph type="title"/>
          </p:nvPr>
        </p:nvSpPr>
        <p:spPr>
          <a:xfrm>
            <a:off x="660042" y="2945176"/>
            <a:ext cx="2878688" cy="2757975"/>
          </a:xfrm>
        </p:spPr>
        <p:txBody>
          <a:bodyPr vert="horz" lIns="91440" tIns="45720" rIns="91440" bIns="45720" rtlCol="0" anchor="t">
            <a:normAutofit/>
          </a:bodyPr>
          <a:lstStyle/>
          <a:p>
            <a:r>
              <a:rPr lang="en-US" sz="4000" u="sng">
                <a:solidFill>
                  <a:srgbClr val="FFFFFF"/>
                </a:solidFill>
              </a:rPr>
              <a:t>2</a:t>
            </a:r>
            <a:r>
              <a:rPr lang="en-US" sz="4000" u="sng" baseline="30000">
                <a:solidFill>
                  <a:srgbClr val="FFFFFF"/>
                </a:solidFill>
              </a:rPr>
              <a:t>nd</a:t>
            </a:r>
            <a:r>
              <a:rPr lang="en-US" sz="4000" u="sng">
                <a:solidFill>
                  <a:srgbClr val="FFFFFF"/>
                </a:solidFill>
              </a:rPr>
              <a:t> type Input using list</a:t>
            </a:r>
          </a:p>
        </p:txBody>
      </p:sp>
      <p:pic>
        <p:nvPicPr>
          <p:cNvPr id="5" name="Content Placeholder 4" descr="A screen shot of a computer program&#10;&#10;Description automatically generated">
            <a:extLst>
              <a:ext uri="{FF2B5EF4-FFF2-40B4-BE49-F238E27FC236}">
                <a16:creationId xmlns:a16="http://schemas.microsoft.com/office/drawing/2014/main" id="{1B724110-771E-1C6C-47D9-75754C58B361}"/>
              </a:ext>
            </a:extLst>
          </p:cNvPr>
          <p:cNvPicPr>
            <a:picLocks noGrp="1" noChangeAspect="1"/>
          </p:cNvPicPr>
          <p:nvPr>
            <p:ph idx="1"/>
          </p:nvPr>
        </p:nvPicPr>
        <p:blipFill>
          <a:blip r:embed="rId2"/>
          <a:stretch>
            <a:fillRect/>
          </a:stretch>
        </p:blipFill>
        <p:spPr>
          <a:xfrm>
            <a:off x="4038603" y="-2"/>
            <a:ext cx="6373369" cy="6745575"/>
          </a:xfrm>
          <a:prstGeom prst="rect">
            <a:avLst/>
          </a:prstGeom>
        </p:spPr>
      </p:pic>
      <p:pic>
        <p:nvPicPr>
          <p:cNvPr id="7" name="Picture 6" descr="A screen shot of a computer program&#10;&#10;Description automatically generated">
            <a:extLst>
              <a:ext uri="{FF2B5EF4-FFF2-40B4-BE49-F238E27FC236}">
                <a16:creationId xmlns:a16="http://schemas.microsoft.com/office/drawing/2014/main" id="{BBE033DB-1C77-C866-0224-E3909241EFF2}"/>
              </a:ext>
            </a:extLst>
          </p:cNvPr>
          <p:cNvPicPr>
            <a:picLocks noChangeAspect="1"/>
          </p:cNvPicPr>
          <p:nvPr/>
        </p:nvPicPr>
        <p:blipFill>
          <a:blip r:embed="rId3"/>
          <a:stretch>
            <a:fillRect/>
          </a:stretch>
        </p:blipFill>
        <p:spPr>
          <a:xfrm>
            <a:off x="10257397" y="1200650"/>
            <a:ext cx="1934603" cy="4456700"/>
          </a:xfrm>
          <a:prstGeom prst="rect">
            <a:avLst/>
          </a:prstGeom>
        </p:spPr>
      </p:pic>
    </p:spTree>
    <p:extLst>
      <p:ext uri="{BB962C8B-B14F-4D97-AF65-F5344CB8AC3E}">
        <p14:creationId xmlns:p14="http://schemas.microsoft.com/office/powerpoint/2010/main" val="5867147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7E628F5-C785-0D6D-C54C-2114240F9ACC}"/>
              </a:ext>
            </a:extLst>
          </p:cNvPr>
          <p:cNvSpPr>
            <a:spLocks noGrp="1"/>
          </p:cNvSpPr>
          <p:nvPr>
            <p:ph type="title"/>
          </p:nvPr>
        </p:nvSpPr>
        <p:spPr>
          <a:xfrm>
            <a:off x="699713" y="248038"/>
            <a:ext cx="7063721" cy="1159200"/>
          </a:xfrm>
        </p:spPr>
        <p:txBody>
          <a:bodyPr vert="horz" lIns="91440" tIns="45720" rIns="91440" bIns="45720" rtlCol="0" anchor="ctr">
            <a:normAutofit/>
          </a:bodyPr>
          <a:lstStyle/>
          <a:p>
            <a:r>
              <a:rPr lang="en-US" sz="4000" u="sng" kern="1200">
                <a:solidFill>
                  <a:srgbClr val="FFFFFF"/>
                </a:solidFill>
                <a:latin typeface="+mj-lt"/>
                <a:ea typeface="+mj-ea"/>
                <a:cs typeface="+mj-cs"/>
              </a:rPr>
              <a:t>Remove duplicate elements</a:t>
            </a:r>
          </a:p>
        </p:txBody>
      </p:sp>
      <p:pic>
        <p:nvPicPr>
          <p:cNvPr id="5" name="Content Placeholder 4" descr="A screenshot of a computer program&#10;&#10;Description automatically generated">
            <a:extLst>
              <a:ext uri="{FF2B5EF4-FFF2-40B4-BE49-F238E27FC236}">
                <a16:creationId xmlns:a16="http://schemas.microsoft.com/office/drawing/2014/main" id="{E6F4FA27-83F6-5A6C-DEBA-5690C4FC2AE2}"/>
              </a:ext>
            </a:extLst>
          </p:cNvPr>
          <p:cNvPicPr>
            <a:picLocks noGrp="1" noChangeAspect="1"/>
          </p:cNvPicPr>
          <p:nvPr>
            <p:ph idx="1"/>
          </p:nvPr>
        </p:nvPicPr>
        <p:blipFill>
          <a:blip r:embed="rId2"/>
          <a:stretch>
            <a:fillRect/>
          </a:stretch>
        </p:blipFill>
        <p:spPr>
          <a:xfrm>
            <a:off x="1121516" y="1966293"/>
            <a:ext cx="9948966" cy="4452160"/>
          </a:xfrm>
          <a:prstGeom prst="rect">
            <a:avLst/>
          </a:prstGeom>
        </p:spPr>
      </p:pic>
    </p:spTree>
    <p:extLst>
      <p:ext uri="{BB962C8B-B14F-4D97-AF65-F5344CB8AC3E}">
        <p14:creationId xmlns:p14="http://schemas.microsoft.com/office/powerpoint/2010/main" val="47049769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A5A365-2CDE-CB87-CD57-AD4F89ACAA41}"/>
              </a:ext>
            </a:extLst>
          </p:cNvPr>
          <p:cNvSpPr>
            <a:spLocks noGrp="1"/>
          </p:cNvSpPr>
          <p:nvPr>
            <p:ph type="title"/>
          </p:nvPr>
        </p:nvSpPr>
        <p:spPr/>
        <p:txBody>
          <a:bodyPr/>
          <a:lstStyle/>
          <a:p>
            <a:r>
              <a:rPr lang="en-IN" b="1" u="sng" dirty="0">
                <a:solidFill>
                  <a:srgbClr val="000000"/>
                </a:solidFill>
                <a:latin typeface="+mn-lt"/>
              </a:rPr>
              <a:t>F</a:t>
            </a:r>
            <a:r>
              <a:rPr lang="en-IN" b="1" i="0" u="sng" dirty="0">
                <a:solidFill>
                  <a:srgbClr val="000000"/>
                </a:solidFill>
                <a:effectLst/>
                <a:latin typeface="+mn-lt"/>
              </a:rPr>
              <a:t>ind duplicates </a:t>
            </a:r>
            <a:br>
              <a:rPr lang="en-IN" b="1" i="0" u="sng" dirty="0">
                <a:solidFill>
                  <a:srgbClr val="000000"/>
                </a:solidFill>
                <a:effectLst/>
                <a:latin typeface="+mn-lt"/>
              </a:rPr>
            </a:br>
            <a:endParaRPr lang="en-US" u="sng" dirty="0">
              <a:latin typeface="+mn-lt"/>
            </a:endParaRPr>
          </a:p>
        </p:txBody>
      </p:sp>
      <p:sp>
        <p:nvSpPr>
          <p:cNvPr id="3" name="Content Placeholder 2">
            <a:extLst>
              <a:ext uri="{FF2B5EF4-FFF2-40B4-BE49-F238E27FC236}">
                <a16:creationId xmlns:a16="http://schemas.microsoft.com/office/drawing/2014/main" id="{28EBB81F-45D1-43A4-E330-D6BC528A3400}"/>
              </a:ext>
            </a:extLst>
          </p:cNvPr>
          <p:cNvSpPr>
            <a:spLocks noGrp="1"/>
          </p:cNvSpPr>
          <p:nvPr>
            <p:ph idx="1"/>
          </p:nvPr>
        </p:nvSpPr>
        <p:spPr>
          <a:xfrm>
            <a:off x="838200" y="1454046"/>
            <a:ext cx="10515600" cy="5038829"/>
          </a:xfrm>
        </p:spPr>
        <p:txBody>
          <a:bodyPr>
            <a:normAutofit fontScale="92500" lnSpcReduction="20000"/>
          </a:bodyPr>
          <a:lstStyle/>
          <a:p>
            <a:r>
              <a:rPr lang="en-IN" b="0" dirty="0">
                <a:effectLst/>
              </a:rPr>
              <a:t>l = [1, 2, 3, 4, 5, 2, 3, 4, 7, 9, 5]</a:t>
            </a:r>
          </a:p>
          <a:p>
            <a:r>
              <a:rPr lang="en-IN" b="0" dirty="0">
                <a:effectLst/>
              </a:rPr>
              <a:t>l1 = []</a:t>
            </a:r>
          </a:p>
          <a:p>
            <a:r>
              <a:rPr lang="en-IN" b="0" dirty="0">
                <a:effectLst/>
              </a:rPr>
              <a:t>duplicates = []</a:t>
            </a:r>
          </a:p>
          <a:p>
            <a:endParaRPr lang="en-IN" b="0" dirty="0">
              <a:effectLst/>
            </a:endParaRPr>
          </a:p>
          <a:p>
            <a:r>
              <a:rPr lang="en-IN" b="0" dirty="0">
                <a:effectLst/>
              </a:rPr>
              <a:t>for </a:t>
            </a:r>
            <a:r>
              <a:rPr lang="en-IN" b="0" dirty="0" err="1">
                <a:effectLst/>
              </a:rPr>
              <a:t>i</a:t>
            </a:r>
            <a:r>
              <a:rPr lang="en-IN" b="0" dirty="0">
                <a:effectLst/>
              </a:rPr>
              <a:t> in l:</a:t>
            </a:r>
          </a:p>
          <a:p>
            <a:r>
              <a:rPr lang="en-IN" b="0" dirty="0">
                <a:effectLst/>
              </a:rPr>
              <a:t>    if </a:t>
            </a:r>
            <a:r>
              <a:rPr lang="en-IN" b="0" dirty="0" err="1">
                <a:effectLst/>
              </a:rPr>
              <a:t>i</a:t>
            </a:r>
            <a:r>
              <a:rPr lang="en-IN" b="0" dirty="0">
                <a:effectLst/>
              </a:rPr>
              <a:t> not in l1:</a:t>
            </a:r>
          </a:p>
          <a:p>
            <a:r>
              <a:rPr lang="en-IN" b="0" dirty="0">
                <a:effectLst/>
              </a:rPr>
              <a:t>        l1.append(</a:t>
            </a:r>
            <a:r>
              <a:rPr lang="en-IN" b="0" dirty="0" err="1">
                <a:effectLst/>
              </a:rPr>
              <a:t>i</a:t>
            </a:r>
            <a:r>
              <a:rPr lang="en-IN" b="0" dirty="0">
                <a:effectLst/>
              </a:rPr>
              <a:t>)</a:t>
            </a:r>
          </a:p>
          <a:p>
            <a:r>
              <a:rPr lang="en-IN" b="0" dirty="0">
                <a:effectLst/>
              </a:rPr>
              <a:t>    else:</a:t>
            </a:r>
          </a:p>
          <a:p>
            <a:r>
              <a:rPr lang="en-IN" b="0" dirty="0">
                <a:effectLst/>
              </a:rPr>
              <a:t>        </a:t>
            </a:r>
            <a:r>
              <a:rPr lang="en-IN" b="0" dirty="0" err="1">
                <a:effectLst/>
              </a:rPr>
              <a:t>duplicates.append</a:t>
            </a:r>
            <a:r>
              <a:rPr lang="en-IN" b="0" dirty="0">
                <a:effectLst/>
              </a:rPr>
              <a:t>(</a:t>
            </a:r>
            <a:r>
              <a:rPr lang="en-IN" b="0" dirty="0" err="1">
                <a:effectLst/>
              </a:rPr>
              <a:t>i</a:t>
            </a:r>
            <a:r>
              <a:rPr lang="en-IN" b="0" dirty="0">
                <a:effectLst/>
              </a:rPr>
              <a:t>)</a:t>
            </a:r>
          </a:p>
          <a:p>
            <a:pPr marL="0" indent="0">
              <a:buNone/>
            </a:pPr>
            <a:r>
              <a:rPr lang="en-IN" b="0" dirty="0">
                <a:effectLst/>
              </a:rPr>
              <a:t>print("Duplicated elements: ", " ".join(map(str, duplicates)))</a:t>
            </a:r>
          </a:p>
          <a:p>
            <a:pPr algn="l">
              <a:buFont typeface="+mj-lt"/>
              <a:buAutoNum type="arabicPeriod"/>
            </a:pPr>
            <a:r>
              <a:rPr lang="en-IN" b="0" i="0" dirty="0">
                <a:solidFill>
                  <a:srgbClr val="000000"/>
                </a:solidFill>
                <a:effectLst/>
                <a:latin typeface="var(--font-family-body-lesson-markdown,&quot;Droid Serif&quot;)"/>
              </a:rPr>
              <a:t>Here, the list (l1) has no duplicates. The values printed are the duplicates from list (l).</a:t>
            </a:r>
          </a:p>
          <a:p>
            <a:pPr marL="0" indent="0" algn="l">
              <a:buNone/>
            </a:pPr>
            <a:endParaRPr lang="en-IN" b="0" i="0" dirty="0">
              <a:solidFill>
                <a:srgbClr val="000000"/>
              </a:solidFill>
              <a:effectLst/>
              <a:latin typeface="Nunito Sans" panose="020F0502020204030204" pitchFamily="34" charset="0"/>
            </a:endParaRPr>
          </a:p>
          <a:p>
            <a:endParaRPr lang="en-IN" b="0" dirty="0">
              <a:effectLst/>
            </a:endParaRPr>
          </a:p>
          <a:p>
            <a:endParaRPr lang="en-US" dirty="0"/>
          </a:p>
        </p:txBody>
      </p:sp>
    </p:spTree>
    <p:extLst>
      <p:ext uri="{BB962C8B-B14F-4D97-AF65-F5344CB8AC3E}">
        <p14:creationId xmlns:p14="http://schemas.microsoft.com/office/powerpoint/2010/main" val="28713212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6256DF-D149-1B42-CBA8-F7F45188A713}"/>
              </a:ext>
            </a:extLst>
          </p:cNvPr>
          <p:cNvSpPr>
            <a:spLocks noGrp="1"/>
          </p:cNvSpPr>
          <p:nvPr>
            <p:ph type="title"/>
          </p:nvPr>
        </p:nvSpPr>
        <p:spPr>
          <a:xfrm>
            <a:off x="569626" y="365126"/>
            <a:ext cx="10784174" cy="714166"/>
          </a:xfrm>
        </p:spPr>
        <p:txBody>
          <a:bodyPr>
            <a:normAutofit/>
          </a:bodyPr>
          <a:lstStyle/>
          <a:p>
            <a:r>
              <a:rPr lang="en-US" u="sng" dirty="0"/>
              <a:t>Find Duplicates in String</a:t>
            </a:r>
          </a:p>
        </p:txBody>
      </p:sp>
      <p:sp>
        <p:nvSpPr>
          <p:cNvPr id="3" name="Content Placeholder 2">
            <a:extLst>
              <a:ext uri="{FF2B5EF4-FFF2-40B4-BE49-F238E27FC236}">
                <a16:creationId xmlns:a16="http://schemas.microsoft.com/office/drawing/2014/main" id="{6C5BDE8E-F016-F40B-7E87-342025BC8B23}"/>
              </a:ext>
            </a:extLst>
          </p:cNvPr>
          <p:cNvSpPr>
            <a:spLocks noGrp="1"/>
          </p:cNvSpPr>
          <p:nvPr>
            <p:ph idx="1"/>
          </p:nvPr>
        </p:nvSpPr>
        <p:spPr>
          <a:xfrm>
            <a:off x="674557" y="1289154"/>
            <a:ext cx="10679243" cy="5203720"/>
          </a:xfrm>
        </p:spPr>
        <p:txBody>
          <a:bodyPr>
            <a:normAutofit fontScale="85000" lnSpcReduction="20000"/>
          </a:bodyPr>
          <a:lstStyle/>
          <a:p>
            <a:r>
              <a:rPr lang="en-US" dirty="0" err="1"/>
              <a:t>input_string</a:t>
            </a:r>
            <a:r>
              <a:rPr lang="en-US" dirty="0"/>
              <a:t> = '</a:t>
            </a:r>
            <a:r>
              <a:rPr lang="en-US" dirty="0" err="1"/>
              <a:t>geeksforgeeks</a:t>
            </a:r>
            <a:r>
              <a:rPr lang="en-US" dirty="0"/>
              <a:t>’</a:t>
            </a:r>
          </a:p>
          <a:p>
            <a:r>
              <a:rPr lang="en-US" dirty="0"/>
              <a:t>O/P-</a:t>
            </a:r>
            <a:r>
              <a:rPr lang="en-US" dirty="0" err="1"/>
              <a:t>egsk</a:t>
            </a:r>
            <a:endParaRPr lang="en-US" dirty="0"/>
          </a:p>
          <a:p>
            <a:r>
              <a:rPr lang="en-US" dirty="0"/>
              <a:t># Create an empty list to store duplicates</a:t>
            </a:r>
          </a:p>
          <a:p>
            <a:r>
              <a:rPr lang="en-US" dirty="0"/>
              <a:t>x = []</a:t>
            </a:r>
          </a:p>
          <a:p>
            <a:r>
              <a:rPr lang="en-US" dirty="0"/>
              <a:t>for </a:t>
            </a:r>
            <a:r>
              <a:rPr lang="en-US" dirty="0" err="1"/>
              <a:t>i</a:t>
            </a:r>
            <a:r>
              <a:rPr lang="en-US" dirty="0"/>
              <a:t> in </a:t>
            </a:r>
            <a:r>
              <a:rPr lang="en-US" dirty="0" err="1"/>
              <a:t>input_string</a:t>
            </a:r>
            <a:r>
              <a:rPr lang="en-US" dirty="0"/>
              <a:t>:</a:t>
            </a:r>
          </a:p>
          <a:p>
            <a:r>
              <a:rPr lang="en-US" dirty="0"/>
              <a:t>    # Check if the character is not already in the list and if it is repeated</a:t>
            </a:r>
          </a:p>
          <a:p>
            <a:r>
              <a:rPr lang="en-US" dirty="0"/>
              <a:t>    if </a:t>
            </a:r>
            <a:r>
              <a:rPr lang="en-US" dirty="0" err="1"/>
              <a:t>i</a:t>
            </a:r>
            <a:r>
              <a:rPr lang="en-US" dirty="0"/>
              <a:t> not in x and </a:t>
            </a:r>
            <a:r>
              <a:rPr lang="en-US" dirty="0" err="1"/>
              <a:t>input_string.count</a:t>
            </a:r>
            <a:r>
              <a:rPr lang="en-US" dirty="0"/>
              <a:t>(</a:t>
            </a:r>
            <a:r>
              <a:rPr lang="en-US" dirty="0" err="1"/>
              <a:t>i</a:t>
            </a:r>
            <a:r>
              <a:rPr lang="en-US" dirty="0"/>
              <a:t>) = 1:</a:t>
            </a:r>
          </a:p>
          <a:p>
            <a:r>
              <a:rPr lang="en-US" dirty="0"/>
              <a:t>        </a:t>
            </a:r>
            <a:r>
              <a:rPr lang="en-US" dirty="0" err="1"/>
              <a:t>x.append</a:t>
            </a:r>
            <a:r>
              <a:rPr lang="en-US" dirty="0"/>
              <a:t>(</a:t>
            </a:r>
            <a:r>
              <a:rPr lang="en-US" dirty="0" err="1"/>
              <a:t>i</a:t>
            </a:r>
            <a:r>
              <a:rPr lang="en-US" dirty="0"/>
              <a:t>)</a:t>
            </a:r>
          </a:p>
          <a:p>
            <a:endParaRPr lang="en-US" dirty="0"/>
          </a:p>
          <a:p>
            <a:r>
              <a:rPr lang="en-US" dirty="0"/>
              <a:t># Print the repeated characters</a:t>
            </a:r>
          </a:p>
          <a:p>
            <a:r>
              <a:rPr lang="en-US" dirty="0"/>
              <a:t>print(" ".join(x))</a:t>
            </a:r>
          </a:p>
          <a:p>
            <a:endParaRPr lang="en-US" dirty="0"/>
          </a:p>
          <a:p>
            <a:r>
              <a:rPr lang="en-IN" dirty="0"/>
              <a:t>The expression " ".join(x) is used to concatenate the elements of the list x into a single string, with each element separated by a space.</a:t>
            </a:r>
            <a:endParaRPr lang="en-US" dirty="0"/>
          </a:p>
          <a:p>
            <a:endParaRPr lang="en-US" dirty="0"/>
          </a:p>
        </p:txBody>
      </p:sp>
    </p:spTree>
    <p:extLst>
      <p:ext uri="{BB962C8B-B14F-4D97-AF65-F5344CB8AC3E}">
        <p14:creationId xmlns:p14="http://schemas.microsoft.com/office/powerpoint/2010/main" val="189956163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6DB81D-0BB8-2800-1DFE-925993025763}"/>
              </a:ext>
            </a:extLst>
          </p:cNvPr>
          <p:cNvSpPr>
            <a:spLocks noGrp="1"/>
          </p:cNvSpPr>
          <p:nvPr>
            <p:ph type="title"/>
          </p:nvPr>
        </p:nvSpPr>
        <p:spPr/>
        <p:txBody>
          <a:bodyPr/>
          <a:lstStyle/>
          <a:p>
            <a:r>
              <a:rPr lang="en-US" u="sng" dirty="0"/>
              <a:t>2</a:t>
            </a:r>
            <a:r>
              <a:rPr lang="en-US" u="sng" baseline="30000" dirty="0"/>
              <a:t>nd</a:t>
            </a:r>
            <a:r>
              <a:rPr lang="en-US" u="sng" dirty="0"/>
              <a:t> largest number in list</a:t>
            </a:r>
          </a:p>
        </p:txBody>
      </p:sp>
      <p:sp>
        <p:nvSpPr>
          <p:cNvPr id="3" name="Content Placeholder 2">
            <a:extLst>
              <a:ext uri="{FF2B5EF4-FFF2-40B4-BE49-F238E27FC236}">
                <a16:creationId xmlns:a16="http://schemas.microsoft.com/office/drawing/2014/main" id="{460C2A2A-9FC2-E853-B1B6-1226B984208D}"/>
              </a:ext>
            </a:extLst>
          </p:cNvPr>
          <p:cNvSpPr>
            <a:spLocks noGrp="1"/>
          </p:cNvSpPr>
          <p:nvPr>
            <p:ph idx="1"/>
          </p:nvPr>
        </p:nvSpPr>
        <p:spPr/>
        <p:txBody>
          <a:bodyPr>
            <a:normAutofit fontScale="62500" lnSpcReduction="20000"/>
          </a:bodyPr>
          <a:lstStyle/>
          <a:p>
            <a:pPr algn="just">
              <a:buFont typeface="+mj-lt"/>
              <a:buAutoNum type="arabicPeriod"/>
            </a:pPr>
            <a:r>
              <a:rPr lang="en-IN" b="0" i="0" dirty="0">
                <a:solidFill>
                  <a:srgbClr val="000000"/>
                </a:solidFill>
                <a:effectLst/>
                <a:latin typeface="inter-regular"/>
              </a:rPr>
              <a:t>def </a:t>
            </a:r>
            <a:r>
              <a:rPr lang="en-IN" b="0" i="0" dirty="0" err="1">
                <a:solidFill>
                  <a:srgbClr val="000000"/>
                </a:solidFill>
                <a:effectLst/>
                <a:latin typeface="inter-regular"/>
              </a:rPr>
              <a:t>calc_largest</a:t>
            </a:r>
            <a:r>
              <a:rPr lang="en-IN" b="0" i="0" dirty="0">
                <a:solidFill>
                  <a:srgbClr val="000000"/>
                </a:solidFill>
                <a:effectLst/>
                <a:latin typeface="inter-regular"/>
              </a:rPr>
              <a:t>(</a:t>
            </a:r>
            <a:r>
              <a:rPr lang="en-IN" b="0" i="0" dirty="0" err="1">
                <a:solidFill>
                  <a:srgbClr val="000000"/>
                </a:solidFill>
                <a:effectLst/>
                <a:latin typeface="inter-regular"/>
              </a:rPr>
              <a:t>arr</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0" i="0" dirty="0" err="1">
                <a:solidFill>
                  <a:srgbClr val="000000"/>
                </a:solidFill>
                <a:effectLst/>
                <a:latin typeface="inter-regular"/>
              </a:rPr>
              <a:t>second_largest</a:t>
            </a:r>
            <a:r>
              <a:rPr lang="en-IN" b="0" i="0" dirty="0">
                <a:solidFill>
                  <a:srgbClr val="000000"/>
                </a:solidFill>
                <a:effectLst/>
                <a:latin typeface="inter-regular"/>
              </a:rPr>
              <a:t> =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0" i="0" dirty="0" err="1">
                <a:solidFill>
                  <a:srgbClr val="000000"/>
                </a:solidFill>
                <a:effectLst/>
                <a:latin typeface="inter-regular"/>
              </a:rPr>
              <a:t>largest_val</a:t>
            </a:r>
            <a:r>
              <a:rPr lang="en-IN" b="0" i="0" dirty="0">
                <a:solidFill>
                  <a:srgbClr val="000000"/>
                </a:solidFill>
                <a:effectLst/>
                <a:latin typeface="inter-regular"/>
              </a:rPr>
              <a:t> =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a:solidFill>
                  <a:srgbClr val="C00000"/>
                </a:solidFill>
                <a:effectLst/>
                <a:latin typeface="inter-regular"/>
              </a:rPr>
              <a:t>0</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in range(</a:t>
            </a:r>
            <a:r>
              <a:rPr lang="en-IN" b="0" i="0" dirty="0" err="1">
                <a:solidFill>
                  <a:srgbClr val="000000"/>
                </a:solidFill>
                <a:effectLst/>
                <a:latin typeface="inter-regular"/>
              </a:rPr>
              <a:t>len</a:t>
            </a:r>
            <a:r>
              <a:rPr lang="en-IN" b="0" i="0" dirty="0">
                <a:solidFill>
                  <a:srgbClr val="000000"/>
                </a:solidFill>
                <a:effectLst/>
                <a:latin typeface="inter-regular"/>
              </a:rPr>
              <a:t>(</a:t>
            </a:r>
            <a:r>
              <a:rPr lang="en-IN" b="0" i="0" dirty="0" err="1">
                <a:solidFill>
                  <a:srgbClr val="000000"/>
                </a:solidFill>
                <a:effectLst/>
                <a:latin typeface="inter-regular"/>
              </a:rPr>
              <a:t>arr</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if</a:t>
            </a:r>
            <a:r>
              <a:rPr lang="en-IN" b="0" i="0" dirty="0">
                <a:solidFill>
                  <a:srgbClr val="000000"/>
                </a:solidFill>
                <a:effectLst/>
                <a:latin typeface="inter-regular"/>
              </a:rPr>
              <a:t>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&gt; </a:t>
            </a:r>
            <a:r>
              <a:rPr lang="en-IN" b="0" i="0" dirty="0" err="1">
                <a:solidFill>
                  <a:srgbClr val="000000"/>
                </a:solidFill>
                <a:effectLst/>
                <a:latin typeface="inter-regular"/>
              </a:rPr>
              <a:t>largest_val</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0" i="0" dirty="0" err="1">
                <a:solidFill>
                  <a:srgbClr val="000000"/>
                </a:solidFill>
                <a:effectLst/>
                <a:latin typeface="inter-regular"/>
              </a:rPr>
              <a:t>largest_val</a:t>
            </a:r>
            <a:r>
              <a:rPr lang="en-IN" b="0" i="0" dirty="0">
                <a:solidFill>
                  <a:srgbClr val="000000"/>
                </a:solidFill>
                <a:effectLst/>
                <a:latin typeface="inter-regular"/>
              </a:rPr>
              <a:t> =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for</a:t>
            </a:r>
            <a:r>
              <a:rPr lang="en-IN" b="0" i="0" dirty="0">
                <a:solidFill>
                  <a:srgbClr val="000000"/>
                </a:solidFill>
                <a:effectLst/>
                <a:latin typeface="inter-regular"/>
              </a:rPr>
              <a:t> </a:t>
            </a:r>
            <a:r>
              <a:rPr lang="en-IN" b="0" i="0" dirty="0" err="1">
                <a:solidFill>
                  <a:srgbClr val="000000"/>
                </a:solidFill>
                <a:effectLst/>
                <a:latin typeface="inter-regular"/>
              </a:rPr>
              <a:t>i</a:t>
            </a:r>
            <a:r>
              <a:rPr lang="en-IN" b="0" i="0" dirty="0">
                <a:solidFill>
                  <a:srgbClr val="000000"/>
                </a:solidFill>
                <a:effectLst/>
                <a:latin typeface="inter-regular"/>
              </a:rPr>
              <a:t> in range(</a:t>
            </a:r>
            <a:r>
              <a:rPr lang="en-IN" b="0" i="0" dirty="0" err="1">
                <a:solidFill>
                  <a:srgbClr val="000000"/>
                </a:solidFill>
                <a:effectLst/>
                <a:latin typeface="inter-regular"/>
              </a:rPr>
              <a:t>len</a:t>
            </a:r>
            <a:r>
              <a:rPr lang="en-IN" b="0" i="0" dirty="0">
                <a:solidFill>
                  <a:srgbClr val="000000"/>
                </a:solidFill>
                <a:effectLst/>
                <a:latin typeface="inter-regular"/>
              </a:rPr>
              <a:t>(</a:t>
            </a:r>
            <a:r>
              <a:rPr lang="en-IN" b="0" i="0" dirty="0" err="1">
                <a:solidFill>
                  <a:srgbClr val="000000"/>
                </a:solidFill>
                <a:effectLst/>
                <a:latin typeface="inter-regular"/>
              </a:rPr>
              <a:t>arr</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if</a:t>
            </a:r>
            <a:r>
              <a:rPr lang="en-IN" b="0" i="0" dirty="0">
                <a:solidFill>
                  <a:srgbClr val="000000"/>
                </a:solidFill>
                <a:effectLst/>
                <a:latin typeface="inter-regular"/>
              </a:rPr>
              <a:t>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&gt; </a:t>
            </a:r>
            <a:r>
              <a:rPr lang="en-IN" b="0" i="0" dirty="0" err="1">
                <a:solidFill>
                  <a:srgbClr val="000000"/>
                </a:solidFill>
                <a:effectLst/>
                <a:latin typeface="inter-regular"/>
              </a:rPr>
              <a:t>second_largest</a:t>
            </a:r>
            <a:r>
              <a:rPr lang="en-IN" b="0" i="0" dirty="0">
                <a:solidFill>
                  <a:srgbClr val="000000"/>
                </a:solidFill>
                <a:effectLst/>
                <a:latin typeface="inter-regular"/>
              </a:rPr>
              <a:t> and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 </a:t>
            </a:r>
            <a:r>
              <a:rPr lang="en-IN" b="0" i="0" dirty="0" err="1">
                <a:solidFill>
                  <a:srgbClr val="000000"/>
                </a:solidFill>
                <a:effectLst/>
                <a:latin typeface="inter-regular"/>
              </a:rPr>
              <a:t>largest_val</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0" i="0" dirty="0" err="1">
                <a:solidFill>
                  <a:srgbClr val="000000"/>
                </a:solidFill>
                <a:effectLst/>
                <a:latin typeface="inter-regular"/>
              </a:rPr>
              <a:t>second_largest</a:t>
            </a:r>
            <a:r>
              <a:rPr lang="en-IN" b="0" i="0" dirty="0">
                <a:solidFill>
                  <a:srgbClr val="000000"/>
                </a:solidFill>
                <a:effectLst/>
                <a:latin typeface="inter-regular"/>
              </a:rPr>
              <a:t> = </a:t>
            </a:r>
            <a:r>
              <a:rPr lang="en-IN" b="0" i="0" dirty="0" err="1">
                <a:solidFill>
                  <a:srgbClr val="000000"/>
                </a:solidFill>
                <a:effectLst/>
                <a:latin typeface="inter-regular"/>
              </a:rPr>
              <a:t>arr</a:t>
            </a:r>
            <a:r>
              <a:rPr lang="en-IN" b="0" i="0" dirty="0">
                <a:solidFill>
                  <a:srgbClr val="000000"/>
                </a:solidFill>
                <a:effectLst/>
                <a:latin typeface="inter-regular"/>
              </a:rPr>
              <a:t>[</a:t>
            </a:r>
            <a:r>
              <a:rPr lang="en-IN" b="0" i="0" dirty="0" err="1">
                <a:solidFill>
                  <a:srgbClr val="000000"/>
                </a:solidFill>
                <a:effectLst/>
                <a:latin typeface="inter-regular"/>
              </a:rPr>
              <a:t>i</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    </a:t>
            </a:r>
            <a:r>
              <a:rPr lang="en-IN" b="1" i="0" dirty="0">
                <a:solidFill>
                  <a:srgbClr val="006699"/>
                </a:solidFill>
                <a:effectLst/>
                <a:latin typeface="inter-regular"/>
              </a:rPr>
              <a:t>return</a:t>
            </a:r>
            <a:r>
              <a:rPr lang="en-IN" b="0" i="0" dirty="0">
                <a:solidFill>
                  <a:srgbClr val="000000"/>
                </a:solidFill>
                <a:effectLst/>
                <a:latin typeface="inter-regular"/>
              </a:rPr>
              <a:t> </a:t>
            </a:r>
            <a:r>
              <a:rPr lang="en-IN" b="0" i="0" dirty="0" err="1">
                <a:solidFill>
                  <a:srgbClr val="000000"/>
                </a:solidFill>
                <a:effectLst/>
                <a:latin typeface="inter-regular"/>
              </a:rPr>
              <a:t>second_largest</a:t>
            </a:r>
            <a:r>
              <a:rPr lang="en-IN" b="0" i="0" dirty="0">
                <a:solidFill>
                  <a:srgbClr val="000000"/>
                </a:solidFill>
                <a:effectLst/>
                <a:latin typeface="inter-regular"/>
              </a:rPr>
              <a:t>  </a:t>
            </a:r>
          </a:p>
          <a:p>
            <a:pPr algn="just">
              <a:buFont typeface="+mj-lt"/>
              <a:buAutoNum type="arabicPeriod"/>
            </a:pPr>
            <a:r>
              <a:rPr lang="en-IN" b="0" i="0" dirty="0">
                <a:solidFill>
                  <a:srgbClr val="000000"/>
                </a:solidFill>
                <a:effectLst/>
                <a:latin typeface="inter-regular"/>
              </a:rPr>
              <a:t>print(</a:t>
            </a:r>
            <a:r>
              <a:rPr lang="en-IN" b="0" i="0" dirty="0" err="1">
                <a:solidFill>
                  <a:srgbClr val="000000"/>
                </a:solidFill>
                <a:effectLst/>
                <a:latin typeface="inter-regular"/>
              </a:rPr>
              <a:t>calc_largest</a:t>
            </a:r>
            <a:r>
              <a:rPr lang="en-IN" b="0" i="0" dirty="0">
                <a:solidFill>
                  <a:srgbClr val="000000"/>
                </a:solidFill>
                <a:effectLst/>
                <a:latin typeface="inter-regular"/>
              </a:rPr>
              <a:t>([</a:t>
            </a:r>
            <a:r>
              <a:rPr lang="en-IN" b="0" i="0" dirty="0">
                <a:solidFill>
                  <a:srgbClr val="C00000"/>
                </a:solidFill>
                <a:effectLst/>
                <a:latin typeface="inter-regular"/>
              </a:rPr>
              <a:t>20</a:t>
            </a:r>
            <a:r>
              <a:rPr lang="en-IN" b="0" i="0" dirty="0">
                <a:solidFill>
                  <a:srgbClr val="000000"/>
                </a:solidFill>
                <a:effectLst/>
                <a:latin typeface="inter-regular"/>
              </a:rPr>
              <a:t>, </a:t>
            </a:r>
            <a:r>
              <a:rPr lang="en-IN" b="0" i="0" dirty="0">
                <a:solidFill>
                  <a:srgbClr val="C00000"/>
                </a:solidFill>
                <a:effectLst/>
                <a:latin typeface="inter-regular"/>
              </a:rPr>
              <a:t>30</a:t>
            </a:r>
            <a:r>
              <a:rPr lang="en-IN" b="0" i="0" dirty="0">
                <a:solidFill>
                  <a:srgbClr val="000000"/>
                </a:solidFill>
                <a:effectLst/>
                <a:latin typeface="inter-regular"/>
              </a:rPr>
              <a:t>, </a:t>
            </a:r>
            <a:r>
              <a:rPr lang="en-IN" b="0" i="0" dirty="0">
                <a:solidFill>
                  <a:srgbClr val="C00000"/>
                </a:solidFill>
                <a:effectLst/>
                <a:latin typeface="inter-regular"/>
              </a:rPr>
              <a:t>40</a:t>
            </a:r>
            <a:r>
              <a:rPr lang="en-IN" b="0" i="0" dirty="0">
                <a:solidFill>
                  <a:srgbClr val="000000"/>
                </a:solidFill>
                <a:effectLst/>
                <a:latin typeface="inter-regular"/>
              </a:rPr>
              <a:t>, </a:t>
            </a:r>
            <a:r>
              <a:rPr lang="en-IN" b="0" i="0" dirty="0">
                <a:solidFill>
                  <a:srgbClr val="C00000"/>
                </a:solidFill>
                <a:effectLst/>
                <a:latin typeface="inter-regular"/>
              </a:rPr>
              <a:t>25</a:t>
            </a:r>
            <a:r>
              <a:rPr lang="en-IN" b="0" i="0" dirty="0">
                <a:solidFill>
                  <a:srgbClr val="000000"/>
                </a:solidFill>
                <a:effectLst/>
                <a:latin typeface="inter-regular"/>
              </a:rPr>
              <a:t>, </a:t>
            </a:r>
            <a:r>
              <a:rPr lang="en-IN" b="0" i="0" dirty="0">
                <a:solidFill>
                  <a:srgbClr val="C00000"/>
                </a:solidFill>
                <a:effectLst/>
                <a:latin typeface="inter-regular"/>
              </a:rPr>
              <a:t>10</a:t>
            </a:r>
            <a:r>
              <a:rPr lang="en-IN" b="0" i="0" dirty="0">
                <a:solidFill>
                  <a:srgbClr val="000000"/>
                </a:solidFill>
                <a:effectLst/>
                <a:latin typeface="inter-regular"/>
              </a:rPr>
              <a:t>]))  </a:t>
            </a:r>
          </a:p>
          <a:p>
            <a:endParaRPr lang="en-US" dirty="0"/>
          </a:p>
        </p:txBody>
      </p:sp>
    </p:spTree>
    <p:extLst>
      <p:ext uri="{BB962C8B-B14F-4D97-AF65-F5344CB8AC3E}">
        <p14:creationId xmlns:p14="http://schemas.microsoft.com/office/powerpoint/2010/main" val="10228832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F3A42B-D70A-ABE4-DFA4-1FA3009184D7}"/>
              </a:ext>
            </a:extLst>
          </p:cNvPr>
          <p:cNvSpPr>
            <a:spLocks noGrp="1"/>
          </p:cNvSpPr>
          <p:nvPr>
            <p:ph type="title"/>
          </p:nvPr>
        </p:nvSpPr>
        <p:spPr>
          <a:xfrm>
            <a:off x="838200" y="365125"/>
            <a:ext cx="10515600" cy="759137"/>
          </a:xfrm>
        </p:spPr>
        <p:txBody>
          <a:bodyPr/>
          <a:lstStyle/>
          <a:p>
            <a:r>
              <a:rPr lang="en-US" u="sng" dirty="0"/>
              <a:t>Reverse string</a:t>
            </a:r>
          </a:p>
        </p:txBody>
      </p:sp>
      <p:sp>
        <p:nvSpPr>
          <p:cNvPr id="3" name="Content Placeholder 2">
            <a:extLst>
              <a:ext uri="{FF2B5EF4-FFF2-40B4-BE49-F238E27FC236}">
                <a16:creationId xmlns:a16="http://schemas.microsoft.com/office/drawing/2014/main" id="{8D84D868-A621-4CCD-931F-B3BE50963749}"/>
              </a:ext>
            </a:extLst>
          </p:cNvPr>
          <p:cNvSpPr>
            <a:spLocks noGrp="1"/>
          </p:cNvSpPr>
          <p:nvPr>
            <p:ph idx="1"/>
          </p:nvPr>
        </p:nvSpPr>
        <p:spPr/>
        <p:txBody>
          <a:bodyPr>
            <a:normAutofit fontScale="85000" lnSpcReduction="20000"/>
          </a:bodyPr>
          <a:lstStyle/>
          <a:p>
            <a:pPr algn="l">
              <a:buFont typeface="+mj-lt"/>
              <a:buAutoNum type="arabicPeriod"/>
            </a:pPr>
            <a:endParaRPr lang="en-IN" b="0" i="0" dirty="0">
              <a:effectLst/>
              <a:latin typeface="Söhne"/>
            </a:endParaRPr>
          </a:p>
          <a:p>
            <a:pPr marL="742950" lvl="1" indent="-285750" algn="l">
              <a:buFont typeface="+mj-lt"/>
              <a:buAutoNum type="arabicPeriod"/>
            </a:pPr>
            <a:r>
              <a:rPr lang="en-IN" b="0" i="0" dirty="0">
                <a:effectLst/>
                <a:latin typeface="Söhne"/>
              </a:rPr>
              <a:t>In the first iteration, 'N' is added to </a:t>
            </a:r>
            <a:r>
              <a:rPr lang="en-IN" b="0" i="0" dirty="0" err="1">
                <a:effectLst/>
                <a:latin typeface="Söhne"/>
              </a:rPr>
              <a:t>reversed_str</a:t>
            </a:r>
            <a:r>
              <a:rPr lang="en-IN" b="0" i="0" dirty="0">
                <a:effectLst/>
                <a:latin typeface="Söhne"/>
              </a:rPr>
              <a:t>.</a:t>
            </a:r>
          </a:p>
          <a:p>
            <a:pPr marL="742950" lvl="1" indent="-285750" algn="l">
              <a:buFont typeface="+mj-lt"/>
              <a:buAutoNum type="arabicPeriod"/>
            </a:pPr>
            <a:r>
              <a:rPr lang="en-IN" b="0" i="0" dirty="0">
                <a:effectLst/>
                <a:latin typeface="Söhne"/>
              </a:rPr>
              <a:t>In the second iteration, '</a:t>
            </a:r>
            <a:r>
              <a:rPr lang="en-IN" b="0" i="0" dirty="0" err="1">
                <a:effectLst/>
                <a:latin typeface="Söhne"/>
              </a:rPr>
              <a:t>i</a:t>
            </a:r>
            <a:r>
              <a:rPr lang="en-IN" b="0" i="0" dirty="0">
                <a:effectLst/>
                <a:latin typeface="Söhne"/>
              </a:rPr>
              <a:t>' is added before 'N' in </a:t>
            </a:r>
            <a:r>
              <a:rPr lang="en-IN" b="0" i="0" dirty="0" err="1">
                <a:effectLst/>
                <a:latin typeface="Söhne"/>
              </a:rPr>
              <a:t>reversed_str</a:t>
            </a:r>
            <a:r>
              <a:rPr lang="en-IN" b="0" i="0" dirty="0">
                <a:effectLst/>
                <a:latin typeface="Söhne"/>
              </a:rPr>
              <a:t>.</a:t>
            </a:r>
          </a:p>
          <a:p>
            <a:pPr marL="742950" lvl="1" indent="-285750" algn="l">
              <a:buFont typeface="+mj-lt"/>
              <a:buAutoNum type="arabicPeriod"/>
            </a:pPr>
            <a:r>
              <a:rPr lang="en-IN" b="0" i="0" dirty="0">
                <a:effectLst/>
                <a:latin typeface="Söhne"/>
              </a:rPr>
              <a:t>This process continues until all characters from </a:t>
            </a:r>
            <a:r>
              <a:rPr lang="en-IN" b="0" i="0" dirty="0" err="1">
                <a:effectLst/>
                <a:latin typeface="Söhne"/>
              </a:rPr>
              <a:t>my_string</a:t>
            </a:r>
            <a:r>
              <a:rPr lang="en-IN" b="0" i="0" dirty="0">
                <a:effectLst/>
                <a:latin typeface="Söhne"/>
              </a:rPr>
              <a:t> are added to </a:t>
            </a:r>
            <a:r>
              <a:rPr lang="en-IN" b="0" i="0" dirty="0" err="1">
                <a:effectLst/>
                <a:latin typeface="Söhne"/>
              </a:rPr>
              <a:t>reversed_str</a:t>
            </a:r>
            <a:r>
              <a:rPr lang="en-IN" b="0" i="0" dirty="0">
                <a:effectLst/>
                <a:latin typeface="Söhne"/>
              </a:rPr>
              <a:t> in reverse order.</a:t>
            </a:r>
          </a:p>
          <a:p>
            <a:r>
              <a:rPr lang="en-IN" dirty="0" err="1"/>
              <a:t>my_string</a:t>
            </a:r>
            <a:r>
              <a:rPr lang="en-IN" dirty="0"/>
              <a:t>=("Nitesh Jhawar")</a:t>
            </a:r>
          </a:p>
          <a:p>
            <a:r>
              <a:rPr lang="en-IN" dirty="0"/>
              <a:t>str=""</a:t>
            </a:r>
          </a:p>
          <a:p>
            <a:r>
              <a:rPr lang="en-IN" dirty="0"/>
              <a:t>for </a:t>
            </a:r>
            <a:r>
              <a:rPr lang="en-IN" dirty="0" err="1"/>
              <a:t>i</a:t>
            </a:r>
            <a:r>
              <a:rPr lang="en-IN" dirty="0"/>
              <a:t> in </a:t>
            </a:r>
            <a:r>
              <a:rPr lang="en-IN" dirty="0" err="1"/>
              <a:t>my_string</a:t>
            </a:r>
            <a:r>
              <a:rPr lang="en-IN" dirty="0"/>
              <a:t>:</a:t>
            </a:r>
          </a:p>
          <a:p>
            <a:r>
              <a:rPr lang="en-IN" dirty="0"/>
              <a:t>str=</a:t>
            </a:r>
            <a:r>
              <a:rPr lang="en-IN" dirty="0" err="1"/>
              <a:t>i+str</a:t>
            </a:r>
            <a:endParaRPr lang="en-IN" dirty="0"/>
          </a:p>
          <a:p>
            <a:r>
              <a:rPr lang="en-IN" dirty="0"/>
              <a:t>print("Reversed </a:t>
            </a:r>
            <a:r>
              <a:rPr lang="en-IN" dirty="0" err="1"/>
              <a:t>string:",str</a:t>
            </a:r>
            <a:r>
              <a:rPr lang="en-IN" dirty="0"/>
              <a:t>)</a:t>
            </a:r>
          </a:p>
          <a:p>
            <a:r>
              <a:rPr lang="en-IN" dirty="0"/>
              <a:t>i-1-&gt;str=N+0</a:t>
            </a:r>
          </a:p>
          <a:p>
            <a:r>
              <a:rPr lang="en-IN" dirty="0"/>
              <a:t>i-2&gt;str=</a:t>
            </a:r>
            <a:r>
              <a:rPr lang="en-IN" dirty="0" err="1"/>
              <a:t>i+N</a:t>
            </a:r>
            <a:br>
              <a:rPr lang="en-IN" dirty="0"/>
            </a:br>
            <a:endParaRPr lang="en-US" dirty="0"/>
          </a:p>
        </p:txBody>
      </p:sp>
    </p:spTree>
    <p:extLst>
      <p:ext uri="{BB962C8B-B14F-4D97-AF65-F5344CB8AC3E}">
        <p14:creationId xmlns:p14="http://schemas.microsoft.com/office/powerpoint/2010/main" val="334033163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39EA6B-4E8C-02FD-8AF3-F28B18ADD544}"/>
              </a:ext>
            </a:extLst>
          </p:cNvPr>
          <p:cNvSpPr>
            <a:spLocks noGrp="1"/>
          </p:cNvSpPr>
          <p:nvPr>
            <p:ph type="title"/>
          </p:nvPr>
        </p:nvSpPr>
        <p:spPr/>
        <p:txBody>
          <a:bodyPr/>
          <a:lstStyle/>
          <a:p>
            <a:r>
              <a:rPr lang="en-US" u="sng" dirty="0"/>
              <a:t>Question</a:t>
            </a:r>
          </a:p>
        </p:txBody>
      </p:sp>
      <p:sp>
        <p:nvSpPr>
          <p:cNvPr id="3" name="Content Placeholder 2">
            <a:extLst>
              <a:ext uri="{FF2B5EF4-FFF2-40B4-BE49-F238E27FC236}">
                <a16:creationId xmlns:a16="http://schemas.microsoft.com/office/drawing/2014/main" id="{53503BB5-FC16-7AE1-8F11-E94910310878}"/>
              </a:ext>
            </a:extLst>
          </p:cNvPr>
          <p:cNvSpPr>
            <a:spLocks noGrp="1"/>
          </p:cNvSpPr>
          <p:nvPr>
            <p:ph idx="1"/>
          </p:nvPr>
        </p:nvSpPr>
        <p:spPr/>
        <p:txBody>
          <a:bodyPr/>
          <a:lstStyle/>
          <a:p>
            <a:r>
              <a:rPr lang="en-US" dirty="0"/>
              <a:t>d = {"name": "hello"}</a:t>
            </a:r>
          </a:p>
          <a:p>
            <a:r>
              <a:rPr lang="en-IN" dirty="0" err="1">
                <a:effectLst/>
                <a:latin typeface="Helvetica Neue" panose="02000503000000020004" pitchFamily="2" charset="0"/>
              </a:rPr>
              <a:t>Output-n:hello,a:hello,m:hello,e:hello</a:t>
            </a:r>
            <a:endParaRPr lang="en-IN" dirty="0">
              <a:effectLst/>
              <a:latin typeface="Helvetica Neue" panose="02000503000000020004" pitchFamily="2" charset="0"/>
            </a:endParaRPr>
          </a:p>
          <a:p>
            <a:endParaRPr lang="en-US" dirty="0"/>
          </a:p>
          <a:p>
            <a:r>
              <a:rPr lang="en-US" dirty="0" err="1"/>
              <a:t>result_str</a:t>
            </a:r>
            <a:r>
              <a:rPr lang="en-US" dirty="0"/>
              <a:t> = ",".join(f"{char}:{d['name']}" for char in "name")</a:t>
            </a:r>
          </a:p>
          <a:p>
            <a:endParaRPr lang="en-US" dirty="0"/>
          </a:p>
          <a:p>
            <a:r>
              <a:rPr lang="en-US" dirty="0"/>
              <a:t>print(</a:t>
            </a:r>
            <a:r>
              <a:rPr lang="en-US" dirty="0" err="1"/>
              <a:t>result_str</a:t>
            </a:r>
            <a:r>
              <a:rPr lang="en-US" dirty="0"/>
              <a:t>)</a:t>
            </a:r>
          </a:p>
          <a:p>
            <a:endParaRPr lang="en-US" dirty="0"/>
          </a:p>
        </p:txBody>
      </p:sp>
    </p:spTree>
    <p:extLst>
      <p:ext uri="{BB962C8B-B14F-4D97-AF65-F5344CB8AC3E}">
        <p14:creationId xmlns:p14="http://schemas.microsoft.com/office/powerpoint/2010/main" val="664536841"/>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BE997F-37A4-7FF3-28E9-0E04D49CE519}"/>
              </a:ext>
            </a:extLst>
          </p:cNvPr>
          <p:cNvSpPr>
            <a:spLocks noGrp="1"/>
          </p:cNvSpPr>
          <p:nvPr>
            <p:ph type="title"/>
          </p:nvPr>
        </p:nvSpPr>
        <p:spPr/>
        <p:txBody>
          <a:bodyPr/>
          <a:lstStyle/>
          <a:p>
            <a:r>
              <a:rPr lang="en-US" u="sng" dirty="0"/>
              <a:t>Print only numbers in list</a:t>
            </a:r>
          </a:p>
        </p:txBody>
      </p:sp>
      <p:pic>
        <p:nvPicPr>
          <p:cNvPr id="5" name="Content Placeholder 4" descr="A screenshot of a phone&#10;&#10;Description automatically generated">
            <a:extLst>
              <a:ext uri="{FF2B5EF4-FFF2-40B4-BE49-F238E27FC236}">
                <a16:creationId xmlns:a16="http://schemas.microsoft.com/office/drawing/2014/main" id="{41E25A6B-5EE8-A0A0-0F56-26B545AC42F0}"/>
              </a:ext>
            </a:extLst>
          </p:cNvPr>
          <p:cNvPicPr>
            <a:picLocks noGrp="1" noChangeAspect="1"/>
          </p:cNvPicPr>
          <p:nvPr>
            <p:ph idx="1"/>
          </p:nvPr>
        </p:nvPicPr>
        <p:blipFill>
          <a:blip r:embed="rId2"/>
          <a:stretch>
            <a:fillRect/>
          </a:stretch>
        </p:blipFill>
        <p:spPr>
          <a:xfrm>
            <a:off x="974361" y="1825624"/>
            <a:ext cx="8186572" cy="4433879"/>
          </a:xfrm>
        </p:spPr>
      </p:pic>
    </p:spTree>
    <p:extLst>
      <p:ext uri="{BB962C8B-B14F-4D97-AF65-F5344CB8AC3E}">
        <p14:creationId xmlns:p14="http://schemas.microsoft.com/office/powerpoint/2010/main" val="14481971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D09942-FE7C-634E-DEDE-C00C0E09DC88}"/>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dirty="0"/>
              <a:t>Functional Interfaces</a:t>
            </a:r>
          </a:p>
        </p:txBody>
      </p:sp>
      <p:pic>
        <p:nvPicPr>
          <p:cNvPr id="7" name="Picture 6" descr="A screenshot of a computer code&#10;&#10;Description automatically generated">
            <a:extLst>
              <a:ext uri="{FF2B5EF4-FFF2-40B4-BE49-F238E27FC236}">
                <a16:creationId xmlns:a16="http://schemas.microsoft.com/office/drawing/2014/main" id="{2923CC2A-DBC1-77EE-54D2-D7C8AF768BBE}"/>
              </a:ext>
            </a:extLst>
          </p:cNvPr>
          <p:cNvPicPr>
            <a:picLocks noChangeAspect="1"/>
          </p:cNvPicPr>
          <p:nvPr/>
        </p:nvPicPr>
        <p:blipFill>
          <a:blip r:embed="rId2"/>
          <a:stretch>
            <a:fillRect/>
          </a:stretch>
        </p:blipFill>
        <p:spPr>
          <a:xfrm>
            <a:off x="720089" y="2236143"/>
            <a:ext cx="4999883" cy="3874676"/>
          </a:xfrm>
          <a:prstGeom prst="rect">
            <a:avLst/>
          </a:prstGeom>
        </p:spPr>
      </p:pic>
      <p:pic>
        <p:nvPicPr>
          <p:cNvPr id="5" name="Content Placeholder 4" descr="A close-up of text&#10;&#10;Description automatically generated">
            <a:extLst>
              <a:ext uri="{FF2B5EF4-FFF2-40B4-BE49-F238E27FC236}">
                <a16:creationId xmlns:a16="http://schemas.microsoft.com/office/drawing/2014/main" id="{784F57A7-4E9C-C614-81C2-3CDD4A260F12}"/>
              </a:ext>
            </a:extLst>
          </p:cNvPr>
          <p:cNvPicPr>
            <a:picLocks noGrp="1" noChangeAspect="1"/>
          </p:cNvPicPr>
          <p:nvPr>
            <p:ph idx="1"/>
          </p:nvPr>
        </p:nvPicPr>
        <p:blipFill>
          <a:blip r:embed="rId3"/>
          <a:stretch>
            <a:fillRect/>
          </a:stretch>
        </p:blipFill>
        <p:spPr>
          <a:xfrm>
            <a:off x="6459345" y="3410901"/>
            <a:ext cx="5551421" cy="1973900"/>
          </a:xfrm>
          <a:prstGeom prst="rect">
            <a:avLst/>
          </a:prstGeom>
        </p:spPr>
      </p:pic>
    </p:spTree>
    <p:extLst>
      <p:ext uri="{BB962C8B-B14F-4D97-AF65-F5344CB8AC3E}">
        <p14:creationId xmlns:p14="http://schemas.microsoft.com/office/powerpoint/2010/main" val="159946281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17A3FC-847E-FDB6-8AA0-3A278F685AC2}"/>
              </a:ext>
            </a:extLst>
          </p:cNvPr>
          <p:cNvSpPr>
            <a:spLocks noGrp="1"/>
          </p:cNvSpPr>
          <p:nvPr>
            <p:ph type="title"/>
          </p:nvPr>
        </p:nvSpPr>
        <p:spPr/>
        <p:txBody>
          <a:bodyPr/>
          <a:lstStyle/>
          <a:p>
            <a:r>
              <a:rPr lang="en-US" u="sng" dirty="0"/>
              <a:t>Lambda Expression</a:t>
            </a:r>
          </a:p>
        </p:txBody>
      </p:sp>
      <p:sp>
        <p:nvSpPr>
          <p:cNvPr id="3" name="Content Placeholder 2">
            <a:extLst>
              <a:ext uri="{FF2B5EF4-FFF2-40B4-BE49-F238E27FC236}">
                <a16:creationId xmlns:a16="http://schemas.microsoft.com/office/drawing/2014/main" id="{277B06C1-F951-A393-F8CF-DB6608003E90}"/>
              </a:ext>
            </a:extLst>
          </p:cNvPr>
          <p:cNvSpPr>
            <a:spLocks noGrp="1"/>
          </p:cNvSpPr>
          <p:nvPr>
            <p:ph idx="1"/>
          </p:nvPr>
        </p:nvSpPr>
        <p:spPr/>
        <p:txBody>
          <a:bodyPr>
            <a:normAutofit fontScale="92500" lnSpcReduction="10000"/>
          </a:bodyPr>
          <a:lstStyle/>
          <a:p>
            <a:pPr algn="just"/>
            <a:r>
              <a:rPr lang="en-IN" b="0" i="0" dirty="0">
                <a:solidFill>
                  <a:srgbClr val="610B38"/>
                </a:solidFill>
                <a:effectLst/>
                <a:latin typeface="erdana"/>
              </a:rPr>
              <a:t>Why use Lambda Expression</a:t>
            </a:r>
          </a:p>
          <a:p>
            <a:pPr algn="just">
              <a:buFont typeface="+mj-lt"/>
              <a:buAutoNum type="arabicPeriod"/>
            </a:pPr>
            <a:r>
              <a:rPr lang="en-IN" b="0" i="0" dirty="0">
                <a:solidFill>
                  <a:srgbClr val="000000"/>
                </a:solidFill>
                <a:effectLst/>
                <a:latin typeface="inter-regular"/>
              </a:rPr>
              <a:t>To provide the implementation of Functional interface.</a:t>
            </a:r>
          </a:p>
          <a:p>
            <a:pPr algn="just">
              <a:buFont typeface="+mj-lt"/>
              <a:buAutoNum type="arabicPeriod"/>
            </a:pPr>
            <a:r>
              <a:rPr lang="en-IN" b="0" i="0" dirty="0">
                <a:solidFill>
                  <a:srgbClr val="000000"/>
                </a:solidFill>
                <a:effectLst/>
                <a:latin typeface="inter-regular"/>
              </a:rPr>
              <a:t>Less coding.</a:t>
            </a:r>
          </a:p>
          <a:p>
            <a:pPr algn="just">
              <a:buFont typeface="+mj-lt"/>
              <a:buAutoNum type="arabicPeriod"/>
            </a:pPr>
            <a:r>
              <a:rPr lang="en-IN" b="0" i="0" dirty="0">
                <a:solidFill>
                  <a:srgbClr val="000000"/>
                </a:solidFill>
                <a:effectLst/>
                <a:latin typeface="inter-regular"/>
              </a:rPr>
              <a:t>(argument-list) -&gt; {body}  </a:t>
            </a:r>
          </a:p>
          <a:p>
            <a:r>
              <a:rPr lang="en-IN" b="0" i="0" dirty="0">
                <a:solidFill>
                  <a:srgbClr val="000000"/>
                </a:solidFill>
                <a:effectLst/>
                <a:latin typeface="Verdana" panose="020B0604030504040204" pitchFamily="34" charset="0"/>
              </a:rPr>
              <a:t>A lambda expression is a short block of code which takes in parameters o no params and returns a value.</a:t>
            </a:r>
          </a:p>
          <a:p>
            <a:r>
              <a:rPr lang="en-IN" b="0" i="0" dirty="0">
                <a:solidFill>
                  <a:srgbClr val="000000"/>
                </a:solidFill>
                <a:effectLst/>
                <a:latin typeface="Verdana" panose="020B0604030504040204" pitchFamily="34" charset="0"/>
              </a:rPr>
              <a:t>Lambda expressions are similar to methods, but they do not need a name and they can be implemented right in the body of a method.</a:t>
            </a:r>
            <a:br>
              <a:rPr lang="en-IN" dirty="0"/>
            </a:br>
            <a:br>
              <a:rPr lang="en-IN" dirty="0"/>
            </a:br>
            <a:endParaRPr lang="en-US" dirty="0"/>
          </a:p>
        </p:txBody>
      </p:sp>
    </p:spTree>
    <p:extLst>
      <p:ext uri="{BB962C8B-B14F-4D97-AF65-F5344CB8AC3E}">
        <p14:creationId xmlns:p14="http://schemas.microsoft.com/office/powerpoint/2010/main" val="38988365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D63B594-870F-C34E-F408-E98031A1C498}"/>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u="sng"/>
              <a:t>Lambda Expression</a:t>
            </a:r>
            <a:endParaRPr lang="en-US" sz="6600"/>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computer screen with text on it&#10;&#10;Description automatically generated">
            <a:extLst>
              <a:ext uri="{FF2B5EF4-FFF2-40B4-BE49-F238E27FC236}">
                <a16:creationId xmlns:a16="http://schemas.microsoft.com/office/drawing/2014/main" id="{411AAE14-7F30-A7FE-BD6D-EDE8D013C722}"/>
              </a:ext>
            </a:extLst>
          </p:cNvPr>
          <p:cNvPicPr>
            <a:picLocks noChangeAspect="1"/>
          </p:cNvPicPr>
          <p:nvPr/>
        </p:nvPicPr>
        <p:blipFill>
          <a:blip r:embed="rId2"/>
          <a:stretch>
            <a:fillRect/>
          </a:stretch>
        </p:blipFill>
        <p:spPr>
          <a:xfrm>
            <a:off x="320040" y="2656276"/>
            <a:ext cx="5614416" cy="3031421"/>
          </a:xfrm>
          <a:prstGeom prst="rect">
            <a:avLst/>
          </a:prstGeom>
        </p:spPr>
      </p:pic>
      <p:pic>
        <p:nvPicPr>
          <p:cNvPr id="5" name="Content Placeholder 4" descr="A screenshot of a computer program&#10;&#10;Description automatically generated">
            <a:extLst>
              <a:ext uri="{FF2B5EF4-FFF2-40B4-BE49-F238E27FC236}">
                <a16:creationId xmlns:a16="http://schemas.microsoft.com/office/drawing/2014/main" id="{8C1B1022-93C2-CE25-08CE-28223F670D61}"/>
              </a:ext>
            </a:extLst>
          </p:cNvPr>
          <p:cNvPicPr>
            <a:picLocks noGrp="1" noChangeAspect="1"/>
          </p:cNvPicPr>
          <p:nvPr>
            <p:ph idx="1"/>
          </p:nvPr>
        </p:nvPicPr>
        <p:blipFill>
          <a:blip r:embed="rId3"/>
          <a:stretch>
            <a:fillRect/>
          </a:stretch>
        </p:blipFill>
        <p:spPr>
          <a:xfrm>
            <a:off x="6254496" y="2878667"/>
            <a:ext cx="5614416" cy="2654634"/>
          </a:xfrm>
          <a:prstGeom prst="rect">
            <a:avLst/>
          </a:prstGeom>
        </p:spPr>
      </p:pic>
    </p:spTree>
    <p:extLst>
      <p:ext uri="{BB962C8B-B14F-4D97-AF65-F5344CB8AC3E}">
        <p14:creationId xmlns:p14="http://schemas.microsoft.com/office/powerpoint/2010/main" val="103978705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B3C8B-D9F5-C47B-4BD6-B8E350B24249}"/>
              </a:ext>
            </a:extLst>
          </p:cNvPr>
          <p:cNvSpPr>
            <a:spLocks noGrp="1"/>
          </p:cNvSpPr>
          <p:nvPr>
            <p:ph type="title"/>
          </p:nvPr>
        </p:nvSpPr>
        <p:spPr/>
        <p:txBody>
          <a:bodyPr/>
          <a:lstStyle/>
          <a:p>
            <a:r>
              <a:rPr lang="en-US" u="sng" dirty="0"/>
              <a:t>Java-8</a:t>
            </a:r>
          </a:p>
        </p:txBody>
      </p:sp>
      <p:sp>
        <p:nvSpPr>
          <p:cNvPr id="3" name="Content Placeholder 2">
            <a:extLst>
              <a:ext uri="{FF2B5EF4-FFF2-40B4-BE49-F238E27FC236}">
                <a16:creationId xmlns:a16="http://schemas.microsoft.com/office/drawing/2014/main" id="{96D5CFB6-D3C7-8895-BC48-6F4EBC9415D4}"/>
              </a:ext>
            </a:extLst>
          </p:cNvPr>
          <p:cNvSpPr>
            <a:spLocks noGrp="1"/>
          </p:cNvSpPr>
          <p:nvPr>
            <p:ph idx="1"/>
          </p:nvPr>
        </p:nvSpPr>
        <p:spPr/>
        <p:txBody>
          <a:bodyPr>
            <a:normAutofit lnSpcReduction="10000"/>
          </a:bodyPr>
          <a:lstStyle/>
          <a:p>
            <a:r>
              <a:rPr lang="en-IN" b="0" i="0" dirty="0">
                <a:effectLst/>
              </a:rPr>
              <a:t>In Java, a functional interface is an interface that has only one abstract method. These interfaces are also known as Single Abstract Method (SAM) interfaces</a:t>
            </a:r>
          </a:p>
          <a:p>
            <a:pPr algn="l">
              <a:buFont typeface="+mj-lt"/>
              <a:buAutoNum type="arabicPeriod"/>
            </a:pPr>
            <a:r>
              <a:rPr lang="en-IN" b="1" i="0" dirty="0">
                <a:effectLst/>
                <a:latin typeface="Söhne"/>
              </a:rPr>
              <a:t>Single Abstract Method (SAM):</a:t>
            </a:r>
            <a:r>
              <a:rPr lang="en-IN" b="0" i="0" dirty="0">
                <a:effectLst/>
                <a:latin typeface="Söhne"/>
              </a:rPr>
              <a:t> A functional interface must have exactly one abstract method. It can have any number of default or static methods, but only one abstract method.</a:t>
            </a:r>
          </a:p>
          <a:p>
            <a:pPr algn="l">
              <a:buFont typeface="+mj-lt"/>
              <a:buAutoNum type="arabicPeriod"/>
            </a:pPr>
            <a:r>
              <a:rPr lang="en-IN" b="1" i="0" dirty="0">
                <a:effectLst/>
                <a:latin typeface="Söhne"/>
              </a:rPr>
              <a:t>Lambda Expression Compatibility:</a:t>
            </a:r>
            <a:r>
              <a:rPr lang="en-IN" b="0" i="0" dirty="0">
                <a:effectLst/>
                <a:latin typeface="Söhne"/>
              </a:rPr>
              <a:t> Functional interfaces are designed to work seamlessly with lambda expressions. You can use a lambda expression to implement the single abstract method of a functional interface, providing a more concise way to create instances of the interface.</a:t>
            </a:r>
          </a:p>
          <a:p>
            <a:endParaRPr lang="en-US" dirty="0"/>
          </a:p>
        </p:txBody>
      </p:sp>
    </p:spTree>
    <p:extLst>
      <p:ext uri="{BB962C8B-B14F-4D97-AF65-F5344CB8AC3E}">
        <p14:creationId xmlns:p14="http://schemas.microsoft.com/office/powerpoint/2010/main" val="38118573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C10C2-2F4F-B08C-A1A5-08EB0DD91719}"/>
              </a:ext>
            </a:extLst>
          </p:cNvPr>
          <p:cNvSpPr>
            <a:spLocks noGrp="1"/>
          </p:cNvSpPr>
          <p:nvPr>
            <p:ph type="title"/>
          </p:nvPr>
        </p:nvSpPr>
        <p:spPr/>
        <p:txBody>
          <a:bodyPr/>
          <a:lstStyle/>
          <a:p>
            <a:r>
              <a:rPr lang="en-US" u="sng" dirty="0"/>
              <a:t>Java-8</a:t>
            </a:r>
            <a:endParaRPr lang="en-US" dirty="0"/>
          </a:p>
        </p:txBody>
      </p:sp>
      <p:sp>
        <p:nvSpPr>
          <p:cNvPr id="3" name="Content Placeholder 2">
            <a:extLst>
              <a:ext uri="{FF2B5EF4-FFF2-40B4-BE49-F238E27FC236}">
                <a16:creationId xmlns:a16="http://schemas.microsoft.com/office/drawing/2014/main" id="{5D507150-4522-F0BF-CDB4-44D7295C9316}"/>
              </a:ext>
            </a:extLst>
          </p:cNvPr>
          <p:cNvSpPr>
            <a:spLocks noGrp="1"/>
          </p:cNvSpPr>
          <p:nvPr>
            <p:ph idx="1"/>
          </p:nvPr>
        </p:nvSpPr>
        <p:spPr/>
        <p:txBody>
          <a:bodyPr>
            <a:normAutofit fontScale="92500" lnSpcReduction="20000"/>
          </a:bodyPr>
          <a:lstStyle/>
          <a:p>
            <a:r>
              <a:rPr lang="en-IN" b="0" i="0" dirty="0">
                <a:effectLst/>
              </a:rPr>
              <a:t>In Java 8, lambda expressions were introduced as a way to write more concise and expressive code for working with functional interfaces (interfaces with a single abstract method). Lambda expressions allow you to define inline, anonymous functions without the need to create a separate class or method.</a:t>
            </a:r>
          </a:p>
          <a:p>
            <a:r>
              <a:rPr lang="en-US" dirty="0"/>
              <a:t>(parameters) -&gt; expression</a:t>
            </a:r>
          </a:p>
          <a:p>
            <a:r>
              <a:rPr lang="en-US" dirty="0"/>
              <a:t>Using a lambda expression to define a Comparator for sorting strings in descending order</a:t>
            </a:r>
          </a:p>
          <a:p>
            <a:r>
              <a:rPr lang="en-US" dirty="0"/>
              <a:t>Comparator&lt;String&gt; </a:t>
            </a:r>
            <a:r>
              <a:rPr lang="en-US" dirty="0" err="1"/>
              <a:t>descendingOrder</a:t>
            </a:r>
            <a:r>
              <a:rPr lang="en-US" dirty="0"/>
              <a:t> = (s1, s2) -&gt; s2.compareTo(s1);</a:t>
            </a:r>
          </a:p>
          <a:p>
            <a:r>
              <a:rPr lang="en-US" dirty="0"/>
              <a:t>List&lt;String&gt; names = </a:t>
            </a:r>
            <a:r>
              <a:rPr lang="en-US" dirty="0" err="1"/>
              <a:t>Arrays.asList</a:t>
            </a:r>
            <a:r>
              <a:rPr lang="en-US" dirty="0"/>
              <a:t>("Alice", "Bob", "Charlie", "David");</a:t>
            </a:r>
          </a:p>
          <a:p>
            <a:r>
              <a:rPr lang="en-US" dirty="0" err="1"/>
              <a:t>names.sort</a:t>
            </a:r>
            <a:r>
              <a:rPr lang="en-US" dirty="0"/>
              <a:t>(</a:t>
            </a:r>
            <a:r>
              <a:rPr lang="en-US" dirty="0" err="1"/>
              <a:t>descendingOrder</a:t>
            </a:r>
            <a:r>
              <a:rPr lang="en-US" dirty="0"/>
              <a:t>);</a:t>
            </a:r>
          </a:p>
          <a:p>
            <a:r>
              <a:rPr lang="en-US" dirty="0" err="1"/>
              <a:t>System.out.println</a:t>
            </a:r>
            <a:r>
              <a:rPr lang="en-US" dirty="0"/>
              <a:t>(names); // Output: [David, Charlie, Bob, Alice]</a:t>
            </a:r>
          </a:p>
          <a:p>
            <a:endParaRPr lang="en-US" dirty="0"/>
          </a:p>
          <a:p>
            <a:endParaRPr lang="en-US" dirty="0"/>
          </a:p>
        </p:txBody>
      </p:sp>
    </p:spTree>
    <p:extLst>
      <p:ext uri="{BB962C8B-B14F-4D97-AF65-F5344CB8AC3E}">
        <p14:creationId xmlns:p14="http://schemas.microsoft.com/office/powerpoint/2010/main" val="294349448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211CD9-64BA-B142-2A11-881DAF0B5696}"/>
              </a:ext>
            </a:extLst>
          </p:cNvPr>
          <p:cNvSpPr>
            <a:spLocks noGrp="1"/>
          </p:cNvSpPr>
          <p:nvPr>
            <p:ph type="title"/>
          </p:nvPr>
        </p:nvSpPr>
        <p:spPr>
          <a:xfrm>
            <a:off x="838200" y="365126"/>
            <a:ext cx="10515600" cy="669196"/>
          </a:xfrm>
        </p:spPr>
        <p:txBody>
          <a:bodyPr>
            <a:normAutofit fontScale="90000"/>
          </a:bodyPr>
          <a:lstStyle/>
          <a:p>
            <a:r>
              <a:rPr lang="en-US" u="sng" dirty="0"/>
              <a:t>Abstraction</a:t>
            </a:r>
            <a:endParaRPr lang="en-US" dirty="0"/>
          </a:p>
        </p:txBody>
      </p:sp>
      <p:sp>
        <p:nvSpPr>
          <p:cNvPr id="3" name="Content Placeholder 2">
            <a:extLst>
              <a:ext uri="{FF2B5EF4-FFF2-40B4-BE49-F238E27FC236}">
                <a16:creationId xmlns:a16="http://schemas.microsoft.com/office/drawing/2014/main" id="{0CF342F8-180F-9AB2-3874-C836D99C3819}"/>
              </a:ext>
            </a:extLst>
          </p:cNvPr>
          <p:cNvSpPr>
            <a:spLocks noGrp="1"/>
          </p:cNvSpPr>
          <p:nvPr>
            <p:ph idx="1"/>
          </p:nvPr>
        </p:nvSpPr>
        <p:spPr>
          <a:xfrm>
            <a:off x="389744" y="1199213"/>
            <a:ext cx="10964056" cy="4977750"/>
          </a:xfrm>
        </p:spPr>
        <p:txBody>
          <a:bodyPr/>
          <a:lstStyle/>
          <a:p>
            <a:r>
              <a:rPr lang="en-US" u="sng" dirty="0"/>
              <a:t>Syntax For Array</a:t>
            </a:r>
          </a:p>
          <a:p>
            <a:r>
              <a:rPr lang="en-US" dirty="0" err="1"/>
              <a:t>dataType</a:t>
            </a:r>
            <a:r>
              <a:rPr lang="en-US" dirty="0"/>
              <a:t>[] </a:t>
            </a:r>
            <a:r>
              <a:rPr lang="en-US" dirty="0" err="1"/>
              <a:t>arrayName</a:t>
            </a:r>
            <a:r>
              <a:rPr lang="en-US" dirty="0"/>
              <a:t> = new </a:t>
            </a:r>
            <a:r>
              <a:rPr lang="en-US" dirty="0" err="1"/>
              <a:t>dataType</a:t>
            </a:r>
            <a:r>
              <a:rPr lang="en-US" dirty="0"/>
              <a:t>[size];</a:t>
            </a:r>
          </a:p>
          <a:p>
            <a:r>
              <a:rPr lang="en-US" u="sng" dirty="0"/>
              <a:t>Abstraction</a:t>
            </a:r>
          </a:p>
          <a:p>
            <a:r>
              <a:rPr lang="en-IN" b="0" i="0" dirty="0">
                <a:effectLst/>
                <a:latin typeface="inter-regular"/>
              </a:rPr>
              <a:t>In object oriented programming, abstraction is defined as hiding the unnecessary details (implementation) from the user and to focus on essential details (functionality). </a:t>
            </a:r>
          </a:p>
          <a:p>
            <a:r>
              <a:rPr lang="en-IN" u="sng" dirty="0">
                <a:latin typeface="inter-regular"/>
              </a:rPr>
              <a:t>For loop</a:t>
            </a:r>
          </a:p>
          <a:p>
            <a:r>
              <a:rPr lang="en-IN" dirty="0">
                <a:solidFill>
                  <a:srgbClr val="0077AA"/>
                </a:solidFill>
                <a:effectLst/>
              </a:rPr>
              <a:t>for</a:t>
            </a:r>
            <a:r>
              <a:rPr lang="en-IN" dirty="0"/>
              <a:t> </a:t>
            </a:r>
            <a:r>
              <a:rPr lang="en-IN" dirty="0">
                <a:solidFill>
                  <a:srgbClr val="999999"/>
                </a:solidFill>
                <a:effectLst/>
              </a:rPr>
              <a:t>(</a:t>
            </a:r>
            <a:r>
              <a:rPr lang="en-IN" dirty="0">
                <a:solidFill>
                  <a:srgbClr val="0077AA"/>
                </a:solidFill>
                <a:effectLst/>
              </a:rPr>
              <a:t>int</a:t>
            </a:r>
            <a:r>
              <a:rPr lang="en-IN" dirty="0"/>
              <a:t> </a:t>
            </a:r>
            <a:r>
              <a:rPr lang="en-IN" dirty="0" err="1"/>
              <a:t>i</a:t>
            </a:r>
            <a:r>
              <a:rPr lang="en-IN" dirty="0"/>
              <a:t> </a:t>
            </a:r>
            <a:r>
              <a:rPr lang="en-IN" dirty="0">
                <a:solidFill>
                  <a:srgbClr val="9A6E3A"/>
                </a:solidFill>
                <a:effectLst/>
              </a:rPr>
              <a:t>=</a:t>
            </a:r>
            <a:r>
              <a:rPr lang="en-IN" dirty="0"/>
              <a:t> </a:t>
            </a:r>
            <a:r>
              <a:rPr lang="en-IN" dirty="0">
                <a:solidFill>
                  <a:srgbClr val="990055"/>
                </a:solidFill>
                <a:effectLst/>
              </a:rPr>
              <a:t>0</a:t>
            </a:r>
            <a:r>
              <a:rPr lang="en-IN" dirty="0">
                <a:solidFill>
                  <a:srgbClr val="999999"/>
                </a:solidFill>
                <a:effectLst/>
              </a:rPr>
              <a:t>;</a:t>
            </a:r>
            <a:r>
              <a:rPr lang="en-IN" dirty="0"/>
              <a:t> </a:t>
            </a:r>
            <a:r>
              <a:rPr lang="en-IN" dirty="0" err="1"/>
              <a:t>i</a:t>
            </a:r>
            <a:r>
              <a:rPr lang="en-IN" dirty="0"/>
              <a:t> </a:t>
            </a:r>
            <a:r>
              <a:rPr lang="en-IN" dirty="0">
                <a:solidFill>
                  <a:srgbClr val="9A6E3A"/>
                </a:solidFill>
                <a:effectLst/>
              </a:rPr>
              <a:t>&lt;</a:t>
            </a:r>
            <a:r>
              <a:rPr lang="en-IN" dirty="0"/>
              <a:t> </a:t>
            </a:r>
            <a:r>
              <a:rPr lang="en-IN" dirty="0">
                <a:solidFill>
                  <a:srgbClr val="990055"/>
                </a:solidFill>
                <a:effectLst/>
              </a:rPr>
              <a:t>5</a:t>
            </a:r>
            <a:r>
              <a:rPr lang="en-IN" dirty="0">
                <a:solidFill>
                  <a:srgbClr val="999999"/>
                </a:solidFill>
                <a:effectLst/>
              </a:rPr>
              <a:t>;</a:t>
            </a:r>
            <a:r>
              <a:rPr lang="en-IN" dirty="0"/>
              <a:t> </a:t>
            </a:r>
            <a:r>
              <a:rPr lang="en-IN" dirty="0" err="1"/>
              <a:t>i</a:t>
            </a:r>
            <a:r>
              <a:rPr lang="en-IN" dirty="0">
                <a:solidFill>
                  <a:srgbClr val="9A6E3A"/>
                </a:solidFill>
                <a:effectLst/>
              </a:rPr>
              <a:t>++</a:t>
            </a:r>
            <a:r>
              <a:rPr lang="en-IN" dirty="0">
                <a:solidFill>
                  <a:srgbClr val="999999"/>
                </a:solidFill>
                <a:effectLst/>
              </a:rPr>
              <a:t>)</a:t>
            </a:r>
            <a:r>
              <a:rPr lang="en-IN" dirty="0"/>
              <a:t> </a:t>
            </a:r>
            <a:r>
              <a:rPr lang="en-IN" dirty="0">
                <a:solidFill>
                  <a:srgbClr val="999999"/>
                </a:solidFill>
                <a:effectLst/>
              </a:rPr>
              <a:t>{</a:t>
            </a:r>
            <a:r>
              <a:rPr lang="en-IN" dirty="0"/>
              <a:t> </a:t>
            </a:r>
          </a:p>
          <a:p>
            <a:r>
              <a:rPr lang="en-IN" dirty="0" err="1">
                <a:solidFill>
                  <a:srgbClr val="DD4A68"/>
                </a:solidFill>
                <a:effectLst/>
              </a:rPr>
              <a:t>System</a:t>
            </a:r>
            <a:r>
              <a:rPr lang="en-IN" dirty="0" err="1">
                <a:solidFill>
                  <a:srgbClr val="999999"/>
                </a:solidFill>
                <a:effectLst/>
              </a:rPr>
              <a:t>.</a:t>
            </a:r>
            <a:r>
              <a:rPr lang="en-IN" dirty="0" err="1"/>
              <a:t>out</a:t>
            </a:r>
            <a:r>
              <a:rPr lang="en-IN" dirty="0" err="1">
                <a:solidFill>
                  <a:srgbClr val="999999"/>
                </a:solidFill>
                <a:effectLst/>
              </a:rPr>
              <a:t>.</a:t>
            </a:r>
            <a:r>
              <a:rPr lang="en-IN" dirty="0" err="1">
                <a:solidFill>
                  <a:srgbClr val="DD4A68"/>
                </a:solidFill>
                <a:effectLst/>
              </a:rPr>
              <a:t>println</a:t>
            </a:r>
            <a:r>
              <a:rPr lang="en-IN" dirty="0">
                <a:solidFill>
                  <a:srgbClr val="999999"/>
                </a:solidFill>
                <a:effectLst/>
              </a:rPr>
              <a:t>(</a:t>
            </a:r>
            <a:r>
              <a:rPr lang="en-IN" dirty="0" err="1"/>
              <a:t>i</a:t>
            </a:r>
            <a:r>
              <a:rPr lang="en-IN" dirty="0">
                <a:solidFill>
                  <a:srgbClr val="999999"/>
                </a:solidFill>
                <a:effectLst/>
              </a:rPr>
              <a:t>);</a:t>
            </a:r>
          </a:p>
          <a:p>
            <a:r>
              <a:rPr lang="en-IN" dirty="0"/>
              <a:t> </a:t>
            </a:r>
            <a:r>
              <a:rPr lang="en-IN" dirty="0">
                <a:solidFill>
                  <a:srgbClr val="999999"/>
                </a:solidFill>
                <a:effectLst/>
              </a:rPr>
              <a:t>}</a:t>
            </a:r>
          </a:p>
          <a:p>
            <a:endParaRPr lang="en-US" u="sng" dirty="0"/>
          </a:p>
          <a:p>
            <a:endParaRPr lang="en-US" dirty="0"/>
          </a:p>
          <a:p>
            <a:endParaRPr lang="en-US" dirty="0"/>
          </a:p>
          <a:p>
            <a:endParaRPr lang="en-US" u="sng" dirty="0"/>
          </a:p>
        </p:txBody>
      </p:sp>
    </p:spTree>
    <p:extLst>
      <p:ext uri="{BB962C8B-B14F-4D97-AF65-F5344CB8AC3E}">
        <p14:creationId xmlns:p14="http://schemas.microsoft.com/office/powerpoint/2010/main" val="199034418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7D561B-88A1-CC24-D862-4837F98B6586}"/>
              </a:ext>
            </a:extLst>
          </p:cNvPr>
          <p:cNvSpPr>
            <a:spLocks noGrp="1"/>
          </p:cNvSpPr>
          <p:nvPr>
            <p:ph type="title"/>
          </p:nvPr>
        </p:nvSpPr>
        <p:spPr/>
        <p:txBody>
          <a:bodyPr/>
          <a:lstStyle/>
          <a:p>
            <a:r>
              <a:rPr lang="en-US" u="sng" dirty="0"/>
              <a:t>Scanner</a:t>
            </a:r>
          </a:p>
        </p:txBody>
      </p:sp>
      <p:pic>
        <p:nvPicPr>
          <p:cNvPr id="5" name="Content Placeholder 4" descr="A screenshot of a computer program&#10;&#10;Description automatically generated">
            <a:extLst>
              <a:ext uri="{FF2B5EF4-FFF2-40B4-BE49-F238E27FC236}">
                <a16:creationId xmlns:a16="http://schemas.microsoft.com/office/drawing/2014/main" id="{E424BC6D-073D-5F60-3702-D43F318214F0}"/>
              </a:ext>
            </a:extLst>
          </p:cNvPr>
          <p:cNvPicPr>
            <a:picLocks noGrp="1" noChangeAspect="1"/>
          </p:cNvPicPr>
          <p:nvPr>
            <p:ph idx="1"/>
          </p:nvPr>
        </p:nvPicPr>
        <p:blipFill>
          <a:blip r:embed="rId2"/>
          <a:stretch>
            <a:fillRect/>
          </a:stretch>
        </p:blipFill>
        <p:spPr>
          <a:xfrm>
            <a:off x="1460500" y="1822411"/>
            <a:ext cx="4635500" cy="2019300"/>
          </a:xfrm>
        </p:spPr>
      </p:pic>
      <p:pic>
        <p:nvPicPr>
          <p:cNvPr id="7" name="Picture 6" descr="A black background with white text&#10;&#10;Description automatically generated">
            <a:extLst>
              <a:ext uri="{FF2B5EF4-FFF2-40B4-BE49-F238E27FC236}">
                <a16:creationId xmlns:a16="http://schemas.microsoft.com/office/drawing/2014/main" id="{0A262EB5-621A-F2A7-769A-D24D951E7971}"/>
              </a:ext>
            </a:extLst>
          </p:cNvPr>
          <p:cNvPicPr>
            <a:picLocks noChangeAspect="1"/>
          </p:cNvPicPr>
          <p:nvPr/>
        </p:nvPicPr>
        <p:blipFill>
          <a:blip r:embed="rId3"/>
          <a:stretch>
            <a:fillRect/>
          </a:stretch>
        </p:blipFill>
        <p:spPr>
          <a:xfrm>
            <a:off x="1460500" y="4199466"/>
            <a:ext cx="5270500" cy="660400"/>
          </a:xfrm>
          <a:prstGeom prst="rect">
            <a:avLst/>
          </a:prstGeom>
        </p:spPr>
      </p:pic>
    </p:spTree>
    <p:extLst>
      <p:ext uri="{BB962C8B-B14F-4D97-AF65-F5344CB8AC3E}">
        <p14:creationId xmlns:p14="http://schemas.microsoft.com/office/powerpoint/2010/main" val="3829716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4575E2-BB51-B9D2-BD1A-18CD0A49DAED}"/>
              </a:ext>
            </a:extLst>
          </p:cNvPr>
          <p:cNvSpPr>
            <a:spLocks noGrp="1"/>
          </p:cNvSpPr>
          <p:nvPr>
            <p:ph type="title"/>
          </p:nvPr>
        </p:nvSpPr>
        <p:spPr/>
        <p:txBody>
          <a:bodyPr/>
          <a:lstStyle/>
          <a:p>
            <a:r>
              <a:rPr lang="en-US" u="sng" dirty="0"/>
              <a:t>Collections</a:t>
            </a:r>
          </a:p>
        </p:txBody>
      </p:sp>
      <p:sp>
        <p:nvSpPr>
          <p:cNvPr id="3" name="Content Placeholder 2">
            <a:extLst>
              <a:ext uri="{FF2B5EF4-FFF2-40B4-BE49-F238E27FC236}">
                <a16:creationId xmlns:a16="http://schemas.microsoft.com/office/drawing/2014/main" id="{E6830D90-C4A8-D6BE-2578-D23DC9410E6D}"/>
              </a:ext>
            </a:extLst>
          </p:cNvPr>
          <p:cNvSpPr>
            <a:spLocks noGrp="1"/>
          </p:cNvSpPr>
          <p:nvPr>
            <p:ph idx="1"/>
          </p:nvPr>
        </p:nvSpPr>
        <p:spPr>
          <a:xfrm>
            <a:off x="838200" y="1825625"/>
            <a:ext cx="10515600" cy="4667250"/>
          </a:xfrm>
        </p:spPr>
        <p:txBody>
          <a:bodyPr>
            <a:normAutofit/>
          </a:bodyPr>
          <a:lstStyle/>
          <a:p>
            <a:r>
              <a:rPr lang="en-IN" b="1" dirty="0" err="1"/>
              <a:t>ArrayList</a:t>
            </a:r>
            <a:r>
              <a:rPr lang="en-IN" dirty="0"/>
              <a:t>: A resizable array implementation of the List interface.</a:t>
            </a:r>
          </a:p>
          <a:p>
            <a:r>
              <a:rPr lang="en-IN" b="0" i="0" dirty="0">
                <a:solidFill>
                  <a:srgbClr val="000000"/>
                </a:solidFill>
                <a:effectLst/>
              </a:rPr>
              <a:t>A </a:t>
            </a:r>
            <a:r>
              <a:rPr lang="en-IN" b="1" dirty="0"/>
              <a:t>HashMap</a:t>
            </a:r>
            <a:r>
              <a:rPr lang="en-IN" b="0" i="0" dirty="0">
                <a:solidFill>
                  <a:srgbClr val="000000"/>
                </a:solidFill>
                <a:effectLst/>
              </a:rPr>
              <a:t> however, store items in "</a:t>
            </a:r>
            <a:r>
              <a:rPr lang="en-IN" b="1" i="0" dirty="0">
                <a:solidFill>
                  <a:srgbClr val="000000"/>
                </a:solidFill>
                <a:effectLst/>
              </a:rPr>
              <a:t>key</a:t>
            </a:r>
            <a:r>
              <a:rPr lang="en-IN" b="0" i="0" dirty="0">
                <a:solidFill>
                  <a:srgbClr val="000000"/>
                </a:solidFill>
                <a:effectLst/>
              </a:rPr>
              <a:t>/</a:t>
            </a:r>
            <a:r>
              <a:rPr lang="en-IN" b="1" i="0" dirty="0">
                <a:solidFill>
                  <a:srgbClr val="000000"/>
                </a:solidFill>
                <a:effectLst/>
              </a:rPr>
              <a:t>value</a:t>
            </a:r>
            <a:r>
              <a:rPr lang="en-IN" b="0" i="0" dirty="0">
                <a:solidFill>
                  <a:srgbClr val="000000"/>
                </a:solidFill>
                <a:effectLst/>
              </a:rPr>
              <a:t>" pairs, and you can access them by an index of another type (e.g. a </a:t>
            </a:r>
            <a:r>
              <a:rPr lang="en-IN" dirty="0"/>
              <a:t>String</a:t>
            </a:r>
            <a:r>
              <a:rPr lang="en-IN" b="0" i="0" dirty="0">
                <a:solidFill>
                  <a:srgbClr val="000000"/>
                </a:solidFill>
                <a:effectLst/>
              </a:rPr>
              <a:t>)</a:t>
            </a:r>
          </a:p>
          <a:p>
            <a:r>
              <a:rPr lang="en-IN" b="0" i="0" dirty="0">
                <a:solidFill>
                  <a:srgbClr val="000000"/>
                </a:solidFill>
                <a:effectLst/>
              </a:rPr>
              <a:t>A </a:t>
            </a:r>
            <a:r>
              <a:rPr lang="en-IN" b="1" i="0" dirty="0">
                <a:solidFill>
                  <a:srgbClr val="000000"/>
                </a:solidFill>
                <a:effectLst/>
              </a:rPr>
              <a:t>HashSet</a:t>
            </a:r>
            <a:r>
              <a:rPr lang="en-IN" b="0" i="0" dirty="0">
                <a:solidFill>
                  <a:srgbClr val="000000"/>
                </a:solidFill>
                <a:effectLst/>
              </a:rPr>
              <a:t> is a collection of items where every item is unique</a:t>
            </a:r>
          </a:p>
          <a:p>
            <a:r>
              <a:rPr lang="en-IN" b="0" i="0" dirty="0">
                <a:solidFill>
                  <a:srgbClr val="000000"/>
                </a:solidFill>
                <a:effectLst/>
              </a:rPr>
              <a:t>HashSet allows null value.</a:t>
            </a:r>
          </a:p>
          <a:p>
            <a:pPr algn="just">
              <a:buFont typeface="Arial" panose="020B0604020202020204" pitchFamily="34" charset="0"/>
              <a:buChar char="•"/>
            </a:pPr>
            <a:r>
              <a:rPr lang="en-IN" b="0" i="0" dirty="0">
                <a:solidFill>
                  <a:srgbClr val="000000"/>
                </a:solidFill>
                <a:effectLst/>
              </a:rPr>
              <a:t>HashSet stores the elements by using a mechanism called </a:t>
            </a:r>
            <a:r>
              <a:rPr lang="en-IN" b="1" i="0" dirty="0">
                <a:solidFill>
                  <a:srgbClr val="000000"/>
                </a:solidFill>
                <a:effectLst/>
              </a:rPr>
              <a:t>hashing.</a:t>
            </a:r>
          </a:p>
          <a:p>
            <a:pPr algn="just">
              <a:buFont typeface="Arial" panose="020B0604020202020204" pitchFamily="34" charset="0"/>
              <a:buChar char="•"/>
            </a:pPr>
            <a:endParaRPr lang="en-IN" b="0" i="0" dirty="0">
              <a:solidFill>
                <a:srgbClr val="000000"/>
              </a:solidFill>
              <a:effectLst/>
            </a:endParaRPr>
          </a:p>
          <a:p>
            <a:r>
              <a:rPr lang="en-IN" dirty="0" err="1"/>
              <a:t>ArrayList</a:t>
            </a:r>
            <a:r>
              <a:rPr lang="en-IN" dirty="0"/>
              <a:t> in Java allows duplicates.</a:t>
            </a:r>
          </a:p>
          <a:p>
            <a:endParaRPr lang="en-US" dirty="0"/>
          </a:p>
        </p:txBody>
      </p:sp>
      <p:pic>
        <p:nvPicPr>
          <p:cNvPr id="5" name="Picture 4" descr="A black background with colorful text&#10;&#10;Description automatically generated">
            <a:extLst>
              <a:ext uri="{FF2B5EF4-FFF2-40B4-BE49-F238E27FC236}">
                <a16:creationId xmlns:a16="http://schemas.microsoft.com/office/drawing/2014/main" id="{39DE823E-C401-BBC9-8448-2008DAC7AE25}"/>
              </a:ext>
            </a:extLst>
          </p:cNvPr>
          <p:cNvPicPr>
            <a:picLocks noChangeAspect="1"/>
          </p:cNvPicPr>
          <p:nvPr/>
        </p:nvPicPr>
        <p:blipFill>
          <a:blip r:embed="rId2"/>
          <a:stretch>
            <a:fillRect/>
          </a:stretch>
        </p:blipFill>
        <p:spPr>
          <a:xfrm>
            <a:off x="6209676" y="5120667"/>
            <a:ext cx="4953000" cy="711200"/>
          </a:xfrm>
          <a:prstGeom prst="rect">
            <a:avLst/>
          </a:prstGeom>
        </p:spPr>
      </p:pic>
    </p:spTree>
    <p:extLst>
      <p:ext uri="{BB962C8B-B14F-4D97-AF65-F5344CB8AC3E}">
        <p14:creationId xmlns:p14="http://schemas.microsoft.com/office/powerpoint/2010/main" val="119670252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5CAA56-D1C1-E1F1-DF7C-34AB8F018334}"/>
              </a:ext>
            </a:extLst>
          </p:cNvPr>
          <p:cNvSpPr>
            <a:spLocks noGrp="1"/>
          </p:cNvSpPr>
          <p:nvPr>
            <p:ph type="title"/>
          </p:nvPr>
        </p:nvSpPr>
        <p:spPr/>
        <p:txBody>
          <a:bodyPr/>
          <a:lstStyle/>
          <a:p>
            <a:r>
              <a:rPr lang="en-US" u="sng" dirty="0"/>
              <a:t>How Does </a:t>
            </a:r>
            <a:r>
              <a:rPr lang="en-US" u="sng" dirty="0" err="1"/>
              <a:t>Hashmap</a:t>
            </a:r>
            <a:r>
              <a:rPr lang="en-US" u="sng" dirty="0"/>
              <a:t> work internally</a:t>
            </a:r>
            <a:endParaRPr lang="en-US" dirty="0"/>
          </a:p>
        </p:txBody>
      </p:sp>
      <p:sp>
        <p:nvSpPr>
          <p:cNvPr id="3" name="Content Placeholder 2">
            <a:extLst>
              <a:ext uri="{FF2B5EF4-FFF2-40B4-BE49-F238E27FC236}">
                <a16:creationId xmlns:a16="http://schemas.microsoft.com/office/drawing/2014/main" id="{DD55AF98-C4BF-15AB-0D34-F8AA28587F4C}"/>
              </a:ext>
            </a:extLst>
          </p:cNvPr>
          <p:cNvSpPr>
            <a:spLocks noGrp="1"/>
          </p:cNvSpPr>
          <p:nvPr>
            <p:ph idx="1"/>
          </p:nvPr>
        </p:nvSpPr>
        <p:spPr/>
        <p:txBody>
          <a:bodyPr>
            <a:normAutofit/>
          </a:bodyPr>
          <a:lstStyle/>
          <a:p>
            <a:r>
              <a:rPr lang="en-IN" dirty="0">
                <a:effectLst/>
              </a:rPr>
              <a:t>HashMap </a:t>
            </a:r>
            <a:r>
              <a:rPr lang="en-IN" b="0" dirty="0">
                <a:effectLst/>
              </a:rPr>
              <a:t>use singly linked list to store elements, these are called bins or buckets</a:t>
            </a:r>
            <a:r>
              <a:rPr lang="en-IN" dirty="0">
                <a:effectLst/>
              </a:rPr>
              <a:t>. When we call put method, </a:t>
            </a:r>
            <a:r>
              <a:rPr lang="en-IN" dirty="0" err="1">
                <a:effectLst/>
              </a:rPr>
              <a:t>hashCode</a:t>
            </a:r>
            <a:r>
              <a:rPr lang="en-IN" dirty="0">
                <a:effectLst/>
              </a:rPr>
              <a:t> of key is used to determine the bucket that will be used to store the mapping. Once bucket is identified, </a:t>
            </a:r>
            <a:r>
              <a:rPr lang="en-IN" dirty="0" err="1">
                <a:effectLst/>
              </a:rPr>
              <a:t>hashCode</a:t>
            </a:r>
            <a:r>
              <a:rPr lang="en-IN" dirty="0">
                <a:effectLst/>
              </a:rPr>
              <a:t> is used to check if there is already a key with same </a:t>
            </a:r>
            <a:r>
              <a:rPr lang="en-IN" dirty="0" err="1">
                <a:effectLst/>
              </a:rPr>
              <a:t>hashCode</a:t>
            </a:r>
            <a:r>
              <a:rPr lang="en-IN" dirty="0">
                <a:effectLst/>
              </a:rPr>
              <a:t> If </a:t>
            </a:r>
            <a:r>
              <a:rPr lang="en-IN" b="0" i="0" dirty="0">
                <a:effectLst/>
              </a:rPr>
              <a:t>there is an existing key with same </a:t>
            </a:r>
            <a:r>
              <a:rPr lang="en-IN" b="0" i="0" dirty="0" err="1">
                <a:effectLst/>
              </a:rPr>
              <a:t>hashCode</a:t>
            </a:r>
            <a:r>
              <a:rPr lang="en-IN" b="0" i="0" dirty="0">
                <a:effectLst/>
              </a:rPr>
              <a:t>, then value is overwritten, otherwise a new mapping is made to this singly linked list bucket</a:t>
            </a:r>
            <a:endParaRPr lang="en-US" dirty="0"/>
          </a:p>
        </p:txBody>
      </p:sp>
    </p:spTree>
    <p:extLst>
      <p:ext uri="{BB962C8B-B14F-4D97-AF65-F5344CB8AC3E}">
        <p14:creationId xmlns:p14="http://schemas.microsoft.com/office/powerpoint/2010/main" val="338321637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EF66F6-E41E-B925-9883-B9C0F4FF5F06}"/>
              </a:ext>
            </a:extLst>
          </p:cNvPr>
          <p:cNvSpPr>
            <a:spLocks noGrp="1"/>
          </p:cNvSpPr>
          <p:nvPr>
            <p:ph type="title"/>
          </p:nvPr>
        </p:nvSpPr>
        <p:spPr/>
        <p:txBody>
          <a:bodyPr/>
          <a:lstStyle/>
          <a:p>
            <a:r>
              <a:rPr lang="en-US" u="sng" dirty="0"/>
              <a:t>How does </a:t>
            </a:r>
            <a:r>
              <a:rPr lang="en-US" u="sng" dirty="0" err="1"/>
              <a:t>Arraylist</a:t>
            </a:r>
            <a:r>
              <a:rPr lang="en-US" u="sng" dirty="0"/>
              <a:t> increase</a:t>
            </a:r>
          </a:p>
        </p:txBody>
      </p:sp>
      <p:sp>
        <p:nvSpPr>
          <p:cNvPr id="3" name="Content Placeholder 2">
            <a:extLst>
              <a:ext uri="{FF2B5EF4-FFF2-40B4-BE49-F238E27FC236}">
                <a16:creationId xmlns:a16="http://schemas.microsoft.com/office/drawing/2014/main" id="{3BCF7DF2-D9C1-55C7-8BF9-D8E33C49F27A}"/>
              </a:ext>
            </a:extLst>
          </p:cNvPr>
          <p:cNvSpPr>
            <a:spLocks noGrp="1"/>
          </p:cNvSpPr>
          <p:nvPr>
            <p:ph idx="1"/>
          </p:nvPr>
        </p:nvSpPr>
        <p:spPr/>
        <p:txBody>
          <a:bodyPr>
            <a:normAutofit fontScale="92500" lnSpcReduction="10000"/>
          </a:bodyPr>
          <a:lstStyle/>
          <a:p>
            <a:r>
              <a:rPr lang="en-IN" b="0" i="0" dirty="0">
                <a:effectLst/>
              </a:rPr>
              <a:t>When we add an element to an </a:t>
            </a:r>
            <a:r>
              <a:rPr lang="en-IN" b="0" i="0" dirty="0" err="1">
                <a:effectLst/>
              </a:rPr>
              <a:t>ArrayList</a:t>
            </a:r>
            <a:r>
              <a:rPr lang="en-IN" b="0" i="0" dirty="0">
                <a:effectLst/>
              </a:rPr>
              <a:t>, it first checks to see whether the array has enough capacity to contain the new element.</a:t>
            </a:r>
          </a:p>
          <a:p>
            <a:r>
              <a:rPr lang="en-IN" b="0" i="0" dirty="0">
                <a:effectLst/>
              </a:rPr>
              <a:t> If it doesn't, the new capacity is computed, which is 50% higher than the previous capacity, and the array is expanded by that amount </a:t>
            </a:r>
          </a:p>
          <a:p>
            <a:endParaRPr lang="en-IN" dirty="0"/>
          </a:p>
          <a:p>
            <a:r>
              <a:rPr lang="en-IN" b="0" i="0" dirty="0">
                <a:effectLst/>
              </a:rPr>
              <a:t>Internally an </a:t>
            </a:r>
            <a:r>
              <a:rPr lang="en-IN" b="0" i="0" dirty="0" err="1">
                <a:effectLst/>
              </a:rPr>
              <a:t>ArrayList</a:t>
            </a:r>
            <a:r>
              <a:rPr lang="en-IN" b="0" i="0" dirty="0">
                <a:effectLst/>
              </a:rPr>
              <a:t> uses an Object[] Array which is an array of objects. All operation like deleting, adding, and updating the elements happens in this Object[] array.</a:t>
            </a:r>
          </a:p>
          <a:p>
            <a:r>
              <a:rPr lang="en-IN" dirty="0"/>
              <a:t>The default capacity of an </a:t>
            </a:r>
            <a:r>
              <a:rPr lang="en-IN" dirty="0" err="1"/>
              <a:t>ArrayList</a:t>
            </a:r>
            <a:r>
              <a:rPr lang="en-IN" dirty="0"/>
              <a:t> in Java is 10. This means that when an </a:t>
            </a:r>
            <a:r>
              <a:rPr lang="en-IN" dirty="0" err="1"/>
              <a:t>ArrayList</a:t>
            </a:r>
            <a:r>
              <a:rPr lang="en-IN" dirty="0"/>
              <a:t> is created using the default constructor, it initially allocates enough space to hold 10 elements.</a:t>
            </a:r>
            <a:endParaRPr lang="en-US" dirty="0"/>
          </a:p>
        </p:txBody>
      </p:sp>
    </p:spTree>
    <p:extLst>
      <p:ext uri="{BB962C8B-B14F-4D97-AF65-F5344CB8AC3E}">
        <p14:creationId xmlns:p14="http://schemas.microsoft.com/office/powerpoint/2010/main" val="262486192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E32BAE-257D-592B-D227-4C7BAE35C563}"/>
              </a:ext>
            </a:extLst>
          </p:cNvPr>
          <p:cNvSpPr>
            <a:spLocks noGrp="1"/>
          </p:cNvSpPr>
          <p:nvPr>
            <p:ph type="title"/>
          </p:nvPr>
        </p:nvSpPr>
        <p:spPr>
          <a:xfrm>
            <a:off x="1198181" y="560881"/>
            <a:ext cx="9795638" cy="560421"/>
          </a:xfrm>
        </p:spPr>
        <p:txBody>
          <a:bodyPr vert="horz" lIns="91440" tIns="45720" rIns="91440" bIns="45720" rtlCol="0" anchor="b">
            <a:normAutofit fontScale="90000"/>
          </a:bodyPr>
          <a:lstStyle/>
          <a:p>
            <a:pPr algn="ctr"/>
            <a:r>
              <a:rPr lang="en-US" sz="5200" u="sng" dirty="0"/>
              <a:t>Collection</a:t>
            </a:r>
          </a:p>
        </p:txBody>
      </p:sp>
      <p:pic>
        <p:nvPicPr>
          <p:cNvPr id="5" name="Content Placeholder 4" descr="A computer screen shot of a black screen&#10;&#10;Description automatically generated">
            <a:extLst>
              <a:ext uri="{FF2B5EF4-FFF2-40B4-BE49-F238E27FC236}">
                <a16:creationId xmlns:a16="http://schemas.microsoft.com/office/drawing/2014/main" id="{94FF5289-7B82-3F31-2E7D-E5FB2113F8A6}"/>
              </a:ext>
            </a:extLst>
          </p:cNvPr>
          <p:cNvPicPr>
            <a:picLocks noGrp="1" noChangeAspect="1"/>
          </p:cNvPicPr>
          <p:nvPr>
            <p:ph idx="1"/>
          </p:nvPr>
        </p:nvPicPr>
        <p:blipFill>
          <a:blip r:embed="rId2"/>
          <a:stretch>
            <a:fillRect/>
          </a:stretch>
        </p:blipFill>
        <p:spPr>
          <a:xfrm>
            <a:off x="670454" y="1913467"/>
            <a:ext cx="4849821" cy="4390574"/>
          </a:xfrm>
          <a:prstGeom prst="rect">
            <a:avLst/>
          </a:prstGeom>
        </p:spPr>
      </p:pic>
      <p:pic>
        <p:nvPicPr>
          <p:cNvPr id="7" name="Picture 6" descr="A screenshot of a computer program&#10;&#10;Description automatically generated">
            <a:extLst>
              <a:ext uri="{FF2B5EF4-FFF2-40B4-BE49-F238E27FC236}">
                <a16:creationId xmlns:a16="http://schemas.microsoft.com/office/drawing/2014/main" id="{2E4C7F55-DE15-66C0-F83A-ED361B07F4B8}"/>
              </a:ext>
            </a:extLst>
          </p:cNvPr>
          <p:cNvPicPr>
            <a:picLocks noChangeAspect="1"/>
          </p:cNvPicPr>
          <p:nvPr/>
        </p:nvPicPr>
        <p:blipFill>
          <a:blip r:embed="rId3"/>
          <a:stretch>
            <a:fillRect/>
          </a:stretch>
        </p:blipFill>
        <p:spPr>
          <a:xfrm>
            <a:off x="5384801" y="1675261"/>
            <a:ext cx="6367690" cy="4628780"/>
          </a:xfrm>
          <a:prstGeom prst="rect">
            <a:avLst/>
          </a:prstGeom>
        </p:spPr>
      </p:pic>
    </p:spTree>
    <p:extLst>
      <p:ext uri="{BB962C8B-B14F-4D97-AF65-F5344CB8AC3E}">
        <p14:creationId xmlns:p14="http://schemas.microsoft.com/office/powerpoint/2010/main" val="188518094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1C15F-C141-7FD5-9365-9F842D51523C}"/>
              </a:ext>
            </a:extLst>
          </p:cNvPr>
          <p:cNvSpPr>
            <a:spLocks noGrp="1"/>
          </p:cNvSpPr>
          <p:nvPr>
            <p:ph type="title"/>
          </p:nvPr>
        </p:nvSpPr>
        <p:spPr/>
        <p:txBody>
          <a:bodyPr/>
          <a:lstStyle/>
          <a:p>
            <a:r>
              <a:rPr lang="en-US" sz="4400" u="sng" dirty="0"/>
              <a:t>Collection</a:t>
            </a:r>
            <a:endParaRPr lang="en-US" dirty="0"/>
          </a:p>
        </p:txBody>
      </p:sp>
      <p:pic>
        <p:nvPicPr>
          <p:cNvPr id="5" name="Content Placeholder 4" descr="A computer screen with text and images&#10;&#10;Description automatically generated">
            <a:extLst>
              <a:ext uri="{FF2B5EF4-FFF2-40B4-BE49-F238E27FC236}">
                <a16:creationId xmlns:a16="http://schemas.microsoft.com/office/drawing/2014/main" id="{C5621F34-8AD8-FD4B-E352-909B7764C6C5}"/>
              </a:ext>
            </a:extLst>
          </p:cNvPr>
          <p:cNvPicPr>
            <a:picLocks noGrp="1" noChangeAspect="1"/>
          </p:cNvPicPr>
          <p:nvPr>
            <p:ph idx="1"/>
          </p:nvPr>
        </p:nvPicPr>
        <p:blipFill>
          <a:blip r:embed="rId2"/>
          <a:stretch>
            <a:fillRect/>
          </a:stretch>
        </p:blipFill>
        <p:spPr>
          <a:xfrm>
            <a:off x="3009900" y="1969294"/>
            <a:ext cx="6172200" cy="4064000"/>
          </a:xfrm>
        </p:spPr>
      </p:pic>
    </p:spTree>
    <p:extLst>
      <p:ext uri="{BB962C8B-B14F-4D97-AF65-F5344CB8AC3E}">
        <p14:creationId xmlns:p14="http://schemas.microsoft.com/office/powerpoint/2010/main" val="150250026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87BFC4-DD99-CF0B-09D6-1B6288D787B1}"/>
              </a:ext>
            </a:extLst>
          </p:cNvPr>
          <p:cNvSpPr>
            <a:spLocks noGrp="1"/>
          </p:cNvSpPr>
          <p:nvPr>
            <p:ph type="title"/>
          </p:nvPr>
        </p:nvSpPr>
        <p:spPr/>
        <p:txBody>
          <a:bodyPr/>
          <a:lstStyle/>
          <a:p>
            <a:r>
              <a:rPr lang="en-US" u="sng" dirty="0"/>
              <a:t>JDK VS JRE VS JVM</a:t>
            </a:r>
          </a:p>
        </p:txBody>
      </p:sp>
      <p:pic>
        <p:nvPicPr>
          <p:cNvPr id="5" name="Content Placeholder 4" descr="A screenshot of a computer&#10;&#10;Description automatically generated">
            <a:extLst>
              <a:ext uri="{FF2B5EF4-FFF2-40B4-BE49-F238E27FC236}">
                <a16:creationId xmlns:a16="http://schemas.microsoft.com/office/drawing/2014/main" id="{AB4D88FB-2110-D977-5093-9D628B88ADF3}"/>
              </a:ext>
            </a:extLst>
          </p:cNvPr>
          <p:cNvPicPr>
            <a:picLocks noGrp="1" noChangeAspect="1"/>
          </p:cNvPicPr>
          <p:nvPr>
            <p:ph idx="1"/>
          </p:nvPr>
        </p:nvPicPr>
        <p:blipFill>
          <a:blip r:embed="rId2"/>
          <a:stretch>
            <a:fillRect/>
          </a:stretch>
        </p:blipFill>
        <p:spPr>
          <a:xfrm>
            <a:off x="646889" y="1690688"/>
            <a:ext cx="9938851" cy="4351338"/>
          </a:xfrm>
        </p:spPr>
      </p:pic>
    </p:spTree>
    <p:extLst>
      <p:ext uri="{BB962C8B-B14F-4D97-AF65-F5344CB8AC3E}">
        <p14:creationId xmlns:p14="http://schemas.microsoft.com/office/powerpoint/2010/main" val="298548496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96CF2-B89C-AD93-82C1-54C009C7C414}"/>
              </a:ext>
            </a:extLst>
          </p:cNvPr>
          <p:cNvSpPr>
            <a:spLocks noGrp="1"/>
          </p:cNvSpPr>
          <p:nvPr>
            <p:ph type="title"/>
          </p:nvPr>
        </p:nvSpPr>
        <p:spPr/>
        <p:txBody>
          <a:bodyPr/>
          <a:lstStyle/>
          <a:p>
            <a:r>
              <a:rPr lang="en-US" u="sng" dirty="0"/>
              <a:t>JDK VS JRE VS JVM</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E82AB2FA-BB75-69B4-4CCE-CAAE2C5B34C2}"/>
              </a:ext>
            </a:extLst>
          </p:cNvPr>
          <p:cNvPicPr>
            <a:picLocks noGrp="1" noChangeAspect="1"/>
          </p:cNvPicPr>
          <p:nvPr>
            <p:ph idx="1"/>
          </p:nvPr>
        </p:nvPicPr>
        <p:blipFill>
          <a:blip r:embed="rId2"/>
          <a:stretch>
            <a:fillRect/>
          </a:stretch>
        </p:blipFill>
        <p:spPr>
          <a:xfrm>
            <a:off x="938134" y="1690688"/>
            <a:ext cx="8444606" cy="4351338"/>
          </a:xfrm>
        </p:spPr>
      </p:pic>
    </p:spTree>
    <p:extLst>
      <p:ext uri="{BB962C8B-B14F-4D97-AF65-F5344CB8AC3E}">
        <p14:creationId xmlns:p14="http://schemas.microsoft.com/office/powerpoint/2010/main" val="392664314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228B3E-41E1-F794-4BD2-BF8B4C91D00C}"/>
              </a:ext>
            </a:extLst>
          </p:cNvPr>
          <p:cNvSpPr>
            <a:spLocks noGrp="1"/>
          </p:cNvSpPr>
          <p:nvPr>
            <p:ph type="title"/>
          </p:nvPr>
        </p:nvSpPr>
        <p:spPr/>
        <p:txBody>
          <a:bodyPr>
            <a:normAutofit fontScale="90000"/>
          </a:bodyPr>
          <a:lstStyle/>
          <a:p>
            <a:r>
              <a:rPr lang="en-US" u="sng" dirty="0"/>
              <a:t>JRE-</a:t>
            </a:r>
            <a:br>
              <a:rPr lang="en-US" u="sng" dirty="0"/>
            </a:br>
            <a:r>
              <a:rPr lang="en-IN" b="0" i="0" dirty="0">
                <a:solidFill>
                  <a:srgbClr val="333333"/>
                </a:solidFill>
                <a:effectLst/>
                <a:latin typeface="inter-regular"/>
              </a:rPr>
              <a:t>It is used to provide the runtime environment</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3CA154C7-D366-6BD0-8474-E0C2E043C258}"/>
              </a:ext>
            </a:extLst>
          </p:cNvPr>
          <p:cNvPicPr>
            <a:picLocks noGrp="1" noChangeAspect="1"/>
          </p:cNvPicPr>
          <p:nvPr>
            <p:ph idx="1"/>
          </p:nvPr>
        </p:nvPicPr>
        <p:blipFill>
          <a:blip r:embed="rId2"/>
          <a:stretch>
            <a:fillRect/>
          </a:stretch>
        </p:blipFill>
        <p:spPr>
          <a:xfrm>
            <a:off x="1542363" y="1825625"/>
            <a:ext cx="9107274" cy="4351338"/>
          </a:xfrm>
        </p:spPr>
      </p:pic>
    </p:spTree>
    <p:extLst>
      <p:ext uri="{BB962C8B-B14F-4D97-AF65-F5344CB8AC3E}">
        <p14:creationId xmlns:p14="http://schemas.microsoft.com/office/powerpoint/2010/main" val="165706875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79130A-2CC3-5273-35E4-5FD7DD59CB6E}"/>
              </a:ext>
            </a:extLst>
          </p:cNvPr>
          <p:cNvSpPr>
            <a:spLocks noGrp="1"/>
          </p:cNvSpPr>
          <p:nvPr>
            <p:ph type="title"/>
          </p:nvPr>
        </p:nvSpPr>
        <p:spPr/>
        <p:txBody>
          <a:bodyPr/>
          <a:lstStyle/>
          <a:p>
            <a:r>
              <a:rPr lang="en-US" u="sng" dirty="0"/>
              <a:t>JDK VS JRE VS JVM</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84E79FAC-0A8B-0361-58B4-A0C1C22AE1AE}"/>
              </a:ext>
            </a:extLst>
          </p:cNvPr>
          <p:cNvPicPr>
            <a:picLocks noGrp="1" noChangeAspect="1"/>
          </p:cNvPicPr>
          <p:nvPr>
            <p:ph idx="1"/>
          </p:nvPr>
        </p:nvPicPr>
        <p:blipFill>
          <a:blip r:embed="rId2"/>
          <a:stretch>
            <a:fillRect/>
          </a:stretch>
        </p:blipFill>
        <p:spPr>
          <a:xfrm>
            <a:off x="838200" y="1690688"/>
            <a:ext cx="9277350" cy="4347281"/>
          </a:xfrm>
        </p:spPr>
      </p:pic>
    </p:spTree>
    <p:extLst>
      <p:ext uri="{BB962C8B-B14F-4D97-AF65-F5344CB8AC3E}">
        <p14:creationId xmlns:p14="http://schemas.microsoft.com/office/powerpoint/2010/main" val="5977561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B95B-2568-7885-5F02-4E74F12D9032}"/>
              </a:ext>
            </a:extLst>
          </p:cNvPr>
          <p:cNvSpPr>
            <a:spLocks noGrp="1"/>
          </p:cNvSpPr>
          <p:nvPr>
            <p:ph type="title"/>
          </p:nvPr>
        </p:nvSpPr>
        <p:spPr>
          <a:xfrm>
            <a:off x="838200" y="365125"/>
            <a:ext cx="10515600" cy="779463"/>
          </a:xfrm>
        </p:spPr>
        <p:txBody>
          <a:bodyPr/>
          <a:lstStyle/>
          <a:p>
            <a:r>
              <a:rPr lang="en-US" u="sng" dirty="0"/>
              <a:t>Enum</a:t>
            </a:r>
          </a:p>
        </p:txBody>
      </p:sp>
      <p:sp>
        <p:nvSpPr>
          <p:cNvPr id="3" name="Content Placeholder 2">
            <a:extLst>
              <a:ext uri="{FF2B5EF4-FFF2-40B4-BE49-F238E27FC236}">
                <a16:creationId xmlns:a16="http://schemas.microsoft.com/office/drawing/2014/main" id="{B4493E5C-967F-33AE-38BF-E2F0AA2895F7}"/>
              </a:ext>
            </a:extLst>
          </p:cNvPr>
          <p:cNvSpPr>
            <a:spLocks noGrp="1"/>
          </p:cNvSpPr>
          <p:nvPr>
            <p:ph idx="1"/>
          </p:nvPr>
        </p:nvSpPr>
        <p:spPr>
          <a:xfrm>
            <a:off x="524656" y="1303867"/>
            <a:ext cx="10829144" cy="5336776"/>
          </a:xfrm>
        </p:spPr>
        <p:txBody>
          <a:bodyPr>
            <a:normAutofit/>
          </a:bodyPr>
          <a:lstStyle/>
          <a:p>
            <a:pPr algn="just"/>
            <a:r>
              <a:rPr lang="en-IN" b="0" i="0" dirty="0">
                <a:solidFill>
                  <a:srgbClr val="333333"/>
                </a:solidFill>
                <a:effectLst/>
              </a:rPr>
              <a:t>The </a:t>
            </a:r>
            <a:r>
              <a:rPr lang="en-IN" b="1" i="0" dirty="0">
                <a:solidFill>
                  <a:srgbClr val="333333"/>
                </a:solidFill>
                <a:effectLst/>
              </a:rPr>
              <a:t>Enum in Java</a:t>
            </a:r>
            <a:r>
              <a:rPr lang="en-IN" b="0" i="0" dirty="0">
                <a:solidFill>
                  <a:srgbClr val="333333"/>
                </a:solidFill>
                <a:effectLst/>
              </a:rPr>
              <a:t> is a data type which contains a fixed set of constants.</a:t>
            </a:r>
          </a:p>
          <a:p>
            <a:r>
              <a:rPr lang="en-IN" dirty="0"/>
              <a:t>Ensures that variables only take predefined values.</a:t>
            </a:r>
          </a:p>
          <a:p>
            <a:r>
              <a:rPr lang="en-IN" b="0" i="0" dirty="0">
                <a:solidFill>
                  <a:srgbClr val="333333"/>
                </a:solidFill>
                <a:effectLst/>
                <a:latin typeface="Calibri" panose="020F0502020204030204" pitchFamily="34" charset="0"/>
                <a:cs typeface="Calibri" panose="020F0502020204030204" pitchFamily="34" charset="0"/>
              </a:rPr>
              <a:t>Java Enum internally inherits the </a:t>
            </a:r>
            <a:r>
              <a:rPr lang="en-IN" b="0" i="1" dirty="0">
                <a:solidFill>
                  <a:srgbClr val="333333"/>
                </a:solidFill>
                <a:effectLst/>
                <a:latin typeface="Calibri" panose="020F0502020204030204" pitchFamily="34" charset="0"/>
                <a:cs typeface="Calibri" panose="020F0502020204030204" pitchFamily="34" charset="0"/>
              </a:rPr>
              <a:t>Enum class</a:t>
            </a:r>
            <a:r>
              <a:rPr lang="en-IN" b="0" i="0" dirty="0">
                <a:solidFill>
                  <a:srgbClr val="333333"/>
                </a:solidFill>
                <a:effectLst/>
                <a:latin typeface="Calibri" panose="020F0502020204030204" pitchFamily="34" charset="0"/>
                <a:cs typeface="Calibri" panose="020F0502020204030204" pitchFamily="34" charset="0"/>
              </a:rPr>
              <a:t>, so it cannot inherit any other class, but it can implement many interfaces. We can have fields, constructors, methods, and main methods in Java </a:t>
            </a:r>
            <a:r>
              <a:rPr lang="en-IN" b="0" i="0" dirty="0" err="1">
                <a:solidFill>
                  <a:srgbClr val="333333"/>
                </a:solidFill>
                <a:effectLst/>
                <a:latin typeface="Calibri" panose="020F0502020204030204" pitchFamily="34" charset="0"/>
                <a:cs typeface="Calibri" panose="020F0502020204030204" pitchFamily="34" charset="0"/>
              </a:rPr>
              <a:t>enum</a:t>
            </a:r>
            <a:r>
              <a:rPr lang="en-IN" b="0" i="0" dirty="0">
                <a:solidFill>
                  <a:srgbClr val="333333"/>
                </a:solidFill>
                <a:effectLst/>
                <a:latin typeface="Calibri" panose="020F0502020204030204" pitchFamily="34" charset="0"/>
                <a:cs typeface="Calibri" panose="020F0502020204030204" pitchFamily="34" charset="0"/>
              </a:rPr>
              <a:t>.</a:t>
            </a:r>
          </a:p>
          <a:p>
            <a:r>
              <a:rPr lang="en-IN" b="1" dirty="0"/>
              <a:t>Readability:</a:t>
            </a:r>
            <a:r>
              <a:rPr lang="en-IN" dirty="0"/>
              <a:t> Enhances code readability by giving meaningful names to constants.</a:t>
            </a:r>
            <a:endParaRPr lang="en-IN" b="0" i="0" dirty="0">
              <a:solidFill>
                <a:srgbClr val="333333"/>
              </a:solidFill>
              <a:effectLst/>
              <a:latin typeface="Calibri" panose="020F0502020204030204" pitchFamily="34" charset="0"/>
              <a:cs typeface="Calibri" panose="020F0502020204030204" pitchFamily="34" charset="0"/>
            </a:endParaRPr>
          </a:p>
          <a:p>
            <a:r>
              <a:rPr lang="en-US" dirty="0">
                <a:latin typeface="Calibri" panose="020F0502020204030204" pitchFamily="34" charset="0"/>
                <a:cs typeface="Calibri" panose="020F0502020204030204" pitchFamily="34" charset="0"/>
              </a:rPr>
              <a:t>List of named constants.</a:t>
            </a:r>
          </a:p>
          <a:p>
            <a:pPr marL="0" indent="0">
              <a:buNone/>
            </a:pPr>
            <a:r>
              <a:rPr lang="en-US" dirty="0">
                <a:latin typeface="Calibri" panose="020F0502020204030204" pitchFamily="34" charset="0"/>
                <a:cs typeface="Calibri" panose="020F0502020204030204" pitchFamily="34" charset="0"/>
              </a:rPr>
              <a:t>Enum is a class that’s why we</a:t>
            </a:r>
          </a:p>
          <a:p>
            <a:pPr marL="0" indent="0">
              <a:buNone/>
            </a:pPr>
            <a:r>
              <a:rPr lang="en-US" dirty="0">
                <a:latin typeface="Calibri" panose="020F0502020204030204" pitchFamily="34" charset="0"/>
                <a:cs typeface="Calibri" panose="020F0502020204030204" pitchFamily="34" charset="0"/>
              </a:rPr>
              <a:t>have created &amp; accessed with </a:t>
            </a:r>
          </a:p>
          <a:p>
            <a:pPr marL="0" indent="0">
              <a:buNone/>
            </a:pPr>
            <a:r>
              <a:rPr lang="en-US" dirty="0">
                <a:latin typeface="Calibri" panose="020F0502020204030204" pitchFamily="34" charset="0"/>
                <a:cs typeface="Calibri" panose="020F0502020204030204" pitchFamily="34" charset="0"/>
              </a:rPr>
              <a:t>the name of </a:t>
            </a:r>
            <a:r>
              <a:rPr lang="en-US" dirty="0" err="1">
                <a:latin typeface="Calibri" panose="020F0502020204030204" pitchFamily="34" charset="0"/>
                <a:cs typeface="Calibri" panose="020F0502020204030204" pitchFamily="34" charset="0"/>
              </a:rPr>
              <a:t>enum</a:t>
            </a:r>
            <a:r>
              <a:rPr lang="en-US" dirty="0">
                <a:latin typeface="Calibri" panose="020F0502020204030204" pitchFamily="34" charset="0"/>
                <a:cs typeface="Calibri" panose="020F0502020204030204" pitchFamily="34" charset="0"/>
              </a:rPr>
              <a:t> class</a:t>
            </a:r>
          </a:p>
          <a:p>
            <a:endParaRPr lang="en-US" dirty="0">
              <a:latin typeface="Calibri" panose="020F0502020204030204" pitchFamily="34" charset="0"/>
              <a:cs typeface="Calibri" panose="020F0502020204030204" pitchFamily="34" charset="0"/>
            </a:endParaRPr>
          </a:p>
        </p:txBody>
      </p:sp>
      <p:pic>
        <p:nvPicPr>
          <p:cNvPr id="5" name="Picture 4" descr="A screenshot of a computer code&#10;&#10;Description automatically generated">
            <a:extLst>
              <a:ext uri="{FF2B5EF4-FFF2-40B4-BE49-F238E27FC236}">
                <a16:creationId xmlns:a16="http://schemas.microsoft.com/office/drawing/2014/main" id="{BF7697EB-661D-4241-7D3A-BB65730250D4}"/>
              </a:ext>
            </a:extLst>
          </p:cNvPr>
          <p:cNvPicPr>
            <a:picLocks noChangeAspect="1"/>
          </p:cNvPicPr>
          <p:nvPr/>
        </p:nvPicPr>
        <p:blipFill>
          <a:blip r:embed="rId2"/>
          <a:stretch>
            <a:fillRect/>
          </a:stretch>
        </p:blipFill>
        <p:spPr>
          <a:xfrm>
            <a:off x="5647267" y="4482058"/>
            <a:ext cx="5486400" cy="1854183"/>
          </a:xfrm>
          <a:prstGeom prst="rect">
            <a:avLst/>
          </a:prstGeom>
        </p:spPr>
      </p:pic>
    </p:spTree>
    <p:extLst>
      <p:ext uri="{BB962C8B-B14F-4D97-AF65-F5344CB8AC3E}">
        <p14:creationId xmlns:p14="http://schemas.microsoft.com/office/powerpoint/2010/main" val="25650594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A40E0A-C051-FACD-60B6-5DBC35A2758A}"/>
              </a:ext>
            </a:extLst>
          </p:cNvPr>
          <p:cNvSpPr>
            <a:spLocks noGrp="1"/>
          </p:cNvSpPr>
          <p:nvPr>
            <p:ph type="title"/>
          </p:nvPr>
        </p:nvSpPr>
        <p:spPr/>
        <p:txBody>
          <a:bodyPr/>
          <a:lstStyle/>
          <a:p>
            <a:r>
              <a:rPr lang="en-US" u="sng" dirty="0"/>
              <a:t>Applet</a:t>
            </a:r>
          </a:p>
        </p:txBody>
      </p:sp>
      <p:pic>
        <p:nvPicPr>
          <p:cNvPr id="5" name="Content Placeholder 4" descr="A white background with black text&#10;&#10;Description automatically generated">
            <a:extLst>
              <a:ext uri="{FF2B5EF4-FFF2-40B4-BE49-F238E27FC236}">
                <a16:creationId xmlns:a16="http://schemas.microsoft.com/office/drawing/2014/main" id="{BD886BB6-4498-B7CC-2864-301E35F764D1}"/>
              </a:ext>
            </a:extLst>
          </p:cNvPr>
          <p:cNvPicPr>
            <a:picLocks noGrp="1" noChangeAspect="1"/>
          </p:cNvPicPr>
          <p:nvPr>
            <p:ph idx="1"/>
          </p:nvPr>
        </p:nvPicPr>
        <p:blipFill>
          <a:blip r:embed="rId2"/>
          <a:stretch>
            <a:fillRect/>
          </a:stretch>
        </p:blipFill>
        <p:spPr>
          <a:xfrm>
            <a:off x="1498600" y="3017044"/>
            <a:ext cx="9194800" cy="1968500"/>
          </a:xfrm>
        </p:spPr>
      </p:pic>
    </p:spTree>
    <p:extLst>
      <p:ext uri="{BB962C8B-B14F-4D97-AF65-F5344CB8AC3E}">
        <p14:creationId xmlns:p14="http://schemas.microsoft.com/office/powerpoint/2010/main" val="41694057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B89C67-8CC9-6C57-267B-85A85A50AC4D}"/>
              </a:ext>
            </a:extLst>
          </p:cNvPr>
          <p:cNvSpPr>
            <a:spLocks noGrp="1"/>
          </p:cNvSpPr>
          <p:nvPr>
            <p:ph type="title"/>
          </p:nvPr>
        </p:nvSpPr>
        <p:spPr>
          <a:xfrm>
            <a:off x="838200" y="365125"/>
            <a:ext cx="10515600" cy="650875"/>
          </a:xfrm>
        </p:spPr>
        <p:txBody>
          <a:bodyPr>
            <a:normAutofit fontScale="90000"/>
          </a:bodyPr>
          <a:lstStyle/>
          <a:p>
            <a:r>
              <a:rPr lang="en-US" u="sng" dirty="0"/>
              <a:t>Static</a:t>
            </a:r>
          </a:p>
        </p:txBody>
      </p:sp>
      <p:sp>
        <p:nvSpPr>
          <p:cNvPr id="3" name="Content Placeholder 2">
            <a:extLst>
              <a:ext uri="{FF2B5EF4-FFF2-40B4-BE49-F238E27FC236}">
                <a16:creationId xmlns:a16="http://schemas.microsoft.com/office/drawing/2014/main" id="{4E309310-75AD-E13A-681F-B766854A5F69}"/>
              </a:ext>
            </a:extLst>
          </p:cNvPr>
          <p:cNvSpPr>
            <a:spLocks noGrp="1"/>
          </p:cNvSpPr>
          <p:nvPr>
            <p:ph idx="1"/>
          </p:nvPr>
        </p:nvSpPr>
        <p:spPr>
          <a:xfrm>
            <a:off x="838200" y="1202267"/>
            <a:ext cx="10515600" cy="4974696"/>
          </a:xfrm>
        </p:spPr>
        <p:txBody>
          <a:bodyPr/>
          <a:lstStyle/>
          <a:p>
            <a:pPr algn="l"/>
            <a:r>
              <a:rPr lang="en-IN" b="0" i="0" dirty="0">
                <a:effectLst/>
              </a:rPr>
              <a:t>The static keyword used for methods and attributes. Static methods/attributes can be accessed without creating an object of a class.</a:t>
            </a:r>
          </a:p>
          <a:p>
            <a:pPr algn="l"/>
            <a:r>
              <a:rPr lang="en-IN" dirty="0"/>
              <a:t>Static methods and static blocks cannot use the this or super keywords as they do not belong to any instance.</a:t>
            </a:r>
            <a:endParaRPr lang="en-IN" b="0" i="0" dirty="0">
              <a:effectLst/>
            </a:endParaRPr>
          </a:p>
          <a:p>
            <a:pPr marL="0" indent="0">
              <a:buNone/>
            </a:pPr>
            <a:br>
              <a:rPr lang="en-IN" dirty="0"/>
            </a:br>
            <a:endParaRPr lang="en-US" dirty="0"/>
          </a:p>
        </p:txBody>
      </p:sp>
      <p:pic>
        <p:nvPicPr>
          <p:cNvPr id="7" name="Picture 6" descr="A screenshot of a computer program&#10;&#10;Description automatically generated">
            <a:extLst>
              <a:ext uri="{FF2B5EF4-FFF2-40B4-BE49-F238E27FC236}">
                <a16:creationId xmlns:a16="http://schemas.microsoft.com/office/drawing/2014/main" id="{B7961CB1-39CD-5858-FB9A-B6C7B2535710}"/>
              </a:ext>
            </a:extLst>
          </p:cNvPr>
          <p:cNvPicPr>
            <a:picLocks noChangeAspect="1"/>
          </p:cNvPicPr>
          <p:nvPr/>
        </p:nvPicPr>
        <p:blipFill>
          <a:blip r:embed="rId2"/>
          <a:stretch>
            <a:fillRect/>
          </a:stretch>
        </p:blipFill>
        <p:spPr>
          <a:xfrm>
            <a:off x="3416368" y="3429000"/>
            <a:ext cx="7683432" cy="3276600"/>
          </a:xfrm>
          <a:prstGeom prst="rect">
            <a:avLst/>
          </a:prstGeom>
        </p:spPr>
      </p:pic>
    </p:spTree>
    <p:extLst>
      <p:ext uri="{BB962C8B-B14F-4D97-AF65-F5344CB8AC3E}">
        <p14:creationId xmlns:p14="http://schemas.microsoft.com/office/powerpoint/2010/main" val="377185721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7D016F-2A3E-5EA2-DC68-3CC73D949A85}"/>
              </a:ext>
            </a:extLst>
          </p:cNvPr>
          <p:cNvSpPr>
            <a:spLocks noGrp="1"/>
          </p:cNvSpPr>
          <p:nvPr>
            <p:ph type="title"/>
          </p:nvPr>
        </p:nvSpPr>
        <p:spPr>
          <a:xfrm>
            <a:off x="630936" y="639520"/>
            <a:ext cx="3429000" cy="1239292"/>
          </a:xfrm>
        </p:spPr>
        <p:txBody>
          <a:bodyPr anchor="b">
            <a:normAutofit/>
          </a:bodyPr>
          <a:lstStyle/>
          <a:p>
            <a:r>
              <a:rPr lang="en-US" sz="5400" u="sng" dirty="0"/>
              <a:t>Final</a:t>
            </a:r>
          </a:p>
        </p:txBody>
      </p:sp>
      <p:sp>
        <p:nvSpPr>
          <p:cNvPr id="12"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onnsiteX0" fmla="*/ 0 w 3255095"/>
              <a:gd name="connsiteY0" fmla="*/ 0 h 18288"/>
              <a:gd name="connsiteX1" fmla="*/ 618468 w 3255095"/>
              <a:gd name="connsiteY1" fmla="*/ 0 h 18288"/>
              <a:gd name="connsiteX2" fmla="*/ 1269487 w 3255095"/>
              <a:gd name="connsiteY2" fmla="*/ 0 h 18288"/>
              <a:gd name="connsiteX3" fmla="*/ 1953057 w 3255095"/>
              <a:gd name="connsiteY3" fmla="*/ 0 h 18288"/>
              <a:gd name="connsiteX4" fmla="*/ 2636627 w 3255095"/>
              <a:gd name="connsiteY4" fmla="*/ 0 h 18288"/>
              <a:gd name="connsiteX5" fmla="*/ 3255095 w 3255095"/>
              <a:gd name="connsiteY5" fmla="*/ 0 h 18288"/>
              <a:gd name="connsiteX6" fmla="*/ 3255095 w 3255095"/>
              <a:gd name="connsiteY6" fmla="*/ 18288 h 18288"/>
              <a:gd name="connsiteX7" fmla="*/ 2538974 w 3255095"/>
              <a:gd name="connsiteY7" fmla="*/ 18288 h 18288"/>
              <a:gd name="connsiteX8" fmla="*/ 1822853 w 3255095"/>
              <a:gd name="connsiteY8" fmla="*/ 18288 h 18288"/>
              <a:gd name="connsiteX9" fmla="*/ 1171834 w 3255095"/>
              <a:gd name="connsiteY9" fmla="*/ 18288 h 18288"/>
              <a:gd name="connsiteX10" fmla="*/ 0 w 3255095"/>
              <a:gd name="connsiteY10" fmla="*/ 18288 h 18288"/>
              <a:gd name="connsiteX11" fmla="*/ 0 w 3255095"/>
              <a:gd name="connsiteY11"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2381585C-242C-F58A-602E-7CB6BB7A82C1}"/>
              </a:ext>
            </a:extLst>
          </p:cNvPr>
          <p:cNvSpPr>
            <a:spLocks noGrp="1"/>
          </p:cNvSpPr>
          <p:nvPr>
            <p:ph idx="1"/>
          </p:nvPr>
        </p:nvSpPr>
        <p:spPr>
          <a:xfrm>
            <a:off x="630935" y="2807207"/>
            <a:ext cx="4600631" cy="3883503"/>
          </a:xfrm>
        </p:spPr>
        <p:txBody>
          <a:bodyPr anchor="t">
            <a:normAutofit fontScale="92500" lnSpcReduction="20000"/>
          </a:bodyPr>
          <a:lstStyle/>
          <a:p>
            <a:r>
              <a:rPr lang="en-IN" sz="2400" b="0" i="0" dirty="0">
                <a:effectLst/>
                <a:cs typeface="Calibri" panose="020F0502020204030204" pitchFamily="34" charset="0"/>
              </a:rPr>
              <a:t>If you make any variable as final, you cannot change the value of final variable(It will be constant).</a:t>
            </a:r>
          </a:p>
          <a:p>
            <a:r>
              <a:rPr lang="en-IN" sz="2400" b="0" i="0" dirty="0">
                <a:effectLst/>
                <a:cs typeface="Calibri" panose="020F0502020204030204" pitchFamily="34" charset="0"/>
              </a:rPr>
              <a:t>If you make any class as final, you cannot extend it.</a:t>
            </a:r>
          </a:p>
          <a:p>
            <a:r>
              <a:rPr lang="en-IN" sz="2400" b="0" i="0" dirty="0">
                <a:effectLst/>
                <a:cs typeface="Calibri" panose="020F0502020204030204" pitchFamily="34" charset="0"/>
              </a:rPr>
              <a:t>If you make any method as final, you cannot override it.</a:t>
            </a:r>
          </a:p>
          <a:p>
            <a:r>
              <a:rPr lang="en-IN" sz="2200" dirty="0">
                <a:cs typeface="Calibri" panose="020F0502020204030204" pitchFamily="34" charset="0"/>
              </a:rPr>
              <a:t>In Java, the final keyword is used to apply restrictions on classes, methods, and variables.</a:t>
            </a:r>
          </a:p>
          <a:p>
            <a:r>
              <a:rPr lang="en-IN" sz="2600" b="0" i="0" dirty="0">
                <a:solidFill>
                  <a:srgbClr val="040C28"/>
                </a:solidFill>
                <a:effectLst/>
              </a:rPr>
              <a:t>Python does not have a keyword "final"</a:t>
            </a:r>
            <a:r>
              <a:rPr lang="en-IN" sz="2600" b="0" i="0" dirty="0">
                <a:solidFill>
                  <a:srgbClr val="202124"/>
                </a:solidFill>
                <a:effectLst/>
              </a:rPr>
              <a:t>. </a:t>
            </a:r>
            <a:br>
              <a:rPr lang="en-IN" sz="2400" dirty="0">
                <a:cs typeface="Calibri" panose="020F0502020204030204" pitchFamily="34" charset="0"/>
              </a:rPr>
            </a:br>
            <a:endParaRPr lang="en-US" sz="2400" dirty="0">
              <a:cs typeface="Calibri" panose="020F0502020204030204" pitchFamily="34" charset="0"/>
            </a:endParaRPr>
          </a:p>
        </p:txBody>
      </p:sp>
      <p:pic>
        <p:nvPicPr>
          <p:cNvPr id="5" name="Picture 4" descr="A screenshot of a computer program&#10;&#10;Description automatically generated">
            <a:extLst>
              <a:ext uri="{FF2B5EF4-FFF2-40B4-BE49-F238E27FC236}">
                <a16:creationId xmlns:a16="http://schemas.microsoft.com/office/drawing/2014/main" id="{A334A448-2CB0-6F68-C887-4AA023ACC1F4}"/>
              </a:ext>
            </a:extLst>
          </p:cNvPr>
          <p:cNvPicPr>
            <a:picLocks noChangeAspect="1"/>
          </p:cNvPicPr>
          <p:nvPr/>
        </p:nvPicPr>
        <p:blipFill>
          <a:blip r:embed="rId2"/>
          <a:stretch>
            <a:fillRect/>
          </a:stretch>
        </p:blipFill>
        <p:spPr>
          <a:xfrm>
            <a:off x="5400904" y="640080"/>
            <a:ext cx="5410504" cy="5577840"/>
          </a:xfrm>
          <a:prstGeom prst="rect">
            <a:avLst/>
          </a:prstGeom>
        </p:spPr>
      </p:pic>
    </p:spTree>
    <p:extLst>
      <p:ext uri="{BB962C8B-B14F-4D97-AF65-F5344CB8AC3E}">
        <p14:creationId xmlns:p14="http://schemas.microsoft.com/office/powerpoint/2010/main" val="2335420400"/>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3521F4-D6B5-225D-4369-85DDB00623E3}"/>
              </a:ext>
            </a:extLst>
          </p:cNvPr>
          <p:cNvSpPr>
            <a:spLocks noGrp="1"/>
          </p:cNvSpPr>
          <p:nvPr>
            <p:ph type="title"/>
          </p:nvPr>
        </p:nvSpPr>
        <p:spPr/>
        <p:txBody>
          <a:bodyPr/>
          <a:lstStyle/>
          <a:p>
            <a:r>
              <a:rPr lang="en-US" u="sng" dirty="0"/>
              <a:t>Final</a:t>
            </a:r>
          </a:p>
        </p:txBody>
      </p:sp>
      <p:pic>
        <p:nvPicPr>
          <p:cNvPr id="9" name="Content Placeholder 8" descr="A screenshot of a computer program&#10;&#10;Description automatically generated">
            <a:extLst>
              <a:ext uri="{FF2B5EF4-FFF2-40B4-BE49-F238E27FC236}">
                <a16:creationId xmlns:a16="http://schemas.microsoft.com/office/drawing/2014/main" id="{23A18076-2518-BA96-31CF-EBF475E7249D}"/>
              </a:ext>
            </a:extLst>
          </p:cNvPr>
          <p:cNvPicPr>
            <a:picLocks noGrp="1" noChangeAspect="1"/>
          </p:cNvPicPr>
          <p:nvPr>
            <p:ph idx="1"/>
          </p:nvPr>
        </p:nvPicPr>
        <p:blipFill>
          <a:blip r:embed="rId2"/>
          <a:stretch>
            <a:fillRect/>
          </a:stretch>
        </p:blipFill>
        <p:spPr>
          <a:xfrm>
            <a:off x="2082800" y="1825625"/>
            <a:ext cx="7264054" cy="4351338"/>
          </a:xfrm>
        </p:spPr>
      </p:pic>
    </p:spTree>
    <p:extLst>
      <p:ext uri="{BB962C8B-B14F-4D97-AF65-F5344CB8AC3E}">
        <p14:creationId xmlns:p14="http://schemas.microsoft.com/office/powerpoint/2010/main" val="1130418891"/>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E0F8B0-A4F0-5DDD-1468-61253497C6F1}"/>
              </a:ext>
            </a:extLst>
          </p:cNvPr>
          <p:cNvSpPr>
            <a:spLocks noGrp="1"/>
          </p:cNvSpPr>
          <p:nvPr>
            <p:ph type="title"/>
          </p:nvPr>
        </p:nvSpPr>
        <p:spPr/>
        <p:txBody>
          <a:bodyPr/>
          <a:lstStyle/>
          <a:p>
            <a:r>
              <a:rPr lang="en-US" u="sng" dirty="0"/>
              <a:t>Method Overriding</a:t>
            </a:r>
          </a:p>
        </p:txBody>
      </p:sp>
      <p:pic>
        <p:nvPicPr>
          <p:cNvPr id="5" name="Content Placeholder 4">
            <a:extLst>
              <a:ext uri="{FF2B5EF4-FFF2-40B4-BE49-F238E27FC236}">
                <a16:creationId xmlns:a16="http://schemas.microsoft.com/office/drawing/2014/main" id="{C33D39BF-8446-ED12-4012-49437DC38B38}"/>
              </a:ext>
            </a:extLst>
          </p:cNvPr>
          <p:cNvPicPr>
            <a:picLocks noGrp="1" noChangeAspect="1"/>
          </p:cNvPicPr>
          <p:nvPr>
            <p:ph idx="1"/>
          </p:nvPr>
        </p:nvPicPr>
        <p:blipFill>
          <a:blip r:embed="rId2"/>
          <a:stretch>
            <a:fillRect/>
          </a:stretch>
        </p:blipFill>
        <p:spPr>
          <a:xfrm>
            <a:off x="838200" y="1840177"/>
            <a:ext cx="6731000" cy="393700"/>
          </a:xfrm>
        </p:spPr>
      </p:pic>
      <p:pic>
        <p:nvPicPr>
          <p:cNvPr id="7" name="Picture 6" descr="A computer screen with text on it&#10;&#10;Description automatically generated">
            <a:extLst>
              <a:ext uri="{FF2B5EF4-FFF2-40B4-BE49-F238E27FC236}">
                <a16:creationId xmlns:a16="http://schemas.microsoft.com/office/drawing/2014/main" id="{81BEDB39-55A8-4AD7-1320-00C1A8A98BBD}"/>
              </a:ext>
            </a:extLst>
          </p:cNvPr>
          <p:cNvPicPr>
            <a:picLocks noChangeAspect="1"/>
          </p:cNvPicPr>
          <p:nvPr/>
        </p:nvPicPr>
        <p:blipFill>
          <a:blip r:embed="rId3"/>
          <a:stretch>
            <a:fillRect/>
          </a:stretch>
        </p:blipFill>
        <p:spPr>
          <a:xfrm>
            <a:off x="4965700" y="2233877"/>
            <a:ext cx="6388100" cy="4381500"/>
          </a:xfrm>
          <a:prstGeom prst="rect">
            <a:avLst/>
          </a:prstGeom>
        </p:spPr>
      </p:pic>
    </p:spTree>
    <p:extLst>
      <p:ext uri="{BB962C8B-B14F-4D97-AF65-F5344CB8AC3E}">
        <p14:creationId xmlns:p14="http://schemas.microsoft.com/office/powerpoint/2010/main" val="1622368419"/>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05FE05E-85A9-82BA-E517-12CDCBFCDB4E}"/>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dirty="0"/>
              <a:t>Method Overloading</a:t>
            </a:r>
          </a:p>
        </p:txBody>
      </p:sp>
      <p:pic>
        <p:nvPicPr>
          <p:cNvPr id="5" name="Content Placeholder 4" descr="A screenshot of a computer program&#10;&#10;Description automatically generated">
            <a:extLst>
              <a:ext uri="{FF2B5EF4-FFF2-40B4-BE49-F238E27FC236}">
                <a16:creationId xmlns:a16="http://schemas.microsoft.com/office/drawing/2014/main" id="{BFA8314A-0E60-BC55-FC88-EAB1863D2437}"/>
              </a:ext>
            </a:extLst>
          </p:cNvPr>
          <p:cNvPicPr>
            <a:picLocks noGrp="1" noChangeAspect="1"/>
          </p:cNvPicPr>
          <p:nvPr>
            <p:ph idx="1"/>
          </p:nvPr>
        </p:nvPicPr>
        <p:blipFill>
          <a:blip r:embed="rId2"/>
          <a:stretch>
            <a:fillRect/>
          </a:stretch>
        </p:blipFill>
        <p:spPr>
          <a:xfrm>
            <a:off x="560230" y="2957665"/>
            <a:ext cx="5070268" cy="3346376"/>
          </a:xfrm>
          <a:prstGeom prst="rect">
            <a:avLst/>
          </a:prstGeom>
        </p:spPr>
      </p:pic>
      <p:pic>
        <p:nvPicPr>
          <p:cNvPr id="7" name="Picture 6" descr="A white background with black text&#10;&#10;Description automatically generated">
            <a:extLst>
              <a:ext uri="{FF2B5EF4-FFF2-40B4-BE49-F238E27FC236}">
                <a16:creationId xmlns:a16="http://schemas.microsoft.com/office/drawing/2014/main" id="{7AE8BD54-027B-FB1A-6914-0B501A90A7A0}"/>
              </a:ext>
            </a:extLst>
          </p:cNvPr>
          <p:cNvPicPr>
            <a:picLocks noChangeAspect="1"/>
          </p:cNvPicPr>
          <p:nvPr/>
        </p:nvPicPr>
        <p:blipFill>
          <a:blip r:embed="rId3"/>
          <a:stretch>
            <a:fillRect/>
          </a:stretch>
        </p:blipFill>
        <p:spPr>
          <a:xfrm>
            <a:off x="6182505" y="3953318"/>
            <a:ext cx="5828261" cy="1355069"/>
          </a:xfrm>
          <a:prstGeom prst="rect">
            <a:avLst/>
          </a:prstGeom>
        </p:spPr>
      </p:pic>
    </p:spTree>
    <p:extLst>
      <p:ext uri="{BB962C8B-B14F-4D97-AF65-F5344CB8AC3E}">
        <p14:creationId xmlns:p14="http://schemas.microsoft.com/office/powerpoint/2010/main" val="14625285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A96983-B2AD-4655-4671-8C6DD5CB4485}"/>
              </a:ext>
            </a:extLst>
          </p:cNvPr>
          <p:cNvSpPr>
            <a:spLocks noGrp="1"/>
          </p:cNvSpPr>
          <p:nvPr>
            <p:ph type="title"/>
          </p:nvPr>
        </p:nvSpPr>
        <p:spPr/>
        <p:txBody>
          <a:bodyPr/>
          <a:lstStyle/>
          <a:p>
            <a:r>
              <a:rPr lang="en-US" sz="4400" u="sng" dirty="0"/>
              <a:t>Method Overloading</a:t>
            </a:r>
            <a:endParaRPr lang="en-US" dirty="0"/>
          </a:p>
        </p:txBody>
      </p:sp>
      <p:sp>
        <p:nvSpPr>
          <p:cNvPr id="3" name="Content Placeholder 2">
            <a:extLst>
              <a:ext uri="{FF2B5EF4-FFF2-40B4-BE49-F238E27FC236}">
                <a16:creationId xmlns:a16="http://schemas.microsoft.com/office/drawing/2014/main" id="{114FF085-5D5F-3C4B-EA95-7757153DDC00}"/>
              </a:ext>
            </a:extLst>
          </p:cNvPr>
          <p:cNvSpPr>
            <a:spLocks noGrp="1"/>
          </p:cNvSpPr>
          <p:nvPr>
            <p:ph idx="1"/>
          </p:nvPr>
        </p:nvSpPr>
        <p:spPr/>
        <p:txBody>
          <a:bodyPr/>
          <a:lstStyle/>
          <a:p>
            <a:r>
              <a:rPr lang="en-IN" dirty="0"/>
              <a:t>No, in Java, you cannot have a method in a subclass with the exact same name and parameter types as a method in its superclass. This violates the rule of method overriding, which requires that the overriding method in the subclass must have a signature (method name and parameter types) that matches exactly with the method being overridden in the superclass.</a:t>
            </a:r>
            <a:endParaRPr lang="en-US" dirty="0"/>
          </a:p>
        </p:txBody>
      </p:sp>
    </p:spTree>
    <p:extLst>
      <p:ext uri="{BB962C8B-B14F-4D97-AF65-F5344CB8AC3E}">
        <p14:creationId xmlns:p14="http://schemas.microsoft.com/office/powerpoint/2010/main" val="399364669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7843ED-097F-E2F9-944C-A347AA05EC1E}"/>
              </a:ext>
            </a:extLst>
          </p:cNvPr>
          <p:cNvSpPr>
            <a:spLocks noGrp="1"/>
          </p:cNvSpPr>
          <p:nvPr>
            <p:ph type="title"/>
          </p:nvPr>
        </p:nvSpPr>
        <p:spPr/>
        <p:txBody>
          <a:bodyPr/>
          <a:lstStyle/>
          <a:p>
            <a:r>
              <a:rPr lang="en-US" u="sng" dirty="0"/>
              <a:t>Encapsulation</a:t>
            </a:r>
          </a:p>
        </p:txBody>
      </p:sp>
      <p:sp>
        <p:nvSpPr>
          <p:cNvPr id="3" name="Content Placeholder 2">
            <a:extLst>
              <a:ext uri="{FF2B5EF4-FFF2-40B4-BE49-F238E27FC236}">
                <a16:creationId xmlns:a16="http://schemas.microsoft.com/office/drawing/2014/main" id="{CE3E4272-529B-4366-0533-8F4BC12BBB2A}"/>
              </a:ext>
            </a:extLst>
          </p:cNvPr>
          <p:cNvSpPr>
            <a:spLocks noGrp="1"/>
          </p:cNvSpPr>
          <p:nvPr>
            <p:ph idx="1"/>
          </p:nvPr>
        </p:nvSpPr>
        <p:spPr/>
        <p:txBody>
          <a:bodyPr>
            <a:normAutofit fontScale="92500" lnSpcReduction="10000"/>
          </a:bodyPr>
          <a:lstStyle/>
          <a:p>
            <a:r>
              <a:rPr lang="en-IN" b="1" i="0" dirty="0">
                <a:solidFill>
                  <a:srgbClr val="333333"/>
                </a:solidFill>
                <a:effectLst/>
              </a:rPr>
              <a:t>Encapsulation in Java</a:t>
            </a:r>
            <a:r>
              <a:rPr lang="en-IN" b="0" i="0" dirty="0">
                <a:solidFill>
                  <a:srgbClr val="333333"/>
                </a:solidFill>
                <a:effectLst/>
              </a:rPr>
              <a:t> is a </a:t>
            </a:r>
            <a:r>
              <a:rPr lang="en-IN" b="0" i="1" dirty="0">
                <a:solidFill>
                  <a:srgbClr val="333333"/>
                </a:solidFill>
                <a:effectLst/>
              </a:rPr>
              <a:t>process of wrapping code and data together into a single unit</a:t>
            </a:r>
            <a:r>
              <a:rPr lang="en-IN" b="0" i="0" dirty="0">
                <a:solidFill>
                  <a:srgbClr val="333333"/>
                </a:solidFill>
                <a:effectLst/>
              </a:rPr>
              <a:t>, for example, a capsule which is mixed of several medicines.</a:t>
            </a:r>
          </a:p>
          <a:p>
            <a:r>
              <a:rPr lang="en-IN" b="0" i="0" dirty="0">
                <a:solidFill>
                  <a:srgbClr val="333333"/>
                </a:solidFill>
                <a:effectLst/>
              </a:rPr>
              <a:t>We can create a fully encapsulated class in Java by making all the data members of the class private. Now we can use setter and getter methods to set and get the data in it.</a:t>
            </a:r>
          </a:p>
          <a:p>
            <a:r>
              <a:rPr lang="en-IN" dirty="0"/>
              <a:t>In Java, getters and setters are methods used to access and modify the private fields (instance variables) of a class.</a:t>
            </a:r>
          </a:p>
          <a:p>
            <a:r>
              <a:rPr lang="en-IN" b="1" dirty="0"/>
              <a:t>Access Control</a:t>
            </a:r>
            <a:r>
              <a:rPr lang="en-IN" dirty="0"/>
              <a:t>: Getters (or accessor methods) allow reading the value of a private variable, while setters (or mutator methods) allow modifying the value of a private variable. This indirect access ensures that internal state changes are controlled and validated. </a:t>
            </a:r>
            <a:endParaRPr lang="en-US" dirty="0"/>
          </a:p>
        </p:txBody>
      </p:sp>
    </p:spTree>
    <p:extLst>
      <p:ext uri="{BB962C8B-B14F-4D97-AF65-F5344CB8AC3E}">
        <p14:creationId xmlns:p14="http://schemas.microsoft.com/office/powerpoint/2010/main" val="114785783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E7D51-C296-4B5B-8007-29EA4D2E96D6}"/>
              </a:ext>
            </a:extLst>
          </p:cNvPr>
          <p:cNvSpPr>
            <a:spLocks noGrp="1"/>
          </p:cNvSpPr>
          <p:nvPr>
            <p:ph type="title"/>
          </p:nvPr>
        </p:nvSpPr>
        <p:spPr/>
        <p:txBody>
          <a:bodyPr/>
          <a:lstStyle/>
          <a:p>
            <a:r>
              <a:rPr lang="en-US" u="sng" dirty="0"/>
              <a:t>Polymorphism</a:t>
            </a:r>
          </a:p>
        </p:txBody>
      </p:sp>
      <p:sp>
        <p:nvSpPr>
          <p:cNvPr id="3" name="Content Placeholder 2">
            <a:extLst>
              <a:ext uri="{FF2B5EF4-FFF2-40B4-BE49-F238E27FC236}">
                <a16:creationId xmlns:a16="http://schemas.microsoft.com/office/drawing/2014/main" id="{D48AC968-0ED9-E6EC-B228-CA60FD1A213D}"/>
              </a:ext>
            </a:extLst>
          </p:cNvPr>
          <p:cNvSpPr>
            <a:spLocks noGrp="1"/>
          </p:cNvSpPr>
          <p:nvPr>
            <p:ph idx="1"/>
          </p:nvPr>
        </p:nvSpPr>
        <p:spPr/>
        <p:txBody>
          <a:bodyPr/>
          <a:lstStyle/>
          <a:p>
            <a:pPr algn="just"/>
            <a:r>
              <a:rPr lang="en-IN" b="1" dirty="0">
                <a:solidFill>
                  <a:srgbClr val="333333"/>
                </a:solidFill>
                <a:effectLst/>
                <a:latin typeface="inter-bold"/>
              </a:rPr>
              <a:t>Polymorphism in Java</a:t>
            </a:r>
            <a:r>
              <a:rPr lang="en-IN" b="0" dirty="0">
                <a:solidFill>
                  <a:srgbClr val="333333"/>
                </a:solidFill>
                <a:effectLst/>
                <a:latin typeface="inter-regular"/>
              </a:rPr>
              <a:t> is a concept by which we can perform a </a:t>
            </a:r>
            <a:r>
              <a:rPr lang="en-IN" b="0" i="1" dirty="0">
                <a:solidFill>
                  <a:srgbClr val="333333"/>
                </a:solidFill>
                <a:effectLst/>
                <a:latin typeface="inter-regular"/>
              </a:rPr>
              <a:t>single action in different ways</a:t>
            </a:r>
            <a:r>
              <a:rPr lang="en-IN" b="0" i="0" dirty="0">
                <a:solidFill>
                  <a:srgbClr val="333333"/>
                </a:solidFill>
                <a:effectLst/>
                <a:latin typeface="inter-regular"/>
              </a:rPr>
              <a:t>. Polymorphism is derived from 2 Greek words: poly and morphs. The word "poly" means many and "morphs" means forms. So polymorphism means many forms.</a:t>
            </a:r>
          </a:p>
          <a:p>
            <a:pPr algn="just"/>
            <a:r>
              <a:rPr lang="en-IN" dirty="0"/>
              <a:t>Polymorphism is achieved through method overriding and method overloading.</a:t>
            </a:r>
            <a:br>
              <a:rPr lang="en-IN" dirty="0"/>
            </a:br>
            <a:endParaRPr lang="en-US" dirty="0"/>
          </a:p>
        </p:txBody>
      </p:sp>
    </p:spTree>
    <p:extLst>
      <p:ext uri="{BB962C8B-B14F-4D97-AF65-F5344CB8AC3E}">
        <p14:creationId xmlns:p14="http://schemas.microsoft.com/office/powerpoint/2010/main" val="3864634584"/>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D82420D-7B55-4F48-846B-D461955CC874}"/>
              </a:ext>
            </a:extLst>
          </p:cNvPr>
          <p:cNvSpPr>
            <a:spLocks noGrp="1"/>
          </p:cNvSpPr>
          <p:nvPr>
            <p:ph type="title"/>
          </p:nvPr>
        </p:nvSpPr>
        <p:spPr>
          <a:xfrm>
            <a:off x="1137034" y="609598"/>
            <a:ext cx="9392421" cy="338670"/>
          </a:xfrm>
        </p:spPr>
        <p:txBody>
          <a:bodyPr>
            <a:normAutofit fontScale="90000"/>
          </a:bodyPr>
          <a:lstStyle/>
          <a:p>
            <a:r>
              <a:rPr lang="en-US" u="sng" dirty="0"/>
              <a:t>Abstraction</a:t>
            </a:r>
          </a:p>
        </p:txBody>
      </p:sp>
      <p:sp>
        <p:nvSpPr>
          <p:cNvPr id="3" name="Content Placeholder 2">
            <a:extLst>
              <a:ext uri="{FF2B5EF4-FFF2-40B4-BE49-F238E27FC236}">
                <a16:creationId xmlns:a16="http://schemas.microsoft.com/office/drawing/2014/main" id="{A77C9EB7-F6C9-98B2-3F39-ABECEE640EBD}"/>
              </a:ext>
            </a:extLst>
          </p:cNvPr>
          <p:cNvSpPr>
            <a:spLocks noGrp="1"/>
          </p:cNvSpPr>
          <p:nvPr>
            <p:ph idx="1"/>
          </p:nvPr>
        </p:nvSpPr>
        <p:spPr>
          <a:xfrm>
            <a:off x="186267" y="1270000"/>
            <a:ext cx="6265333" cy="4939413"/>
          </a:xfrm>
        </p:spPr>
        <p:txBody>
          <a:bodyPr>
            <a:normAutofit/>
          </a:bodyPr>
          <a:lstStyle/>
          <a:p>
            <a:pPr>
              <a:buFont typeface="Arial" panose="020B0604020202020204" pitchFamily="34" charset="0"/>
              <a:buChar char="•"/>
            </a:pPr>
            <a:r>
              <a:rPr lang="en-IN" b="0" i="0" dirty="0">
                <a:effectLst/>
              </a:rPr>
              <a:t>Data </a:t>
            </a:r>
            <a:r>
              <a:rPr lang="en-IN" b="1" i="0" dirty="0">
                <a:effectLst/>
              </a:rPr>
              <a:t>abstraction</a:t>
            </a:r>
            <a:r>
              <a:rPr lang="en-IN" b="0" i="0" dirty="0">
                <a:effectLst/>
              </a:rPr>
              <a:t> is the process of hiding certain details and showing only essential information to the user.</a:t>
            </a:r>
          </a:p>
          <a:p>
            <a:pPr marL="0" indent="0">
              <a:buNone/>
            </a:pPr>
            <a:br>
              <a:rPr lang="en-IN" dirty="0"/>
            </a:br>
            <a:r>
              <a:rPr lang="en-IN" b="1" i="0" dirty="0">
                <a:effectLst/>
              </a:rPr>
              <a:t>Abstract class:</a:t>
            </a:r>
            <a:r>
              <a:rPr lang="en-IN" b="0" i="0" dirty="0">
                <a:effectLst/>
              </a:rPr>
              <a:t> is a restricted class that cannot be used to create objects (to access it, it must be inherited from another class).</a:t>
            </a:r>
            <a:br>
              <a:rPr lang="en-IN" b="0" i="0" dirty="0">
                <a:effectLst/>
              </a:rPr>
            </a:br>
            <a:r>
              <a:rPr lang="en-IN" b="1" i="0" dirty="0">
                <a:effectLst/>
              </a:rPr>
              <a:t>Abstract method:</a:t>
            </a:r>
            <a:r>
              <a:rPr lang="en-IN" b="0" i="0" dirty="0">
                <a:effectLst/>
              </a:rPr>
              <a:t> can only be used in an abstract class, and it does not have a body. The body is provided by the subclass (inherited from).</a:t>
            </a:r>
          </a:p>
          <a:p>
            <a:pPr marL="0" indent="0">
              <a:buNone/>
            </a:pPr>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2DE5C51D-7F72-F19F-69CE-CF2DDBC24325}"/>
              </a:ext>
            </a:extLst>
          </p:cNvPr>
          <p:cNvPicPr>
            <a:picLocks noChangeAspect="1"/>
          </p:cNvPicPr>
          <p:nvPr/>
        </p:nvPicPr>
        <p:blipFill>
          <a:blip r:embed="rId2"/>
          <a:stretch>
            <a:fillRect/>
          </a:stretch>
        </p:blipFill>
        <p:spPr>
          <a:xfrm>
            <a:off x="6637867" y="1798819"/>
            <a:ext cx="5271964" cy="4142405"/>
          </a:xfrm>
          <a:prstGeom prst="rect">
            <a:avLst/>
          </a:prstGeom>
        </p:spPr>
      </p:pic>
      <p:sp>
        <p:nvSpPr>
          <p:cNvPr id="14" name="Freeform: Shape 13">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60266995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FDF922-CEB3-076D-7A1A-2B52178E5E1C}"/>
              </a:ext>
            </a:extLst>
          </p:cNvPr>
          <p:cNvSpPr>
            <a:spLocks noGrp="1"/>
          </p:cNvSpPr>
          <p:nvPr>
            <p:ph type="title"/>
          </p:nvPr>
        </p:nvSpPr>
        <p:spPr>
          <a:xfrm>
            <a:off x="990600" y="500062"/>
            <a:ext cx="10515600" cy="1325563"/>
          </a:xfrm>
        </p:spPr>
        <p:txBody>
          <a:bodyPr/>
          <a:lstStyle/>
          <a:p>
            <a:r>
              <a:rPr lang="en-US" u="sng" dirty="0"/>
              <a:t>Abstraction</a:t>
            </a:r>
            <a:endParaRPr lang="en-US" dirty="0"/>
          </a:p>
        </p:txBody>
      </p:sp>
      <p:pic>
        <p:nvPicPr>
          <p:cNvPr id="5" name="Content Placeholder 4" descr="A screenshot of a computer program&#10;&#10;Description automatically generated">
            <a:extLst>
              <a:ext uri="{FF2B5EF4-FFF2-40B4-BE49-F238E27FC236}">
                <a16:creationId xmlns:a16="http://schemas.microsoft.com/office/drawing/2014/main" id="{96B7A4F4-2169-119E-4F96-EDEC75A8EC85}"/>
              </a:ext>
            </a:extLst>
          </p:cNvPr>
          <p:cNvPicPr>
            <a:picLocks noGrp="1" noChangeAspect="1"/>
          </p:cNvPicPr>
          <p:nvPr>
            <p:ph idx="1"/>
          </p:nvPr>
        </p:nvPicPr>
        <p:blipFill>
          <a:blip r:embed="rId2"/>
          <a:stretch>
            <a:fillRect/>
          </a:stretch>
        </p:blipFill>
        <p:spPr>
          <a:xfrm>
            <a:off x="2027558" y="1825625"/>
            <a:ext cx="8136883" cy="4823083"/>
          </a:xfrm>
        </p:spPr>
      </p:pic>
    </p:spTree>
    <p:extLst>
      <p:ext uri="{BB962C8B-B14F-4D97-AF65-F5344CB8AC3E}">
        <p14:creationId xmlns:p14="http://schemas.microsoft.com/office/powerpoint/2010/main" val="271018789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0F2D0D-4263-58B5-3670-839F2C8B8527}"/>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u="sng" dirty="0"/>
              <a:t>Abstract Methods</a:t>
            </a:r>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screenshot of a computer program&#10;&#10;Description automatically generated">
            <a:extLst>
              <a:ext uri="{FF2B5EF4-FFF2-40B4-BE49-F238E27FC236}">
                <a16:creationId xmlns:a16="http://schemas.microsoft.com/office/drawing/2014/main" id="{1751214B-CBD5-B588-62F7-C9AECB426975}"/>
              </a:ext>
            </a:extLst>
          </p:cNvPr>
          <p:cNvPicPr>
            <a:picLocks noChangeAspect="1"/>
          </p:cNvPicPr>
          <p:nvPr/>
        </p:nvPicPr>
        <p:blipFill>
          <a:blip r:embed="rId2"/>
          <a:stretch>
            <a:fillRect/>
          </a:stretch>
        </p:blipFill>
        <p:spPr>
          <a:xfrm>
            <a:off x="267789" y="2517436"/>
            <a:ext cx="5401925" cy="3605784"/>
          </a:xfrm>
          <a:prstGeom prst="rect">
            <a:avLst/>
          </a:prstGeom>
        </p:spPr>
      </p:pic>
      <p:pic>
        <p:nvPicPr>
          <p:cNvPr id="5" name="Content Placeholder 4" descr="A screen shot of a computer program&#10;&#10;Description automatically generated">
            <a:extLst>
              <a:ext uri="{FF2B5EF4-FFF2-40B4-BE49-F238E27FC236}">
                <a16:creationId xmlns:a16="http://schemas.microsoft.com/office/drawing/2014/main" id="{DDCE04BC-8659-53FC-38A7-975CD6BF93EC}"/>
              </a:ext>
            </a:extLst>
          </p:cNvPr>
          <p:cNvPicPr>
            <a:picLocks noGrp="1" noChangeAspect="1"/>
          </p:cNvPicPr>
          <p:nvPr>
            <p:ph idx="1"/>
          </p:nvPr>
        </p:nvPicPr>
        <p:blipFill>
          <a:blip r:embed="rId3"/>
          <a:stretch>
            <a:fillRect/>
          </a:stretch>
        </p:blipFill>
        <p:spPr>
          <a:xfrm>
            <a:off x="6096000" y="3092175"/>
            <a:ext cx="5614416" cy="2456306"/>
          </a:xfrm>
          <a:prstGeom prst="rect">
            <a:avLst/>
          </a:prstGeom>
        </p:spPr>
      </p:pic>
    </p:spTree>
    <p:extLst>
      <p:ext uri="{BB962C8B-B14F-4D97-AF65-F5344CB8AC3E}">
        <p14:creationId xmlns:p14="http://schemas.microsoft.com/office/powerpoint/2010/main" val="60640332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ED83149-C8C6-51E0-095A-11BB8C1C0392}"/>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u="sng" dirty="0" err="1"/>
              <a:t>Intefaces</a:t>
            </a:r>
            <a:endParaRPr lang="en-US" sz="6600" u="sng" dirty="0"/>
          </a:p>
        </p:txBody>
      </p:sp>
      <p:sp>
        <p:nvSpPr>
          <p:cNvPr id="14"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onnsiteX0" fmla="*/ 0 w 3291840"/>
              <a:gd name="connsiteY0" fmla="*/ 0 h 18288"/>
              <a:gd name="connsiteX1" fmla="*/ 658368 w 3291840"/>
              <a:gd name="connsiteY1" fmla="*/ 0 h 18288"/>
              <a:gd name="connsiteX2" fmla="*/ 1283818 w 3291840"/>
              <a:gd name="connsiteY2" fmla="*/ 0 h 18288"/>
              <a:gd name="connsiteX3" fmla="*/ 1909267 w 3291840"/>
              <a:gd name="connsiteY3" fmla="*/ 0 h 18288"/>
              <a:gd name="connsiteX4" fmla="*/ 2633472 w 3291840"/>
              <a:gd name="connsiteY4" fmla="*/ 0 h 18288"/>
              <a:gd name="connsiteX5" fmla="*/ 3291840 w 3291840"/>
              <a:gd name="connsiteY5" fmla="*/ 0 h 18288"/>
              <a:gd name="connsiteX6" fmla="*/ 3291840 w 3291840"/>
              <a:gd name="connsiteY6" fmla="*/ 18288 h 18288"/>
              <a:gd name="connsiteX7" fmla="*/ 2633472 w 3291840"/>
              <a:gd name="connsiteY7" fmla="*/ 18288 h 18288"/>
              <a:gd name="connsiteX8" fmla="*/ 2073859 w 3291840"/>
              <a:gd name="connsiteY8" fmla="*/ 18288 h 18288"/>
              <a:gd name="connsiteX9" fmla="*/ 1448410 w 3291840"/>
              <a:gd name="connsiteY9" fmla="*/ 18288 h 18288"/>
              <a:gd name="connsiteX10" fmla="*/ 822960 w 3291840"/>
              <a:gd name="connsiteY10" fmla="*/ 18288 h 18288"/>
              <a:gd name="connsiteX11" fmla="*/ 0 w 3291840"/>
              <a:gd name="connsiteY11" fmla="*/ 18288 h 18288"/>
              <a:gd name="connsiteX12" fmla="*/ 0 w 3291840"/>
              <a:gd name="connsiteY12" fmla="*/ 0 h 18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descr="A white text on a white background&#10;&#10;Description automatically generated">
            <a:extLst>
              <a:ext uri="{FF2B5EF4-FFF2-40B4-BE49-F238E27FC236}">
                <a16:creationId xmlns:a16="http://schemas.microsoft.com/office/drawing/2014/main" id="{0DBCFBAF-6F92-65E1-A732-1CAB6B832BB5}"/>
              </a:ext>
            </a:extLst>
          </p:cNvPr>
          <p:cNvPicPr>
            <a:picLocks noGrp="1" noChangeAspect="1"/>
          </p:cNvPicPr>
          <p:nvPr>
            <p:ph idx="1"/>
          </p:nvPr>
        </p:nvPicPr>
        <p:blipFill>
          <a:blip r:embed="rId2"/>
          <a:stretch>
            <a:fillRect/>
          </a:stretch>
        </p:blipFill>
        <p:spPr>
          <a:xfrm>
            <a:off x="416132" y="2642616"/>
            <a:ext cx="5422231" cy="3605784"/>
          </a:xfrm>
          <a:prstGeom prst="rect">
            <a:avLst/>
          </a:prstGeom>
        </p:spPr>
      </p:pic>
      <p:pic>
        <p:nvPicPr>
          <p:cNvPr id="7" name="Picture 6">
            <a:extLst>
              <a:ext uri="{FF2B5EF4-FFF2-40B4-BE49-F238E27FC236}">
                <a16:creationId xmlns:a16="http://schemas.microsoft.com/office/drawing/2014/main" id="{E62197F1-670A-BB19-84CF-E2A04FD7B858}"/>
              </a:ext>
            </a:extLst>
          </p:cNvPr>
          <p:cNvPicPr>
            <a:picLocks noChangeAspect="1"/>
          </p:cNvPicPr>
          <p:nvPr/>
        </p:nvPicPr>
        <p:blipFill>
          <a:blip r:embed="rId3"/>
          <a:stretch>
            <a:fillRect/>
          </a:stretch>
        </p:blipFill>
        <p:spPr>
          <a:xfrm>
            <a:off x="6254496" y="2964689"/>
            <a:ext cx="5934456" cy="2809577"/>
          </a:xfrm>
          <a:prstGeom prst="rect">
            <a:avLst/>
          </a:prstGeom>
        </p:spPr>
      </p:pic>
    </p:spTree>
    <p:extLst>
      <p:ext uri="{BB962C8B-B14F-4D97-AF65-F5344CB8AC3E}">
        <p14:creationId xmlns:p14="http://schemas.microsoft.com/office/powerpoint/2010/main" val="74509166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A9B727-F781-10EE-E42E-CBDCD5BED381}"/>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dirty="0"/>
              <a:t>Interfaces</a:t>
            </a:r>
          </a:p>
        </p:txBody>
      </p:sp>
      <p:pic>
        <p:nvPicPr>
          <p:cNvPr id="5" name="Content Placeholder 4" descr="A screen shot of a computer program&#10;&#10;Description automatically generated">
            <a:extLst>
              <a:ext uri="{FF2B5EF4-FFF2-40B4-BE49-F238E27FC236}">
                <a16:creationId xmlns:a16="http://schemas.microsoft.com/office/drawing/2014/main" id="{14266F78-FA3E-A55A-0C17-8990398F1E6A}"/>
              </a:ext>
            </a:extLst>
          </p:cNvPr>
          <p:cNvPicPr>
            <a:picLocks noGrp="1" noChangeAspect="1"/>
          </p:cNvPicPr>
          <p:nvPr>
            <p:ph idx="1"/>
          </p:nvPr>
        </p:nvPicPr>
        <p:blipFill>
          <a:blip r:embed="rId2"/>
          <a:stretch>
            <a:fillRect/>
          </a:stretch>
        </p:blipFill>
        <p:spPr>
          <a:xfrm>
            <a:off x="271417" y="2957665"/>
            <a:ext cx="5647894" cy="3346376"/>
          </a:xfrm>
          <a:prstGeom prst="rect">
            <a:avLst/>
          </a:prstGeom>
        </p:spPr>
      </p:pic>
      <p:pic>
        <p:nvPicPr>
          <p:cNvPr id="7" name="Picture 6" descr="A screenshot of a computer&#10;&#10;Description automatically generated">
            <a:extLst>
              <a:ext uri="{FF2B5EF4-FFF2-40B4-BE49-F238E27FC236}">
                <a16:creationId xmlns:a16="http://schemas.microsoft.com/office/drawing/2014/main" id="{44E2179A-47A5-5273-4955-F79C2D50EB6B}"/>
              </a:ext>
            </a:extLst>
          </p:cNvPr>
          <p:cNvPicPr>
            <a:picLocks noChangeAspect="1"/>
          </p:cNvPicPr>
          <p:nvPr/>
        </p:nvPicPr>
        <p:blipFill>
          <a:blip r:embed="rId3"/>
          <a:stretch>
            <a:fillRect/>
          </a:stretch>
        </p:blipFill>
        <p:spPr>
          <a:xfrm>
            <a:off x="6182505" y="3064508"/>
            <a:ext cx="5828261" cy="3132689"/>
          </a:xfrm>
          <a:prstGeom prst="rect">
            <a:avLst/>
          </a:prstGeom>
        </p:spPr>
      </p:pic>
    </p:spTree>
    <p:extLst>
      <p:ext uri="{BB962C8B-B14F-4D97-AF65-F5344CB8AC3E}">
        <p14:creationId xmlns:p14="http://schemas.microsoft.com/office/powerpoint/2010/main" val="190531838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9FB6D-8575-45C5-04EC-535DA2FB9E25}"/>
              </a:ext>
            </a:extLst>
          </p:cNvPr>
          <p:cNvSpPr>
            <a:spLocks noGrp="1"/>
          </p:cNvSpPr>
          <p:nvPr>
            <p:ph type="title"/>
          </p:nvPr>
        </p:nvSpPr>
        <p:spPr/>
        <p:txBody>
          <a:bodyPr/>
          <a:lstStyle/>
          <a:p>
            <a:r>
              <a:rPr lang="en-US" u="sng" dirty="0"/>
              <a:t>Multiple inheritance by interface</a:t>
            </a:r>
          </a:p>
        </p:txBody>
      </p:sp>
      <p:pic>
        <p:nvPicPr>
          <p:cNvPr id="5" name="Content Placeholder 4" descr="A screenshot of a computer program&#10;&#10;Description automatically generated">
            <a:extLst>
              <a:ext uri="{FF2B5EF4-FFF2-40B4-BE49-F238E27FC236}">
                <a16:creationId xmlns:a16="http://schemas.microsoft.com/office/drawing/2014/main" id="{DA3C4931-6C7E-F316-7E75-FAD0B0EE8FC1}"/>
              </a:ext>
            </a:extLst>
          </p:cNvPr>
          <p:cNvPicPr>
            <a:picLocks noGrp="1" noChangeAspect="1"/>
          </p:cNvPicPr>
          <p:nvPr>
            <p:ph idx="1"/>
          </p:nvPr>
        </p:nvPicPr>
        <p:blipFill>
          <a:blip r:embed="rId2"/>
          <a:stretch>
            <a:fillRect/>
          </a:stretch>
        </p:blipFill>
        <p:spPr>
          <a:xfrm>
            <a:off x="2863850" y="2140744"/>
            <a:ext cx="6464300" cy="3721100"/>
          </a:xfrm>
        </p:spPr>
      </p:pic>
    </p:spTree>
    <p:extLst>
      <p:ext uri="{BB962C8B-B14F-4D97-AF65-F5344CB8AC3E}">
        <p14:creationId xmlns:p14="http://schemas.microsoft.com/office/powerpoint/2010/main" val="42058270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BA30-452F-8940-5CBA-D84A6BBBE96A}"/>
              </a:ext>
            </a:extLst>
          </p:cNvPr>
          <p:cNvSpPr>
            <a:spLocks noGrp="1"/>
          </p:cNvSpPr>
          <p:nvPr>
            <p:ph type="title"/>
          </p:nvPr>
        </p:nvSpPr>
        <p:spPr/>
        <p:txBody>
          <a:bodyPr/>
          <a:lstStyle/>
          <a:p>
            <a:r>
              <a:rPr lang="en-US" u="sng" dirty="0"/>
              <a:t>Instance </a:t>
            </a:r>
            <a:r>
              <a:rPr lang="en-US" u="sng" dirty="0" err="1"/>
              <a:t>varibles</a:t>
            </a:r>
            <a:endParaRPr lang="en-US" u="sng" dirty="0"/>
          </a:p>
        </p:txBody>
      </p:sp>
      <p:sp>
        <p:nvSpPr>
          <p:cNvPr id="3" name="Content Placeholder 2">
            <a:extLst>
              <a:ext uri="{FF2B5EF4-FFF2-40B4-BE49-F238E27FC236}">
                <a16:creationId xmlns:a16="http://schemas.microsoft.com/office/drawing/2014/main" id="{BD83D02E-C21D-572A-0079-E4C09E085F73}"/>
              </a:ext>
            </a:extLst>
          </p:cNvPr>
          <p:cNvSpPr>
            <a:spLocks noGrp="1"/>
          </p:cNvSpPr>
          <p:nvPr>
            <p:ph idx="1"/>
          </p:nvPr>
        </p:nvSpPr>
        <p:spPr/>
        <p:txBody>
          <a:bodyPr/>
          <a:lstStyle/>
          <a:p>
            <a:r>
              <a:rPr lang="en-US" dirty="0"/>
              <a:t>These are declares inside a class but outside a method.</a:t>
            </a:r>
          </a:p>
          <a:p>
            <a:endParaRPr lang="en-US" dirty="0"/>
          </a:p>
        </p:txBody>
      </p:sp>
      <p:pic>
        <p:nvPicPr>
          <p:cNvPr id="7" name="Picture 6" descr="A black background with pink text&#10;&#10;Description automatically generated">
            <a:extLst>
              <a:ext uri="{FF2B5EF4-FFF2-40B4-BE49-F238E27FC236}">
                <a16:creationId xmlns:a16="http://schemas.microsoft.com/office/drawing/2014/main" id="{8EB62C8E-7D8D-14AA-806C-CF6D8A8300CA}"/>
              </a:ext>
            </a:extLst>
          </p:cNvPr>
          <p:cNvPicPr>
            <a:picLocks noChangeAspect="1"/>
          </p:cNvPicPr>
          <p:nvPr/>
        </p:nvPicPr>
        <p:blipFill>
          <a:blip r:embed="rId2"/>
          <a:stretch>
            <a:fillRect/>
          </a:stretch>
        </p:blipFill>
        <p:spPr>
          <a:xfrm>
            <a:off x="1026584" y="2492980"/>
            <a:ext cx="7772400" cy="1872040"/>
          </a:xfrm>
          <a:prstGeom prst="rect">
            <a:avLst/>
          </a:prstGeom>
        </p:spPr>
      </p:pic>
    </p:spTree>
    <p:extLst>
      <p:ext uri="{BB962C8B-B14F-4D97-AF65-F5344CB8AC3E}">
        <p14:creationId xmlns:p14="http://schemas.microsoft.com/office/powerpoint/2010/main" val="182860774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932489C-7C5A-EBB1-ADE7-17A80663AC4D}"/>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a:t>Cheked Exception</a:t>
            </a:r>
          </a:p>
        </p:txBody>
      </p:sp>
      <p:pic>
        <p:nvPicPr>
          <p:cNvPr id="7" name="Picture 6" descr="A close-up of a text&#10;&#10;Description automatically generated">
            <a:extLst>
              <a:ext uri="{FF2B5EF4-FFF2-40B4-BE49-F238E27FC236}">
                <a16:creationId xmlns:a16="http://schemas.microsoft.com/office/drawing/2014/main" id="{3293969D-75C7-AB9E-F47B-95CFCD6FBCCF}"/>
              </a:ext>
            </a:extLst>
          </p:cNvPr>
          <p:cNvPicPr>
            <a:picLocks noChangeAspect="1"/>
          </p:cNvPicPr>
          <p:nvPr/>
        </p:nvPicPr>
        <p:blipFill>
          <a:blip r:embed="rId2"/>
          <a:stretch>
            <a:fillRect/>
          </a:stretch>
        </p:blipFill>
        <p:spPr>
          <a:xfrm>
            <a:off x="181234" y="2301275"/>
            <a:ext cx="5828261" cy="3079967"/>
          </a:xfrm>
          <a:prstGeom prst="rect">
            <a:avLst/>
          </a:prstGeom>
        </p:spPr>
      </p:pic>
      <p:pic>
        <p:nvPicPr>
          <p:cNvPr id="5" name="Content Placeholder 4" descr="A close up of a text&#10;&#10;Description automatically generated">
            <a:extLst>
              <a:ext uri="{FF2B5EF4-FFF2-40B4-BE49-F238E27FC236}">
                <a16:creationId xmlns:a16="http://schemas.microsoft.com/office/drawing/2014/main" id="{62FD16C3-66A4-E669-1ACC-6DCE8F79DFDB}"/>
              </a:ext>
            </a:extLst>
          </p:cNvPr>
          <p:cNvPicPr>
            <a:picLocks noGrp="1" noChangeAspect="1"/>
          </p:cNvPicPr>
          <p:nvPr>
            <p:ph idx="1"/>
          </p:nvPr>
        </p:nvPicPr>
        <p:blipFill>
          <a:blip r:embed="rId3"/>
          <a:stretch>
            <a:fillRect/>
          </a:stretch>
        </p:blipFill>
        <p:spPr>
          <a:xfrm>
            <a:off x="6182505" y="3251200"/>
            <a:ext cx="5828261" cy="1824057"/>
          </a:xfrm>
          <a:prstGeom prst="rect">
            <a:avLst/>
          </a:prstGeom>
        </p:spPr>
      </p:pic>
    </p:spTree>
    <p:extLst>
      <p:ext uri="{BB962C8B-B14F-4D97-AF65-F5344CB8AC3E}">
        <p14:creationId xmlns:p14="http://schemas.microsoft.com/office/powerpoint/2010/main" val="3267813971"/>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9ED5833-B85B-4103-8A3B-CAB0308E6C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64B182-9E54-E278-AA9C-EDF16642A839}"/>
              </a:ext>
            </a:extLst>
          </p:cNvPr>
          <p:cNvSpPr>
            <a:spLocks noGrp="1"/>
          </p:cNvSpPr>
          <p:nvPr>
            <p:ph type="title"/>
          </p:nvPr>
        </p:nvSpPr>
        <p:spPr>
          <a:xfrm>
            <a:off x="1198181" y="560881"/>
            <a:ext cx="9795638" cy="1114380"/>
          </a:xfrm>
        </p:spPr>
        <p:txBody>
          <a:bodyPr vert="horz" lIns="91440" tIns="45720" rIns="91440" bIns="45720" rtlCol="0" anchor="b">
            <a:normAutofit/>
          </a:bodyPr>
          <a:lstStyle/>
          <a:p>
            <a:pPr algn="ctr"/>
            <a:r>
              <a:rPr lang="en-US" sz="5200" u="sng"/>
              <a:t>Unchecked exception</a:t>
            </a:r>
          </a:p>
        </p:txBody>
      </p:sp>
      <p:pic>
        <p:nvPicPr>
          <p:cNvPr id="7" name="Picture 6" descr="A close up of text&#10;&#10;Description automatically generated">
            <a:extLst>
              <a:ext uri="{FF2B5EF4-FFF2-40B4-BE49-F238E27FC236}">
                <a16:creationId xmlns:a16="http://schemas.microsoft.com/office/drawing/2014/main" id="{B3719858-03C9-A129-249C-7CC9CE4B1E61}"/>
              </a:ext>
            </a:extLst>
          </p:cNvPr>
          <p:cNvPicPr>
            <a:picLocks noChangeAspect="1"/>
          </p:cNvPicPr>
          <p:nvPr/>
        </p:nvPicPr>
        <p:blipFill>
          <a:blip r:embed="rId2"/>
          <a:stretch>
            <a:fillRect/>
          </a:stretch>
        </p:blipFill>
        <p:spPr>
          <a:xfrm>
            <a:off x="267739" y="2236142"/>
            <a:ext cx="5828261" cy="3567157"/>
          </a:xfrm>
          <a:prstGeom prst="rect">
            <a:avLst/>
          </a:prstGeom>
        </p:spPr>
      </p:pic>
      <p:pic>
        <p:nvPicPr>
          <p:cNvPr id="5" name="Content Placeholder 4" descr="A white background with black text&#10;&#10;Description automatically generated">
            <a:extLst>
              <a:ext uri="{FF2B5EF4-FFF2-40B4-BE49-F238E27FC236}">
                <a16:creationId xmlns:a16="http://schemas.microsoft.com/office/drawing/2014/main" id="{9182137B-F432-51EC-D044-4EE0F93F98E9}"/>
              </a:ext>
            </a:extLst>
          </p:cNvPr>
          <p:cNvPicPr>
            <a:picLocks noGrp="1" noChangeAspect="1"/>
          </p:cNvPicPr>
          <p:nvPr>
            <p:ph idx="1"/>
          </p:nvPr>
        </p:nvPicPr>
        <p:blipFill>
          <a:blip r:embed="rId3"/>
          <a:stretch>
            <a:fillRect/>
          </a:stretch>
        </p:blipFill>
        <p:spPr>
          <a:xfrm>
            <a:off x="6269010" y="3605132"/>
            <a:ext cx="5828261" cy="1768334"/>
          </a:xfrm>
          <a:prstGeom prst="rect">
            <a:avLst/>
          </a:prstGeom>
        </p:spPr>
      </p:pic>
    </p:spTree>
    <p:extLst>
      <p:ext uri="{BB962C8B-B14F-4D97-AF65-F5344CB8AC3E}">
        <p14:creationId xmlns:p14="http://schemas.microsoft.com/office/powerpoint/2010/main" val="286712860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55B27-72DC-ED59-2243-6C8CDC706A8C}"/>
              </a:ext>
            </a:extLst>
          </p:cNvPr>
          <p:cNvSpPr>
            <a:spLocks noGrp="1"/>
          </p:cNvSpPr>
          <p:nvPr>
            <p:ph type="title"/>
          </p:nvPr>
        </p:nvSpPr>
        <p:spPr/>
        <p:txBody>
          <a:bodyPr/>
          <a:lstStyle/>
          <a:p>
            <a:r>
              <a:rPr lang="en-US" u="sng" dirty="0"/>
              <a:t>Decorators</a:t>
            </a:r>
          </a:p>
        </p:txBody>
      </p:sp>
      <p:sp>
        <p:nvSpPr>
          <p:cNvPr id="3" name="Content Placeholder 2">
            <a:extLst>
              <a:ext uri="{FF2B5EF4-FFF2-40B4-BE49-F238E27FC236}">
                <a16:creationId xmlns:a16="http://schemas.microsoft.com/office/drawing/2014/main" id="{F3A0ECC5-8F6B-E54D-41B1-8662A6C98BA2}"/>
              </a:ext>
            </a:extLst>
          </p:cNvPr>
          <p:cNvSpPr>
            <a:spLocks noGrp="1"/>
          </p:cNvSpPr>
          <p:nvPr>
            <p:ph idx="1"/>
          </p:nvPr>
        </p:nvSpPr>
        <p:spPr/>
        <p:txBody>
          <a:bodyPr>
            <a:normAutofit fontScale="62500" lnSpcReduction="20000"/>
          </a:bodyPr>
          <a:lstStyle/>
          <a:p>
            <a:r>
              <a:rPr lang="en-US" dirty="0"/>
              <a:t>def </a:t>
            </a:r>
            <a:r>
              <a:rPr lang="en-US" dirty="0" err="1"/>
              <a:t>my_decorator</a:t>
            </a:r>
            <a:r>
              <a:rPr lang="en-US" dirty="0"/>
              <a:t>(</a:t>
            </a:r>
            <a:r>
              <a:rPr lang="en-US" dirty="0" err="1"/>
              <a:t>func</a:t>
            </a:r>
            <a:r>
              <a:rPr lang="en-US" dirty="0"/>
              <a:t>):</a:t>
            </a:r>
          </a:p>
          <a:p>
            <a:r>
              <a:rPr lang="en-US" dirty="0"/>
              <a:t>    def wrapper():</a:t>
            </a:r>
          </a:p>
          <a:p>
            <a:r>
              <a:rPr lang="en-US" dirty="0"/>
              <a:t>        print("Something is happening before the function is called.")</a:t>
            </a:r>
          </a:p>
          <a:p>
            <a:r>
              <a:rPr lang="en-US" dirty="0"/>
              <a:t>        </a:t>
            </a:r>
            <a:r>
              <a:rPr lang="en-US" dirty="0" err="1"/>
              <a:t>func</a:t>
            </a:r>
            <a:r>
              <a:rPr lang="en-US" dirty="0"/>
              <a:t>()</a:t>
            </a:r>
          </a:p>
          <a:p>
            <a:r>
              <a:rPr lang="en-US" dirty="0"/>
              <a:t>        print("Something is happening after the function is called.")</a:t>
            </a:r>
          </a:p>
          <a:p>
            <a:r>
              <a:rPr lang="en-US" dirty="0"/>
              <a:t>    return wrapper</a:t>
            </a:r>
          </a:p>
          <a:p>
            <a:endParaRPr lang="en-US" dirty="0"/>
          </a:p>
          <a:p>
            <a:r>
              <a:rPr lang="en-US" dirty="0"/>
              <a:t>@</a:t>
            </a:r>
            <a:r>
              <a:rPr lang="en-US" dirty="0" err="1"/>
              <a:t>my_decorator</a:t>
            </a:r>
            <a:endParaRPr lang="en-US" dirty="0"/>
          </a:p>
          <a:p>
            <a:r>
              <a:rPr lang="en-US" dirty="0"/>
              <a:t>def </a:t>
            </a:r>
            <a:r>
              <a:rPr lang="en-US" dirty="0" err="1"/>
              <a:t>say_hello</a:t>
            </a:r>
            <a:r>
              <a:rPr lang="en-US" dirty="0"/>
              <a:t>():</a:t>
            </a:r>
          </a:p>
          <a:p>
            <a:r>
              <a:rPr lang="en-US" dirty="0"/>
              <a:t>    print("Hello!")</a:t>
            </a:r>
          </a:p>
          <a:p>
            <a:endParaRPr lang="en-US" dirty="0"/>
          </a:p>
          <a:p>
            <a:r>
              <a:rPr lang="en-US" dirty="0" err="1"/>
              <a:t>say_hello</a:t>
            </a:r>
            <a:r>
              <a:rPr lang="en-US" dirty="0"/>
              <a:t>()</a:t>
            </a:r>
          </a:p>
          <a:p>
            <a:r>
              <a:rPr lang="en-US" dirty="0"/>
              <a:t>https://</a:t>
            </a:r>
            <a:r>
              <a:rPr lang="en-US" dirty="0" err="1"/>
              <a:t>www.youtube.com</a:t>
            </a:r>
            <a:r>
              <a:rPr lang="en-US" dirty="0"/>
              <a:t>/</a:t>
            </a:r>
            <a:r>
              <a:rPr lang="en-US" dirty="0" err="1"/>
              <a:t>watch?v</a:t>
            </a:r>
            <a:r>
              <a:rPr lang="en-US" dirty="0"/>
              <a:t>=oAz8wz7ClMA</a:t>
            </a:r>
          </a:p>
          <a:p>
            <a:endParaRPr lang="en-US" dirty="0"/>
          </a:p>
        </p:txBody>
      </p:sp>
    </p:spTree>
    <p:extLst>
      <p:ext uri="{BB962C8B-B14F-4D97-AF65-F5344CB8AC3E}">
        <p14:creationId xmlns:p14="http://schemas.microsoft.com/office/powerpoint/2010/main" val="309010331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786B66-4E42-3F0F-07EA-76FC7B7F00B0}"/>
              </a:ext>
            </a:extLst>
          </p:cNvPr>
          <p:cNvSpPr>
            <a:spLocks noGrp="1"/>
          </p:cNvSpPr>
          <p:nvPr>
            <p:ph type="title"/>
          </p:nvPr>
        </p:nvSpPr>
        <p:spPr/>
        <p:txBody>
          <a:bodyPr/>
          <a:lstStyle/>
          <a:p>
            <a:r>
              <a:rPr lang="en-US" u="sng" dirty="0"/>
              <a:t>Wrapper and Decorators</a:t>
            </a:r>
          </a:p>
        </p:txBody>
      </p:sp>
      <p:sp>
        <p:nvSpPr>
          <p:cNvPr id="3" name="Content Placeholder 2">
            <a:extLst>
              <a:ext uri="{FF2B5EF4-FFF2-40B4-BE49-F238E27FC236}">
                <a16:creationId xmlns:a16="http://schemas.microsoft.com/office/drawing/2014/main" id="{48F9A97C-6FC0-0039-F021-EE5FBC279E8F}"/>
              </a:ext>
            </a:extLst>
          </p:cNvPr>
          <p:cNvSpPr>
            <a:spLocks noGrp="1"/>
          </p:cNvSpPr>
          <p:nvPr>
            <p:ph idx="1"/>
          </p:nvPr>
        </p:nvSpPr>
        <p:spPr/>
        <p:txBody>
          <a:bodyPr/>
          <a:lstStyle/>
          <a:p>
            <a:r>
              <a:rPr lang="en-IN" b="0" i="0" dirty="0">
                <a:effectLst/>
              </a:rPr>
              <a:t>They are functions themselves that take another function as an argument and typically return a new function, </a:t>
            </a:r>
          </a:p>
          <a:p>
            <a:r>
              <a:rPr lang="en-IN" dirty="0"/>
              <a:t>A function that modifies the behaviour of other function</a:t>
            </a:r>
          </a:p>
          <a:p>
            <a:r>
              <a:rPr lang="en-IN" b="0" i="0" dirty="0">
                <a:effectLst/>
                <a:latin typeface="Söhne"/>
              </a:rPr>
              <a:t>The </a:t>
            </a:r>
            <a:r>
              <a:rPr lang="en-IN" dirty="0"/>
              <a:t>wrapper</a:t>
            </a:r>
            <a:r>
              <a:rPr lang="en-IN" b="0" i="0" dirty="0">
                <a:effectLst/>
                <a:latin typeface="Söhne"/>
              </a:rPr>
              <a:t> function serves as an intermediate function that wraps around the original function being decorated. This intermediary allows the decorator to modify or enhance the </a:t>
            </a:r>
            <a:r>
              <a:rPr lang="en-IN" b="0" i="0" dirty="0" err="1">
                <a:effectLst/>
                <a:latin typeface="Söhne"/>
              </a:rPr>
              <a:t>behavior</a:t>
            </a:r>
            <a:r>
              <a:rPr lang="en-IN" b="0" i="0" dirty="0">
                <a:effectLst/>
                <a:latin typeface="Söhne"/>
              </a:rPr>
              <a:t> of the original function without directly altering its code.</a:t>
            </a:r>
            <a:endParaRPr lang="en-US" dirty="0"/>
          </a:p>
        </p:txBody>
      </p:sp>
    </p:spTree>
    <p:extLst>
      <p:ext uri="{BB962C8B-B14F-4D97-AF65-F5344CB8AC3E}">
        <p14:creationId xmlns:p14="http://schemas.microsoft.com/office/powerpoint/2010/main" val="160157418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271C2-5FE4-CEE9-EB88-594E85AB26BD}"/>
              </a:ext>
            </a:extLst>
          </p:cNvPr>
          <p:cNvSpPr>
            <a:spLocks noGrp="1"/>
          </p:cNvSpPr>
          <p:nvPr>
            <p:ph type="title"/>
          </p:nvPr>
        </p:nvSpPr>
        <p:spPr/>
        <p:txBody>
          <a:bodyPr/>
          <a:lstStyle/>
          <a:p>
            <a:r>
              <a:rPr lang="en-US" u="sng" dirty="0"/>
              <a:t>Iterator</a:t>
            </a:r>
          </a:p>
        </p:txBody>
      </p:sp>
      <p:sp>
        <p:nvSpPr>
          <p:cNvPr id="3" name="Content Placeholder 2">
            <a:extLst>
              <a:ext uri="{FF2B5EF4-FFF2-40B4-BE49-F238E27FC236}">
                <a16:creationId xmlns:a16="http://schemas.microsoft.com/office/drawing/2014/main" id="{91E3D4C7-EA56-5394-2235-358F536BF7A7}"/>
              </a:ext>
            </a:extLst>
          </p:cNvPr>
          <p:cNvSpPr>
            <a:spLocks noGrp="1"/>
          </p:cNvSpPr>
          <p:nvPr>
            <p:ph idx="1"/>
          </p:nvPr>
        </p:nvSpPr>
        <p:spPr/>
        <p:txBody>
          <a:bodyPr/>
          <a:lstStyle/>
          <a:p>
            <a:pPr algn="l">
              <a:buFont typeface="+mj-lt"/>
              <a:buAutoNum type="arabicPeriod"/>
            </a:pPr>
            <a:r>
              <a:rPr lang="en-IN" b="1" i="0" dirty="0">
                <a:solidFill>
                  <a:srgbClr val="0D0D0D"/>
                </a:solidFill>
                <a:effectLst/>
              </a:rPr>
              <a:t>Lazy Evaluation:</a:t>
            </a:r>
            <a:r>
              <a:rPr lang="en-IN" b="0" i="0" dirty="0">
                <a:solidFill>
                  <a:srgbClr val="0D0D0D"/>
                </a:solidFill>
                <a:effectLst/>
              </a:rPr>
              <a:t> Iterators use lazy evaluation, meaning they produce values only when requested. This can be beneficial when dealing with large datasets or infinite sequences where loading all elements into memory at once is not feasible.</a:t>
            </a:r>
          </a:p>
          <a:p>
            <a:pPr algn="l">
              <a:buFont typeface="+mj-lt"/>
              <a:buAutoNum type="arabicPeriod"/>
            </a:pPr>
            <a:r>
              <a:rPr lang="en-IN" b="1" i="0" dirty="0">
                <a:solidFill>
                  <a:srgbClr val="0D0D0D"/>
                </a:solidFill>
                <a:effectLst/>
              </a:rPr>
              <a:t>Memory Efficiency:</a:t>
            </a:r>
            <a:r>
              <a:rPr lang="en-IN" b="0" i="0" dirty="0">
                <a:solidFill>
                  <a:srgbClr val="0D0D0D"/>
                </a:solidFill>
                <a:effectLst/>
              </a:rPr>
              <a:t> Iterators can be more memory-efficient compared to creating an entire list or sequence in memory, especially when dealing with large datasets.</a:t>
            </a:r>
          </a:p>
          <a:p>
            <a:pPr algn="l">
              <a:buFont typeface="+mj-lt"/>
              <a:buAutoNum type="arabicPeriod"/>
            </a:pPr>
            <a:endParaRPr lang="en-IN" b="0" i="0" dirty="0">
              <a:solidFill>
                <a:srgbClr val="0D0D0D"/>
              </a:solidFill>
              <a:effectLst/>
            </a:endParaRPr>
          </a:p>
          <a:p>
            <a:endParaRPr lang="en-US" dirty="0"/>
          </a:p>
        </p:txBody>
      </p:sp>
      <p:pic>
        <p:nvPicPr>
          <p:cNvPr id="5" name="Picture 4" descr="A screen shot of a computer&#10;&#10;Description automatically generated">
            <a:extLst>
              <a:ext uri="{FF2B5EF4-FFF2-40B4-BE49-F238E27FC236}">
                <a16:creationId xmlns:a16="http://schemas.microsoft.com/office/drawing/2014/main" id="{2B686A8D-0AA1-232F-7824-B97CD2F24703}"/>
              </a:ext>
            </a:extLst>
          </p:cNvPr>
          <p:cNvPicPr>
            <a:picLocks noChangeAspect="1"/>
          </p:cNvPicPr>
          <p:nvPr/>
        </p:nvPicPr>
        <p:blipFill>
          <a:blip r:embed="rId2"/>
          <a:stretch>
            <a:fillRect/>
          </a:stretch>
        </p:blipFill>
        <p:spPr>
          <a:xfrm>
            <a:off x="1620395" y="4750486"/>
            <a:ext cx="7283762" cy="2107514"/>
          </a:xfrm>
          <a:prstGeom prst="rect">
            <a:avLst/>
          </a:prstGeom>
        </p:spPr>
      </p:pic>
    </p:spTree>
    <p:extLst>
      <p:ext uri="{BB962C8B-B14F-4D97-AF65-F5344CB8AC3E}">
        <p14:creationId xmlns:p14="http://schemas.microsoft.com/office/powerpoint/2010/main" val="700441768"/>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C6AB9F-1B3C-0885-407F-5AA798D0B4C3}"/>
              </a:ext>
            </a:extLst>
          </p:cNvPr>
          <p:cNvSpPr>
            <a:spLocks noGrp="1"/>
          </p:cNvSpPr>
          <p:nvPr>
            <p:ph type="title"/>
          </p:nvPr>
        </p:nvSpPr>
        <p:spPr/>
        <p:txBody>
          <a:bodyPr/>
          <a:lstStyle/>
          <a:p>
            <a:r>
              <a:rPr lang="en-US" u="sng" dirty="0"/>
              <a:t>Iterator</a:t>
            </a:r>
            <a:endParaRPr lang="en-US" dirty="0"/>
          </a:p>
        </p:txBody>
      </p:sp>
      <p:pic>
        <p:nvPicPr>
          <p:cNvPr id="5" name="Content Placeholder 4" descr="A screenshot of a computer program&#10;&#10;Description automatically generated">
            <a:extLst>
              <a:ext uri="{FF2B5EF4-FFF2-40B4-BE49-F238E27FC236}">
                <a16:creationId xmlns:a16="http://schemas.microsoft.com/office/drawing/2014/main" id="{A5F3DD39-3819-2AB6-FB08-151C6A47FB5F}"/>
              </a:ext>
            </a:extLst>
          </p:cNvPr>
          <p:cNvPicPr>
            <a:picLocks noGrp="1" noChangeAspect="1"/>
          </p:cNvPicPr>
          <p:nvPr>
            <p:ph idx="1"/>
          </p:nvPr>
        </p:nvPicPr>
        <p:blipFill>
          <a:blip r:embed="rId2"/>
          <a:stretch>
            <a:fillRect/>
          </a:stretch>
        </p:blipFill>
        <p:spPr>
          <a:xfrm>
            <a:off x="1151467" y="1947333"/>
            <a:ext cx="9347200" cy="4630247"/>
          </a:xfrm>
        </p:spPr>
      </p:pic>
    </p:spTree>
    <p:extLst>
      <p:ext uri="{BB962C8B-B14F-4D97-AF65-F5344CB8AC3E}">
        <p14:creationId xmlns:p14="http://schemas.microsoft.com/office/powerpoint/2010/main" val="1377260555"/>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8EB009-3496-62B2-E4D1-1D67819CF800}"/>
              </a:ext>
            </a:extLst>
          </p:cNvPr>
          <p:cNvSpPr>
            <a:spLocks noGrp="1"/>
          </p:cNvSpPr>
          <p:nvPr>
            <p:ph type="title"/>
          </p:nvPr>
        </p:nvSpPr>
        <p:spPr/>
        <p:txBody>
          <a:bodyPr/>
          <a:lstStyle/>
          <a:p>
            <a:r>
              <a:rPr lang="en-US" u="sng" dirty="0"/>
              <a:t>Iterator-Example.</a:t>
            </a:r>
            <a:endParaRPr lang="en-US" dirty="0"/>
          </a:p>
        </p:txBody>
      </p:sp>
      <p:pic>
        <p:nvPicPr>
          <p:cNvPr id="5" name="Content Placeholder 4" descr="A screenshot of a computer program&#10;&#10;Description automatically generated">
            <a:extLst>
              <a:ext uri="{FF2B5EF4-FFF2-40B4-BE49-F238E27FC236}">
                <a16:creationId xmlns:a16="http://schemas.microsoft.com/office/drawing/2014/main" id="{31468DDE-F20E-E75F-02FD-7401A19676EE}"/>
              </a:ext>
            </a:extLst>
          </p:cNvPr>
          <p:cNvPicPr>
            <a:picLocks noGrp="1" noChangeAspect="1"/>
          </p:cNvPicPr>
          <p:nvPr>
            <p:ph idx="1"/>
          </p:nvPr>
        </p:nvPicPr>
        <p:blipFill>
          <a:blip r:embed="rId2"/>
          <a:stretch>
            <a:fillRect/>
          </a:stretch>
        </p:blipFill>
        <p:spPr>
          <a:xfrm>
            <a:off x="1933731" y="2070893"/>
            <a:ext cx="7261069" cy="4523289"/>
          </a:xfrm>
        </p:spPr>
      </p:pic>
    </p:spTree>
    <p:extLst>
      <p:ext uri="{BB962C8B-B14F-4D97-AF65-F5344CB8AC3E}">
        <p14:creationId xmlns:p14="http://schemas.microsoft.com/office/powerpoint/2010/main" val="252731171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03AD6-77A6-CA03-009A-7F0B12E6B7F7}"/>
              </a:ext>
            </a:extLst>
          </p:cNvPr>
          <p:cNvSpPr>
            <a:spLocks noGrp="1"/>
          </p:cNvSpPr>
          <p:nvPr>
            <p:ph type="title"/>
          </p:nvPr>
        </p:nvSpPr>
        <p:spPr>
          <a:xfrm>
            <a:off x="838200" y="365125"/>
            <a:ext cx="10515600" cy="909039"/>
          </a:xfrm>
        </p:spPr>
        <p:txBody>
          <a:bodyPr/>
          <a:lstStyle/>
          <a:p>
            <a:r>
              <a:rPr lang="en-US" u="sng" dirty="0"/>
              <a:t>Generator</a:t>
            </a:r>
          </a:p>
        </p:txBody>
      </p:sp>
      <p:sp>
        <p:nvSpPr>
          <p:cNvPr id="3" name="Content Placeholder 2">
            <a:extLst>
              <a:ext uri="{FF2B5EF4-FFF2-40B4-BE49-F238E27FC236}">
                <a16:creationId xmlns:a16="http://schemas.microsoft.com/office/drawing/2014/main" id="{F9CA6975-82D1-738B-71F0-A1ACF8999519}"/>
              </a:ext>
            </a:extLst>
          </p:cNvPr>
          <p:cNvSpPr>
            <a:spLocks noGrp="1"/>
          </p:cNvSpPr>
          <p:nvPr>
            <p:ph idx="1"/>
          </p:nvPr>
        </p:nvSpPr>
        <p:spPr>
          <a:xfrm>
            <a:off x="554635" y="1499016"/>
            <a:ext cx="11257613" cy="4993859"/>
          </a:xfrm>
        </p:spPr>
        <p:txBody>
          <a:bodyPr/>
          <a:lstStyle/>
          <a:p>
            <a:r>
              <a:rPr lang="en-IN" b="0" i="0" dirty="0">
                <a:solidFill>
                  <a:srgbClr val="0D0D0D"/>
                </a:solidFill>
                <a:effectLst/>
                <a:latin typeface="Söhne"/>
              </a:rPr>
              <a:t>In Python, a generator is a special type of iterator that is created using functions and the </a:t>
            </a:r>
            <a:r>
              <a:rPr lang="en-IN" dirty="0"/>
              <a:t>yield</a:t>
            </a:r>
            <a:r>
              <a:rPr lang="en-IN" b="0" i="0" dirty="0">
                <a:solidFill>
                  <a:srgbClr val="0D0D0D"/>
                </a:solidFill>
                <a:effectLst/>
                <a:latin typeface="Söhne"/>
              </a:rPr>
              <a:t> keyword. Generators allow you to generate a sequence of values lazily, on-the-fly, rather than computing and storing the entire sequence in memory upfront.</a:t>
            </a:r>
          </a:p>
          <a:p>
            <a:r>
              <a:rPr lang="en-US" dirty="0">
                <a:hlinkClick r:id="rId2"/>
              </a:rPr>
              <a:t>https://www.youtube.com/watch?v=E20azLHxUH8</a:t>
            </a:r>
            <a:endParaRPr lang="en-US" dirty="0"/>
          </a:p>
          <a:p>
            <a:endParaRPr lang="en-US" dirty="0"/>
          </a:p>
        </p:txBody>
      </p:sp>
      <p:pic>
        <p:nvPicPr>
          <p:cNvPr id="5" name="Picture 4" descr="A grey and white rectangular box with black text&#10;&#10;Description automatically generated with medium confidence">
            <a:extLst>
              <a:ext uri="{FF2B5EF4-FFF2-40B4-BE49-F238E27FC236}">
                <a16:creationId xmlns:a16="http://schemas.microsoft.com/office/drawing/2014/main" id="{BF9A522D-9063-EB90-BECF-1CDEC31BA6E4}"/>
              </a:ext>
            </a:extLst>
          </p:cNvPr>
          <p:cNvPicPr>
            <a:picLocks noChangeAspect="1"/>
          </p:cNvPicPr>
          <p:nvPr/>
        </p:nvPicPr>
        <p:blipFill>
          <a:blip r:embed="rId3"/>
          <a:stretch>
            <a:fillRect/>
          </a:stretch>
        </p:blipFill>
        <p:spPr>
          <a:xfrm>
            <a:off x="1386486" y="3773779"/>
            <a:ext cx="7772400" cy="2943948"/>
          </a:xfrm>
          <a:prstGeom prst="rect">
            <a:avLst/>
          </a:prstGeom>
        </p:spPr>
      </p:pic>
    </p:spTree>
    <p:extLst>
      <p:ext uri="{BB962C8B-B14F-4D97-AF65-F5344CB8AC3E}">
        <p14:creationId xmlns:p14="http://schemas.microsoft.com/office/powerpoint/2010/main" val="47749332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55A574-BD7B-A2E9-5773-00D6B090ACA6}"/>
              </a:ext>
            </a:extLst>
          </p:cNvPr>
          <p:cNvSpPr>
            <a:spLocks noGrp="1"/>
          </p:cNvSpPr>
          <p:nvPr>
            <p:ph type="title"/>
          </p:nvPr>
        </p:nvSpPr>
        <p:spPr/>
        <p:txBody>
          <a:bodyPr/>
          <a:lstStyle/>
          <a:p>
            <a:r>
              <a:rPr lang="en-US" u="sng" dirty="0"/>
              <a:t>Generator</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D1F4C6B2-3EE2-8844-CC9A-83568C86FF68}"/>
              </a:ext>
            </a:extLst>
          </p:cNvPr>
          <p:cNvPicPr>
            <a:picLocks noGrp="1" noChangeAspect="1"/>
          </p:cNvPicPr>
          <p:nvPr>
            <p:ph idx="1"/>
          </p:nvPr>
        </p:nvPicPr>
        <p:blipFill>
          <a:blip r:embed="rId2"/>
          <a:stretch>
            <a:fillRect/>
          </a:stretch>
        </p:blipFill>
        <p:spPr>
          <a:xfrm>
            <a:off x="838200" y="1690688"/>
            <a:ext cx="4818665" cy="4351338"/>
          </a:xfrm>
        </p:spPr>
      </p:pic>
      <p:pic>
        <p:nvPicPr>
          <p:cNvPr id="7" name="Picture 6" descr="A screenshot of a computer&#10;&#10;Description automatically generated">
            <a:extLst>
              <a:ext uri="{FF2B5EF4-FFF2-40B4-BE49-F238E27FC236}">
                <a16:creationId xmlns:a16="http://schemas.microsoft.com/office/drawing/2014/main" id="{B3326C8F-9D59-417B-7D77-128B1406E414}"/>
              </a:ext>
            </a:extLst>
          </p:cNvPr>
          <p:cNvPicPr>
            <a:picLocks noChangeAspect="1"/>
          </p:cNvPicPr>
          <p:nvPr/>
        </p:nvPicPr>
        <p:blipFill>
          <a:blip r:embed="rId3"/>
          <a:stretch>
            <a:fillRect/>
          </a:stretch>
        </p:blipFill>
        <p:spPr>
          <a:xfrm>
            <a:off x="5692282" y="552450"/>
            <a:ext cx="5626100" cy="5753100"/>
          </a:xfrm>
          <a:prstGeom prst="rect">
            <a:avLst/>
          </a:prstGeom>
        </p:spPr>
      </p:pic>
    </p:spTree>
    <p:extLst>
      <p:ext uri="{BB962C8B-B14F-4D97-AF65-F5344CB8AC3E}">
        <p14:creationId xmlns:p14="http://schemas.microsoft.com/office/powerpoint/2010/main" val="410025284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0A9227-6046-8EFD-7A13-49C9FE33BF7D}"/>
              </a:ext>
            </a:extLst>
          </p:cNvPr>
          <p:cNvSpPr>
            <a:spLocks noGrp="1"/>
          </p:cNvSpPr>
          <p:nvPr>
            <p:ph type="title"/>
          </p:nvPr>
        </p:nvSpPr>
        <p:spPr/>
        <p:txBody>
          <a:bodyPr/>
          <a:lstStyle/>
          <a:p>
            <a:r>
              <a:rPr lang="en-US" u="sng" dirty="0"/>
              <a:t>Generator</a:t>
            </a:r>
            <a:endParaRPr lang="en-US" dirty="0"/>
          </a:p>
        </p:txBody>
      </p:sp>
      <p:pic>
        <p:nvPicPr>
          <p:cNvPr id="5" name="Content Placeholder 4" descr="A white background with black text&#10;&#10;Description automatically generated">
            <a:extLst>
              <a:ext uri="{FF2B5EF4-FFF2-40B4-BE49-F238E27FC236}">
                <a16:creationId xmlns:a16="http://schemas.microsoft.com/office/drawing/2014/main" id="{5FB65CDA-6FAA-7DBD-105F-6939C8E68DB5}"/>
              </a:ext>
            </a:extLst>
          </p:cNvPr>
          <p:cNvPicPr>
            <a:picLocks noGrp="1" noChangeAspect="1"/>
          </p:cNvPicPr>
          <p:nvPr>
            <p:ph idx="1"/>
          </p:nvPr>
        </p:nvPicPr>
        <p:blipFill>
          <a:blip r:embed="rId2"/>
          <a:stretch>
            <a:fillRect/>
          </a:stretch>
        </p:blipFill>
        <p:spPr>
          <a:xfrm>
            <a:off x="1099869" y="1720850"/>
            <a:ext cx="5295900" cy="3416300"/>
          </a:xfrm>
        </p:spPr>
      </p:pic>
      <p:pic>
        <p:nvPicPr>
          <p:cNvPr id="7" name="Picture 6" descr="A blue square with black text&#10;&#10;Description automatically generated">
            <a:extLst>
              <a:ext uri="{FF2B5EF4-FFF2-40B4-BE49-F238E27FC236}">
                <a16:creationId xmlns:a16="http://schemas.microsoft.com/office/drawing/2014/main" id="{B77E1B72-682F-77B4-6D28-F3C0F0E2B35C}"/>
              </a:ext>
            </a:extLst>
          </p:cNvPr>
          <p:cNvPicPr>
            <a:picLocks noChangeAspect="1"/>
          </p:cNvPicPr>
          <p:nvPr/>
        </p:nvPicPr>
        <p:blipFill>
          <a:blip r:embed="rId3"/>
          <a:stretch>
            <a:fillRect/>
          </a:stretch>
        </p:blipFill>
        <p:spPr>
          <a:xfrm>
            <a:off x="7228417" y="1027906"/>
            <a:ext cx="3390900" cy="4203700"/>
          </a:xfrm>
          <a:prstGeom prst="rect">
            <a:avLst/>
          </a:prstGeom>
        </p:spPr>
      </p:pic>
    </p:spTree>
    <p:extLst>
      <p:ext uri="{BB962C8B-B14F-4D97-AF65-F5344CB8AC3E}">
        <p14:creationId xmlns:p14="http://schemas.microsoft.com/office/powerpoint/2010/main" val="405267550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9E69D-F6C4-A451-485A-622179B9C82D}"/>
              </a:ext>
            </a:extLst>
          </p:cNvPr>
          <p:cNvSpPr>
            <a:spLocks noGrp="1"/>
          </p:cNvSpPr>
          <p:nvPr>
            <p:ph type="title"/>
          </p:nvPr>
        </p:nvSpPr>
        <p:spPr>
          <a:xfrm>
            <a:off x="343525" y="365125"/>
            <a:ext cx="10515600" cy="802990"/>
          </a:xfrm>
        </p:spPr>
        <p:txBody>
          <a:bodyPr/>
          <a:lstStyle/>
          <a:p>
            <a:r>
              <a:rPr lang="en-US" u="sng" dirty="0"/>
              <a:t>Generator</a:t>
            </a:r>
            <a:endParaRPr lang="en-US" dirty="0"/>
          </a:p>
        </p:txBody>
      </p:sp>
      <p:sp>
        <p:nvSpPr>
          <p:cNvPr id="3" name="Content Placeholder 2">
            <a:extLst>
              <a:ext uri="{FF2B5EF4-FFF2-40B4-BE49-F238E27FC236}">
                <a16:creationId xmlns:a16="http://schemas.microsoft.com/office/drawing/2014/main" id="{22632530-84B9-D821-5C58-8CD6F18127BE}"/>
              </a:ext>
            </a:extLst>
          </p:cNvPr>
          <p:cNvSpPr>
            <a:spLocks noGrp="1"/>
          </p:cNvSpPr>
          <p:nvPr>
            <p:ph idx="1"/>
          </p:nvPr>
        </p:nvSpPr>
        <p:spPr>
          <a:xfrm>
            <a:off x="343525" y="1497681"/>
            <a:ext cx="11243733" cy="4692936"/>
          </a:xfrm>
        </p:spPr>
        <p:txBody>
          <a:bodyPr/>
          <a:lstStyle/>
          <a:p>
            <a:r>
              <a:rPr lang="en-US" dirty="0"/>
              <a:t>Produce items one at a time only when it called or required.</a:t>
            </a:r>
          </a:p>
          <a:p>
            <a:r>
              <a:rPr lang="en-US" dirty="0"/>
              <a:t>Only when next method called.</a:t>
            </a:r>
          </a:p>
          <a:p>
            <a:endParaRPr lang="en-US" dirty="0"/>
          </a:p>
        </p:txBody>
      </p:sp>
      <p:pic>
        <p:nvPicPr>
          <p:cNvPr id="13" name="Picture 12" descr="A screenshot of a computer program&#10;&#10;Description automatically generated">
            <a:extLst>
              <a:ext uri="{FF2B5EF4-FFF2-40B4-BE49-F238E27FC236}">
                <a16:creationId xmlns:a16="http://schemas.microsoft.com/office/drawing/2014/main" id="{9D48E208-1812-3D60-EA2E-6B4BD4E91D59}"/>
              </a:ext>
            </a:extLst>
          </p:cNvPr>
          <p:cNvPicPr>
            <a:picLocks noChangeAspect="1"/>
          </p:cNvPicPr>
          <p:nvPr/>
        </p:nvPicPr>
        <p:blipFill>
          <a:blip r:embed="rId2"/>
          <a:stretch>
            <a:fillRect/>
          </a:stretch>
        </p:blipFill>
        <p:spPr>
          <a:xfrm>
            <a:off x="110067" y="2933672"/>
            <a:ext cx="5985933" cy="3559203"/>
          </a:xfrm>
          <a:prstGeom prst="rect">
            <a:avLst/>
          </a:prstGeom>
        </p:spPr>
      </p:pic>
      <p:pic>
        <p:nvPicPr>
          <p:cNvPr id="15" name="Picture 14" descr="A screenshot of a computer program&#10;&#10;Description automatically generated">
            <a:extLst>
              <a:ext uri="{FF2B5EF4-FFF2-40B4-BE49-F238E27FC236}">
                <a16:creationId xmlns:a16="http://schemas.microsoft.com/office/drawing/2014/main" id="{01F26418-FF6F-5FF9-B48F-5E7324F2EED9}"/>
              </a:ext>
            </a:extLst>
          </p:cNvPr>
          <p:cNvPicPr>
            <a:picLocks noChangeAspect="1"/>
          </p:cNvPicPr>
          <p:nvPr/>
        </p:nvPicPr>
        <p:blipFill>
          <a:blip r:embed="rId3"/>
          <a:stretch>
            <a:fillRect/>
          </a:stretch>
        </p:blipFill>
        <p:spPr>
          <a:xfrm>
            <a:off x="6096000" y="2604106"/>
            <a:ext cx="5257800" cy="3888770"/>
          </a:xfrm>
          <a:prstGeom prst="rect">
            <a:avLst/>
          </a:prstGeom>
        </p:spPr>
      </p:pic>
    </p:spTree>
    <p:extLst>
      <p:ext uri="{BB962C8B-B14F-4D97-AF65-F5344CB8AC3E}">
        <p14:creationId xmlns:p14="http://schemas.microsoft.com/office/powerpoint/2010/main" val="38953809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FD54E5-61D6-1B62-DFE8-715D24B5A3DE}"/>
              </a:ext>
            </a:extLst>
          </p:cNvPr>
          <p:cNvSpPr>
            <a:spLocks noGrp="1"/>
          </p:cNvSpPr>
          <p:nvPr>
            <p:ph type="title"/>
          </p:nvPr>
        </p:nvSpPr>
        <p:spPr>
          <a:xfrm>
            <a:off x="838200" y="365126"/>
            <a:ext cx="10515600" cy="532342"/>
          </a:xfrm>
        </p:spPr>
        <p:txBody>
          <a:bodyPr>
            <a:normAutofit fontScale="90000"/>
          </a:bodyPr>
          <a:lstStyle/>
          <a:p>
            <a:r>
              <a:rPr lang="en-US" u="sng" dirty="0"/>
              <a:t>Generator</a:t>
            </a:r>
            <a:endParaRPr lang="en-US" dirty="0"/>
          </a:p>
        </p:txBody>
      </p:sp>
      <p:sp>
        <p:nvSpPr>
          <p:cNvPr id="3" name="Content Placeholder 2">
            <a:extLst>
              <a:ext uri="{FF2B5EF4-FFF2-40B4-BE49-F238E27FC236}">
                <a16:creationId xmlns:a16="http://schemas.microsoft.com/office/drawing/2014/main" id="{C3CD21C0-8951-EDC1-57EC-626A10D2D3BC}"/>
              </a:ext>
            </a:extLst>
          </p:cNvPr>
          <p:cNvSpPr>
            <a:spLocks noGrp="1"/>
          </p:cNvSpPr>
          <p:nvPr>
            <p:ph idx="1"/>
          </p:nvPr>
        </p:nvSpPr>
        <p:spPr>
          <a:xfrm>
            <a:off x="838200" y="1354667"/>
            <a:ext cx="10515600" cy="4822296"/>
          </a:xfrm>
        </p:spPr>
        <p:txBody>
          <a:bodyPr/>
          <a:lstStyle/>
          <a:p>
            <a:pPr algn="l">
              <a:buFont typeface="+mj-lt"/>
              <a:buAutoNum type="arabicPeriod"/>
            </a:pPr>
            <a:r>
              <a:rPr lang="en-IN" b="1" i="0" dirty="0">
                <a:solidFill>
                  <a:srgbClr val="0D0D0D"/>
                </a:solidFill>
                <a:effectLst/>
                <a:latin typeface="Söhne"/>
              </a:rPr>
              <a:t>Return Value:</a:t>
            </a:r>
            <a:endParaRPr lang="en-IN" b="0" i="0" dirty="0">
              <a:solidFill>
                <a:srgbClr val="0D0D0D"/>
              </a:solidFill>
              <a:effectLst/>
              <a:latin typeface="Söhne"/>
            </a:endParaRPr>
          </a:p>
          <a:p>
            <a:pPr marL="742950" lvl="1" indent="-285750" algn="l">
              <a:buFont typeface="+mj-lt"/>
              <a:buAutoNum type="arabicPeriod"/>
            </a:pPr>
            <a:r>
              <a:rPr lang="en-IN" b="1" i="0" dirty="0">
                <a:solidFill>
                  <a:srgbClr val="0D0D0D"/>
                </a:solidFill>
                <a:effectLst/>
                <a:latin typeface="Söhne"/>
              </a:rPr>
              <a:t>Normal Function:</a:t>
            </a:r>
            <a:r>
              <a:rPr lang="en-IN" b="0" i="0" dirty="0">
                <a:solidFill>
                  <a:srgbClr val="0D0D0D"/>
                </a:solidFill>
                <a:effectLst/>
                <a:latin typeface="Söhne"/>
              </a:rPr>
              <a:t> Returns a single value using the return statement.</a:t>
            </a:r>
          </a:p>
          <a:p>
            <a:pPr marL="742950" lvl="1" indent="-285750" algn="l">
              <a:buFont typeface="+mj-lt"/>
              <a:buAutoNum type="arabicPeriod"/>
            </a:pPr>
            <a:r>
              <a:rPr lang="en-IN" b="1" i="0" dirty="0">
                <a:solidFill>
                  <a:srgbClr val="0D0D0D"/>
                </a:solidFill>
                <a:effectLst/>
                <a:latin typeface="Söhne"/>
              </a:rPr>
              <a:t>Generator:</a:t>
            </a:r>
            <a:r>
              <a:rPr lang="en-IN" b="0" i="0" dirty="0">
                <a:solidFill>
                  <a:srgbClr val="0D0D0D"/>
                </a:solidFill>
                <a:effectLst/>
                <a:latin typeface="Söhne"/>
              </a:rPr>
              <a:t> Yields multiple values using the yield statement. It can yield values multiple times, allowing for the generation of sequences.</a:t>
            </a:r>
          </a:p>
          <a:p>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DC5B86BF-059E-3429-FBF0-D97DE54E0748}"/>
              </a:ext>
            </a:extLst>
          </p:cNvPr>
          <p:cNvPicPr>
            <a:picLocks noChangeAspect="1"/>
          </p:cNvPicPr>
          <p:nvPr/>
        </p:nvPicPr>
        <p:blipFill>
          <a:blip r:embed="rId2"/>
          <a:stretch>
            <a:fillRect/>
          </a:stretch>
        </p:blipFill>
        <p:spPr>
          <a:xfrm>
            <a:off x="1913363" y="2959100"/>
            <a:ext cx="5346700" cy="3898900"/>
          </a:xfrm>
          <a:prstGeom prst="rect">
            <a:avLst/>
          </a:prstGeom>
        </p:spPr>
      </p:pic>
    </p:spTree>
    <p:extLst>
      <p:ext uri="{BB962C8B-B14F-4D97-AF65-F5344CB8AC3E}">
        <p14:creationId xmlns:p14="http://schemas.microsoft.com/office/powerpoint/2010/main" val="233336124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4B2991-83B3-0DF4-9114-B0698327CE11}"/>
              </a:ext>
            </a:extLst>
          </p:cNvPr>
          <p:cNvSpPr>
            <a:spLocks noGrp="1"/>
          </p:cNvSpPr>
          <p:nvPr>
            <p:ph type="title"/>
          </p:nvPr>
        </p:nvSpPr>
        <p:spPr/>
        <p:txBody>
          <a:bodyPr/>
          <a:lstStyle/>
          <a:p>
            <a:r>
              <a:rPr lang="en-US" u="sng" dirty="0"/>
              <a:t>Generator</a:t>
            </a:r>
            <a:endParaRPr lang="en-US" dirty="0"/>
          </a:p>
        </p:txBody>
      </p:sp>
      <p:sp>
        <p:nvSpPr>
          <p:cNvPr id="3" name="Content Placeholder 2">
            <a:extLst>
              <a:ext uri="{FF2B5EF4-FFF2-40B4-BE49-F238E27FC236}">
                <a16:creationId xmlns:a16="http://schemas.microsoft.com/office/drawing/2014/main" id="{484FC009-856B-07C9-208F-8E412F078AAA}"/>
              </a:ext>
            </a:extLst>
          </p:cNvPr>
          <p:cNvSpPr>
            <a:spLocks noGrp="1"/>
          </p:cNvSpPr>
          <p:nvPr>
            <p:ph idx="1"/>
          </p:nvPr>
        </p:nvSpPr>
        <p:spPr/>
        <p:txBody>
          <a:bodyPr/>
          <a:lstStyle/>
          <a:p>
            <a:pPr algn="l"/>
            <a:r>
              <a:rPr lang="en-IN" b="0" i="0" dirty="0">
                <a:solidFill>
                  <a:srgbClr val="0D0D0D"/>
                </a:solidFill>
                <a:effectLst/>
                <a:latin typeface="Söhne"/>
              </a:rPr>
              <a:t>Generators save memory efficiently in Python due to their lazy evaluation nature and ability to generate values on-the-fly. </a:t>
            </a:r>
          </a:p>
          <a:p>
            <a:pPr algn="l">
              <a:buFont typeface="+mj-lt"/>
              <a:buAutoNum type="arabicPeriod"/>
            </a:pPr>
            <a:r>
              <a:rPr lang="en-IN" b="1" i="0" dirty="0">
                <a:solidFill>
                  <a:srgbClr val="0D0D0D"/>
                </a:solidFill>
                <a:effectLst/>
                <a:latin typeface="Söhne"/>
              </a:rPr>
              <a:t>Lazy Evaluation:</a:t>
            </a:r>
            <a:r>
              <a:rPr lang="en-IN" b="0" i="0" dirty="0">
                <a:solidFill>
                  <a:srgbClr val="0D0D0D"/>
                </a:solidFill>
                <a:effectLst/>
                <a:latin typeface="Söhne"/>
              </a:rPr>
              <a:t> Generators use lazy evaluation, meaning they produce values only when requested. Unlike functions that compute and store all values in memory upfront, generators generate values one at a time as they are consumed. This avoids the need to allocate memory for the entire sequence upfront, which can be impractical or even impossible for large datasets.</a:t>
            </a:r>
          </a:p>
          <a:p>
            <a:endParaRPr lang="en-US" dirty="0"/>
          </a:p>
        </p:txBody>
      </p:sp>
    </p:spTree>
    <p:extLst>
      <p:ext uri="{BB962C8B-B14F-4D97-AF65-F5344CB8AC3E}">
        <p14:creationId xmlns:p14="http://schemas.microsoft.com/office/powerpoint/2010/main" val="27371547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564675-9563-681F-343E-B6E703BED8A2}"/>
              </a:ext>
            </a:extLst>
          </p:cNvPr>
          <p:cNvSpPr>
            <a:spLocks noGrp="1"/>
          </p:cNvSpPr>
          <p:nvPr>
            <p:ph type="title"/>
          </p:nvPr>
        </p:nvSpPr>
        <p:spPr/>
        <p:txBody>
          <a:bodyPr/>
          <a:lstStyle/>
          <a:p>
            <a:r>
              <a:rPr lang="en-US" u="sng" dirty="0"/>
              <a:t>Generator</a:t>
            </a:r>
            <a:endParaRPr lang="en-US" dirty="0"/>
          </a:p>
        </p:txBody>
      </p:sp>
      <p:pic>
        <p:nvPicPr>
          <p:cNvPr id="5" name="Content Placeholder 4" descr="A screenshot of a computer program&#10;&#10;Description automatically generated">
            <a:extLst>
              <a:ext uri="{FF2B5EF4-FFF2-40B4-BE49-F238E27FC236}">
                <a16:creationId xmlns:a16="http://schemas.microsoft.com/office/drawing/2014/main" id="{91297261-C983-44DF-B1BA-8FBE0B8328CF}"/>
              </a:ext>
            </a:extLst>
          </p:cNvPr>
          <p:cNvPicPr>
            <a:picLocks noGrp="1" noChangeAspect="1"/>
          </p:cNvPicPr>
          <p:nvPr>
            <p:ph idx="1"/>
          </p:nvPr>
        </p:nvPicPr>
        <p:blipFill>
          <a:blip r:embed="rId2"/>
          <a:stretch>
            <a:fillRect/>
          </a:stretch>
        </p:blipFill>
        <p:spPr>
          <a:xfrm>
            <a:off x="1033487" y="1831052"/>
            <a:ext cx="7810709" cy="4865688"/>
          </a:xfrm>
        </p:spPr>
      </p:pic>
    </p:spTree>
    <p:extLst>
      <p:ext uri="{BB962C8B-B14F-4D97-AF65-F5344CB8AC3E}">
        <p14:creationId xmlns:p14="http://schemas.microsoft.com/office/powerpoint/2010/main" val="39547318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C842FC-A8FD-7C88-7866-0DE5D5B1AB93}"/>
              </a:ext>
            </a:extLst>
          </p:cNvPr>
          <p:cNvSpPr>
            <a:spLocks noGrp="1"/>
          </p:cNvSpPr>
          <p:nvPr>
            <p:ph type="title"/>
          </p:nvPr>
        </p:nvSpPr>
        <p:spPr/>
        <p:txBody>
          <a:bodyPr/>
          <a:lstStyle/>
          <a:p>
            <a:r>
              <a:rPr lang="en-IN" b="0" i="0" u="sng" dirty="0" err="1">
                <a:solidFill>
                  <a:srgbClr val="212529"/>
                </a:solidFill>
                <a:effectLst/>
                <a:latin typeface="Roboto" panose="02000000000000000000" pitchFamily="2" charset="0"/>
              </a:rPr>
              <a:t>Strftime</a:t>
            </a:r>
            <a:endParaRPr lang="en-US" dirty="0"/>
          </a:p>
        </p:txBody>
      </p:sp>
      <p:sp>
        <p:nvSpPr>
          <p:cNvPr id="3" name="Content Placeholder 2">
            <a:extLst>
              <a:ext uri="{FF2B5EF4-FFF2-40B4-BE49-F238E27FC236}">
                <a16:creationId xmlns:a16="http://schemas.microsoft.com/office/drawing/2014/main" id="{E91DA3E1-B18E-98D4-BD84-D17AED385BE1}"/>
              </a:ext>
            </a:extLst>
          </p:cNvPr>
          <p:cNvSpPr>
            <a:spLocks noGrp="1"/>
          </p:cNvSpPr>
          <p:nvPr>
            <p:ph idx="1"/>
          </p:nvPr>
        </p:nvSpPr>
        <p:spPr/>
        <p:txBody>
          <a:bodyPr>
            <a:normAutofit/>
          </a:bodyPr>
          <a:lstStyle/>
          <a:p>
            <a:r>
              <a:rPr lang="en-IN" b="0" i="0" u="sng" dirty="0" err="1">
                <a:solidFill>
                  <a:srgbClr val="212529"/>
                </a:solidFill>
                <a:effectLst/>
                <a:latin typeface="Roboto" panose="02000000000000000000" pitchFamily="2" charset="0"/>
              </a:rPr>
              <a:t>Strftime</a:t>
            </a:r>
            <a:endParaRPr lang="en-IN" dirty="0">
              <a:effectLst/>
            </a:endParaRPr>
          </a:p>
          <a:p>
            <a:r>
              <a:rPr lang="en-IN" dirty="0">
                <a:effectLst/>
              </a:rPr>
              <a:t>The </a:t>
            </a:r>
            <a:r>
              <a:rPr lang="en-IN" dirty="0" err="1">
                <a:effectLst/>
              </a:rPr>
              <a:t>strftime</a:t>
            </a:r>
            <a:r>
              <a:rPr lang="en-IN" dirty="0">
                <a:effectLst/>
              </a:rPr>
              <a:t> converts date object to a string date.</a:t>
            </a:r>
            <a:br>
              <a:rPr lang="en-IN" b="0" i="0" dirty="0">
                <a:solidFill>
                  <a:srgbClr val="212529"/>
                </a:solidFill>
                <a:effectLst/>
                <a:latin typeface="Segoe UI" panose="020B0502040204020203" pitchFamily="34" charset="0"/>
              </a:rPr>
            </a:br>
            <a:endParaRPr lang="en-IN" b="0" i="0" dirty="0">
              <a:solidFill>
                <a:srgbClr val="212529"/>
              </a:solidFill>
              <a:effectLst/>
              <a:latin typeface="Segoe UI" panose="020B0502040204020203" pitchFamily="34" charset="0"/>
            </a:endParaRPr>
          </a:p>
          <a:p>
            <a:endParaRPr lang="en-US" dirty="0"/>
          </a:p>
        </p:txBody>
      </p:sp>
      <p:pic>
        <p:nvPicPr>
          <p:cNvPr id="5" name="Picture 4" descr="A screenshot of a computer&#10;&#10;Description automatically generated">
            <a:extLst>
              <a:ext uri="{FF2B5EF4-FFF2-40B4-BE49-F238E27FC236}">
                <a16:creationId xmlns:a16="http://schemas.microsoft.com/office/drawing/2014/main" id="{9AA8E959-F3C9-BE80-8B0F-0DFE8DD9FBC3}"/>
              </a:ext>
            </a:extLst>
          </p:cNvPr>
          <p:cNvPicPr>
            <a:picLocks noChangeAspect="1"/>
          </p:cNvPicPr>
          <p:nvPr/>
        </p:nvPicPr>
        <p:blipFill>
          <a:blip r:embed="rId2"/>
          <a:stretch>
            <a:fillRect/>
          </a:stretch>
        </p:blipFill>
        <p:spPr>
          <a:xfrm>
            <a:off x="1278744" y="3429000"/>
            <a:ext cx="6756400" cy="1828800"/>
          </a:xfrm>
          <a:prstGeom prst="rect">
            <a:avLst/>
          </a:prstGeom>
        </p:spPr>
      </p:pic>
    </p:spTree>
    <p:extLst>
      <p:ext uri="{BB962C8B-B14F-4D97-AF65-F5344CB8AC3E}">
        <p14:creationId xmlns:p14="http://schemas.microsoft.com/office/powerpoint/2010/main" val="1459174691"/>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5EBC-5E53-1145-BF9A-C8D67A17F005}"/>
              </a:ext>
            </a:extLst>
          </p:cNvPr>
          <p:cNvSpPr>
            <a:spLocks noGrp="1"/>
          </p:cNvSpPr>
          <p:nvPr>
            <p:ph type="title"/>
          </p:nvPr>
        </p:nvSpPr>
        <p:spPr/>
        <p:txBody>
          <a:bodyPr/>
          <a:lstStyle/>
          <a:p>
            <a:r>
              <a:rPr lang="en-US" u="sng" dirty="0" err="1"/>
              <a:t>Strptime</a:t>
            </a:r>
            <a:endParaRPr lang="en-US" u="sng" dirty="0"/>
          </a:p>
        </p:txBody>
      </p:sp>
      <p:sp>
        <p:nvSpPr>
          <p:cNvPr id="3" name="Content Placeholder 2">
            <a:extLst>
              <a:ext uri="{FF2B5EF4-FFF2-40B4-BE49-F238E27FC236}">
                <a16:creationId xmlns:a16="http://schemas.microsoft.com/office/drawing/2014/main" id="{660CCE18-049B-EF9B-321D-50762755A367}"/>
              </a:ext>
            </a:extLst>
          </p:cNvPr>
          <p:cNvSpPr>
            <a:spLocks noGrp="1"/>
          </p:cNvSpPr>
          <p:nvPr>
            <p:ph idx="1"/>
          </p:nvPr>
        </p:nvSpPr>
        <p:spPr/>
        <p:txBody>
          <a:bodyPr/>
          <a:lstStyle/>
          <a:p>
            <a:pPr algn="l"/>
            <a:r>
              <a:rPr lang="en-IN" b="0" i="0" dirty="0" err="1">
                <a:solidFill>
                  <a:srgbClr val="212529"/>
                </a:solidFill>
                <a:effectLst/>
                <a:latin typeface="Segoe UI" panose="020B0502040204020203" pitchFamily="34" charset="0"/>
              </a:rPr>
              <a:t>Strptime</a:t>
            </a:r>
            <a:r>
              <a:rPr lang="en-IN" b="0" i="0" dirty="0">
                <a:solidFill>
                  <a:srgbClr val="212529"/>
                </a:solidFill>
                <a:effectLst/>
                <a:latin typeface="Segoe UI" panose="020B0502040204020203" pitchFamily="34" charset="0"/>
              </a:rPr>
              <a:t> python is used to convert string to datetime object.</a:t>
            </a:r>
          </a:p>
          <a:p>
            <a:pPr marL="0" indent="0">
              <a:buNone/>
            </a:pPr>
            <a:br>
              <a:rPr lang="en-IN" dirty="0"/>
            </a:br>
            <a:endParaRPr lang="en-US" dirty="0"/>
          </a:p>
        </p:txBody>
      </p:sp>
      <p:pic>
        <p:nvPicPr>
          <p:cNvPr id="5" name="Picture 4" descr="A screenshot of a computer&#10;&#10;Description automatically generated">
            <a:extLst>
              <a:ext uri="{FF2B5EF4-FFF2-40B4-BE49-F238E27FC236}">
                <a16:creationId xmlns:a16="http://schemas.microsoft.com/office/drawing/2014/main" id="{DF92BAF3-7AD0-A475-8502-35B15256762B}"/>
              </a:ext>
            </a:extLst>
          </p:cNvPr>
          <p:cNvPicPr>
            <a:picLocks noChangeAspect="1"/>
          </p:cNvPicPr>
          <p:nvPr/>
        </p:nvPicPr>
        <p:blipFill>
          <a:blip r:embed="rId2"/>
          <a:stretch>
            <a:fillRect/>
          </a:stretch>
        </p:blipFill>
        <p:spPr>
          <a:xfrm>
            <a:off x="2324100" y="2505075"/>
            <a:ext cx="7543800" cy="3987800"/>
          </a:xfrm>
          <a:prstGeom prst="rect">
            <a:avLst/>
          </a:prstGeom>
        </p:spPr>
      </p:pic>
    </p:spTree>
    <p:extLst>
      <p:ext uri="{BB962C8B-B14F-4D97-AF65-F5344CB8AC3E}">
        <p14:creationId xmlns:p14="http://schemas.microsoft.com/office/powerpoint/2010/main" val="3913663565"/>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45D41C-9DA4-0C42-7C66-63494F54EE3F}"/>
              </a:ext>
            </a:extLst>
          </p:cNvPr>
          <p:cNvSpPr>
            <a:spLocks noGrp="1"/>
          </p:cNvSpPr>
          <p:nvPr>
            <p:ph type="title"/>
          </p:nvPr>
        </p:nvSpPr>
        <p:spPr>
          <a:xfrm>
            <a:off x="838200" y="365126"/>
            <a:ext cx="10515600" cy="609236"/>
          </a:xfrm>
        </p:spPr>
        <p:txBody>
          <a:bodyPr>
            <a:normAutofit/>
          </a:bodyPr>
          <a:lstStyle/>
          <a:p>
            <a:r>
              <a:rPr lang="en-IN" sz="3200" b="1" i="0" u="sng" dirty="0" err="1">
                <a:solidFill>
                  <a:srgbClr val="273239"/>
                </a:solidFill>
                <a:effectLst/>
                <a:latin typeface="Calibri" panose="020F0502020204030204" pitchFamily="34" charset="0"/>
                <a:cs typeface="Calibri" panose="020F0502020204030204" pitchFamily="34" charset="0"/>
              </a:rPr>
              <a:t>timedelta</a:t>
            </a:r>
            <a:r>
              <a:rPr lang="en-IN" sz="3200" b="1" i="0" u="sng" dirty="0">
                <a:solidFill>
                  <a:srgbClr val="273239"/>
                </a:solidFill>
                <a:effectLst/>
                <a:latin typeface="Calibri" panose="020F0502020204030204" pitchFamily="34" charset="0"/>
                <a:cs typeface="Calibri" panose="020F0502020204030204" pitchFamily="34" charset="0"/>
              </a:rPr>
              <a:t>()</a:t>
            </a:r>
            <a:r>
              <a:rPr lang="en-IN" sz="3200" b="0" i="0" u="sng" dirty="0">
                <a:solidFill>
                  <a:srgbClr val="273239"/>
                </a:solidFill>
                <a:effectLst/>
                <a:latin typeface="Calibri" panose="020F0502020204030204" pitchFamily="34" charset="0"/>
                <a:cs typeface="Calibri" panose="020F0502020204030204" pitchFamily="34" charset="0"/>
              </a:rPr>
              <a:t> </a:t>
            </a:r>
            <a:endParaRPr lang="en-US" sz="3200" u="sng"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3005441B-6589-79A0-AFB2-9948C76073CE}"/>
              </a:ext>
            </a:extLst>
          </p:cNvPr>
          <p:cNvSpPr>
            <a:spLocks noGrp="1"/>
          </p:cNvSpPr>
          <p:nvPr>
            <p:ph idx="1"/>
          </p:nvPr>
        </p:nvSpPr>
        <p:spPr>
          <a:xfrm>
            <a:off x="374754" y="974362"/>
            <a:ext cx="10979047" cy="2788169"/>
          </a:xfrm>
        </p:spPr>
        <p:txBody>
          <a:bodyPr>
            <a:normAutofit fontScale="92500"/>
          </a:bodyPr>
          <a:lstStyle/>
          <a:p>
            <a:r>
              <a:rPr lang="en-IN" b="1" i="0" dirty="0" err="1">
                <a:solidFill>
                  <a:srgbClr val="273239"/>
                </a:solidFill>
                <a:effectLst/>
                <a:latin typeface="Calibri" panose="020F0502020204030204" pitchFamily="34" charset="0"/>
                <a:cs typeface="Calibri" panose="020F0502020204030204" pitchFamily="34" charset="0"/>
              </a:rPr>
              <a:t>timedelta</a:t>
            </a:r>
            <a:r>
              <a:rPr lang="en-IN" b="1" i="0" dirty="0">
                <a:solidFill>
                  <a:srgbClr val="273239"/>
                </a:solidFill>
                <a:effectLst/>
                <a:latin typeface="Calibri" panose="020F0502020204030204" pitchFamily="34" charset="0"/>
                <a:cs typeface="Calibri" panose="020F0502020204030204" pitchFamily="34" charset="0"/>
              </a:rPr>
              <a:t>()</a:t>
            </a:r>
            <a:r>
              <a:rPr lang="en-IN" b="0" i="0" dirty="0">
                <a:solidFill>
                  <a:srgbClr val="273239"/>
                </a:solidFill>
                <a:effectLst/>
                <a:latin typeface="Calibri" panose="020F0502020204030204" pitchFamily="34" charset="0"/>
                <a:cs typeface="Calibri" panose="020F0502020204030204" pitchFamily="34" charset="0"/>
              </a:rPr>
              <a:t> function is present under</a:t>
            </a:r>
            <a:r>
              <a:rPr lang="en-IN" b="0" i="1" dirty="0">
                <a:solidFill>
                  <a:srgbClr val="273239"/>
                </a:solidFill>
                <a:effectLst/>
                <a:latin typeface="Calibri" panose="020F0502020204030204" pitchFamily="34" charset="0"/>
                <a:cs typeface="Calibri" panose="020F0502020204030204" pitchFamily="34" charset="0"/>
              </a:rPr>
              <a:t> datetime library</a:t>
            </a:r>
            <a:r>
              <a:rPr lang="en-IN" b="0" i="0" dirty="0">
                <a:solidFill>
                  <a:srgbClr val="273239"/>
                </a:solidFill>
                <a:effectLst/>
                <a:latin typeface="Calibri" panose="020F0502020204030204" pitchFamily="34" charset="0"/>
                <a:cs typeface="Calibri" panose="020F0502020204030204" pitchFamily="34" charset="0"/>
              </a:rPr>
              <a:t> which is generally used for calculating differences in dates and also can be used for date manipulations in Python. It is one of the easiest ways to perform date manipulations. </a:t>
            </a:r>
          </a:p>
          <a:p>
            <a:r>
              <a:rPr lang="en-IN" dirty="0"/>
              <a:t>past_date1 </a:t>
            </a:r>
            <a:r>
              <a:rPr lang="en-IN" dirty="0">
                <a:effectLst/>
              </a:rPr>
              <a:t>=</a:t>
            </a:r>
            <a:r>
              <a:rPr lang="en-IN" dirty="0"/>
              <a:t> </a:t>
            </a:r>
            <a:r>
              <a:rPr lang="en-IN" dirty="0" err="1"/>
              <a:t>time_now</a:t>
            </a:r>
            <a:r>
              <a:rPr lang="en-IN" dirty="0"/>
              <a:t> </a:t>
            </a:r>
            <a:r>
              <a:rPr lang="en-IN" dirty="0">
                <a:effectLst/>
              </a:rPr>
              <a:t>-</a:t>
            </a:r>
            <a:r>
              <a:rPr lang="en-IN" dirty="0"/>
              <a:t> </a:t>
            </a:r>
            <a:r>
              <a:rPr lang="en-IN" dirty="0" err="1"/>
              <a:t>timedelta</a:t>
            </a:r>
            <a:r>
              <a:rPr lang="en-IN" dirty="0">
                <a:effectLst/>
              </a:rPr>
              <a:t>(</a:t>
            </a:r>
            <a:r>
              <a:rPr lang="en-IN" dirty="0"/>
              <a:t>days</a:t>
            </a:r>
            <a:r>
              <a:rPr lang="en-IN" dirty="0">
                <a:effectLst/>
              </a:rPr>
              <a:t>=189)</a:t>
            </a:r>
          </a:p>
          <a:p>
            <a:r>
              <a:rPr lang="en-IN" dirty="0"/>
              <a:t> </a:t>
            </a:r>
            <a:r>
              <a:rPr lang="en-IN" dirty="0">
                <a:effectLst/>
              </a:rPr>
              <a:t>print(</a:t>
            </a:r>
            <a:r>
              <a:rPr lang="en-IN" dirty="0"/>
              <a:t>past_date1</a:t>
            </a:r>
            <a:r>
              <a:rPr lang="en-IN" dirty="0">
                <a:effectLst/>
              </a:rPr>
              <a:t>)</a:t>
            </a:r>
            <a:r>
              <a:rPr lang="en-IN" dirty="0"/>
              <a:t> </a:t>
            </a:r>
          </a:p>
          <a:p>
            <a:r>
              <a:rPr lang="en-IN" dirty="0">
                <a:effectLst/>
              </a:rPr>
              <a:t># Sample Output</a:t>
            </a:r>
            <a:r>
              <a:rPr lang="en-IN" dirty="0"/>
              <a:t> </a:t>
            </a:r>
            <a:r>
              <a:rPr lang="en-IN" dirty="0">
                <a:effectLst/>
              </a:rPr>
              <a:t>2020-12-15</a:t>
            </a:r>
            <a:r>
              <a:rPr lang="en-IN" dirty="0"/>
              <a:t> </a:t>
            </a:r>
            <a:r>
              <a:rPr lang="en-IN" dirty="0">
                <a:effectLst/>
              </a:rPr>
              <a:t>17:49:18.574503</a:t>
            </a:r>
          </a:p>
          <a:p>
            <a:endParaRPr lang="en-US" dirty="0">
              <a:cs typeface="Calibri" panose="020F0502020204030204" pitchFamily="34" charset="0"/>
            </a:endParaRPr>
          </a:p>
        </p:txBody>
      </p:sp>
      <p:pic>
        <p:nvPicPr>
          <p:cNvPr id="5" name="Picture 4" descr="A screen shot of a computer program&#10;&#10;Description automatically generated">
            <a:extLst>
              <a:ext uri="{FF2B5EF4-FFF2-40B4-BE49-F238E27FC236}">
                <a16:creationId xmlns:a16="http://schemas.microsoft.com/office/drawing/2014/main" id="{A1B23B91-F204-9077-7D3E-C723012AB566}"/>
              </a:ext>
            </a:extLst>
          </p:cNvPr>
          <p:cNvPicPr>
            <a:picLocks noChangeAspect="1"/>
          </p:cNvPicPr>
          <p:nvPr/>
        </p:nvPicPr>
        <p:blipFill>
          <a:blip r:embed="rId2"/>
          <a:stretch>
            <a:fillRect/>
          </a:stretch>
        </p:blipFill>
        <p:spPr>
          <a:xfrm>
            <a:off x="6775463" y="3902179"/>
            <a:ext cx="5266635" cy="3187700"/>
          </a:xfrm>
          <a:prstGeom prst="rect">
            <a:avLst/>
          </a:prstGeom>
        </p:spPr>
      </p:pic>
    </p:spTree>
    <p:extLst>
      <p:ext uri="{BB962C8B-B14F-4D97-AF65-F5344CB8AC3E}">
        <p14:creationId xmlns:p14="http://schemas.microsoft.com/office/powerpoint/2010/main" val="373639443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5B219-DCC3-F019-219F-06854369FE3A}"/>
              </a:ext>
            </a:extLst>
          </p:cNvPr>
          <p:cNvSpPr>
            <a:spLocks noGrp="1"/>
          </p:cNvSpPr>
          <p:nvPr>
            <p:ph type="title"/>
          </p:nvPr>
        </p:nvSpPr>
        <p:spPr/>
        <p:txBody>
          <a:bodyPr/>
          <a:lstStyle/>
          <a:p>
            <a:r>
              <a:rPr lang="en-IN" b="1" i="0" u="sng" dirty="0">
                <a:solidFill>
                  <a:srgbClr val="0D0D0D"/>
                </a:solidFill>
                <a:effectLst/>
                <a:latin typeface="+mn-lt"/>
              </a:rPr>
              <a:t>datetime</a:t>
            </a:r>
            <a:endParaRPr lang="en-US" u="sng" dirty="0">
              <a:latin typeface="+mn-lt"/>
            </a:endParaRPr>
          </a:p>
        </p:txBody>
      </p:sp>
      <p:sp>
        <p:nvSpPr>
          <p:cNvPr id="3" name="Content Placeholder 2">
            <a:extLst>
              <a:ext uri="{FF2B5EF4-FFF2-40B4-BE49-F238E27FC236}">
                <a16:creationId xmlns:a16="http://schemas.microsoft.com/office/drawing/2014/main" id="{946405C8-CD48-FCE7-9CBC-B265DF1ABC38}"/>
              </a:ext>
            </a:extLst>
          </p:cNvPr>
          <p:cNvSpPr>
            <a:spLocks noGrp="1"/>
          </p:cNvSpPr>
          <p:nvPr>
            <p:ph idx="1"/>
          </p:nvPr>
        </p:nvSpPr>
        <p:spPr/>
        <p:txBody>
          <a:bodyPr/>
          <a:lstStyle/>
          <a:p>
            <a:pPr algn="l">
              <a:buFont typeface="Arial" panose="020B0604020202020204" pitchFamily="34" charset="0"/>
              <a:buChar char="•"/>
            </a:pPr>
            <a:r>
              <a:rPr lang="en-IN" b="0" i="0" dirty="0">
                <a:effectLst/>
              </a:rPr>
              <a:t>The </a:t>
            </a:r>
            <a:r>
              <a:rPr lang="en-IN" dirty="0"/>
              <a:t>datetime</a:t>
            </a:r>
            <a:r>
              <a:rPr lang="en-IN" b="0" i="0" dirty="0">
                <a:effectLst/>
              </a:rPr>
              <a:t> class itself represents a specific point in time, including both a date and a time component.</a:t>
            </a:r>
          </a:p>
          <a:p>
            <a:pPr algn="l">
              <a:buFont typeface="Arial" panose="020B0604020202020204" pitchFamily="34" charset="0"/>
              <a:buChar char="•"/>
            </a:pPr>
            <a:endParaRPr lang="en-US" dirty="0"/>
          </a:p>
        </p:txBody>
      </p:sp>
      <p:pic>
        <p:nvPicPr>
          <p:cNvPr id="5" name="Picture 4" descr="A black rectangular object with white text&#10;&#10;Description automatically generated">
            <a:extLst>
              <a:ext uri="{FF2B5EF4-FFF2-40B4-BE49-F238E27FC236}">
                <a16:creationId xmlns:a16="http://schemas.microsoft.com/office/drawing/2014/main" id="{D7D0CFE5-878B-EB71-A088-9863EC88CE61}"/>
              </a:ext>
            </a:extLst>
          </p:cNvPr>
          <p:cNvPicPr>
            <a:picLocks noChangeAspect="1"/>
          </p:cNvPicPr>
          <p:nvPr/>
        </p:nvPicPr>
        <p:blipFill>
          <a:blip r:embed="rId2"/>
          <a:stretch>
            <a:fillRect/>
          </a:stretch>
        </p:blipFill>
        <p:spPr>
          <a:xfrm>
            <a:off x="395054" y="2584450"/>
            <a:ext cx="4686300" cy="1689100"/>
          </a:xfrm>
          <a:prstGeom prst="rect">
            <a:avLst/>
          </a:prstGeom>
        </p:spPr>
      </p:pic>
      <p:pic>
        <p:nvPicPr>
          <p:cNvPr id="7" name="Picture 6" descr="A screen shot of a computer&#10;&#10;Description automatically generated">
            <a:extLst>
              <a:ext uri="{FF2B5EF4-FFF2-40B4-BE49-F238E27FC236}">
                <a16:creationId xmlns:a16="http://schemas.microsoft.com/office/drawing/2014/main" id="{72AA0A9F-C2E6-89EE-C90C-1C9EDB99BBB9}"/>
              </a:ext>
            </a:extLst>
          </p:cNvPr>
          <p:cNvPicPr>
            <a:picLocks noChangeAspect="1"/>
          </p:cNvPicPr>
          <p:nvPr/>
        </p:nvPicPr>
        <p:blipFill>
          <a:blip r:embed="rId3"/>
          <a:stretch>
            <a:fillRect/>
          </a:stretch>
        </p:blipFill>
        <p:spPr>
          <a:xfrm>
            <a:off x="4394877" y="3757612"/>
            <a:ext cx="7645400" cy="2819400"/>
          </a:xfrm>
          <a:prstGeom prst="rect">
            <a:avLst/>
          </a:prstGeom>
        </p:spPr>
      </p:pic>
    </p:spTree>
    <p:extLst>
      <p:ext uri="{BB962C8B-B14F-4D97-AF65-F5344CB8AC3E}">
        <p14:creationId xmlns:p14="http://schemas.microsoft.com/office/powerpoint/2010/main" val="3178003643"/>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096AAB-C1E9-B9C1-F4BF-FD94677A6C5D}"/>
              </a:ext>
            </a:extLst>
          </p:cNvPr>
          <p:cNvSpPr>
            <a:spLocks noGrp="1"/>
          </p:cNvSpPr>
          <p:nvPr>
            <p:ph type="title"/>
          </p:nvPr>
        </p:nvSpPr>
        <p:spPr/>
        <p:txBody>
          <a:bodyPr/>
          <a:lstStyle/>
          <a:p>
            <a:r>
              <a:rPr lang="en-US" u="sng" dirty="0"/>
              <a:t>Shallow copy vs deep copy</a:t>
            </a:r>
          </a:p>
        </p:txBody>
      </p:sp>
      <p:sp>
        <p:nvSpPr>
          <p:cNvPr id="3" name="Content Placeholder 2">
            <a:extLst>
              <a:ext uri="{FF2B5EF4-FFF2-40B4-BE49-F238E27FC236}">
                <a16:creationId xmlns:a16="http://schemas.microsoft.com/office/drawing/2014/main" id="{5DFE7255-743F-9C93-7EF4-5D8B42F67402}"/>
              </a:ext>
            </a:extLst>
          </p:cNvPr>
          <p:cNvSpPr>
            <a:spLocks noGrp="1"/>
          </p:cNvSpPr>
          <p:nvPr>
            <p:ph idx="1"/>
          </p:nvPr>
        </p:nvSpPr>
        <p:spPr/>
        <p:txBody>
          <a:bodyPr/>
          <a:lstStyle/>
          <a:p>
            <a:pPr algn="l"/>
            <a:r>
              <a:rPr lang="en-IN" b="0" i="0" dirty="0">
                <a:effectLst/>
                <a:latin typeface="Söhne"/>
              </a:rPr>
              <a:t>a=[1,2,3,4]</a:t>
            </a:r>
          </a:p>
          <a:p>
            <a:pPr algn="l"/>
            <a:r>
              <a:rPr lang="en-IN" b="0" i="0" dirty="0">
                <a:effectLst/>
                <a:latin typeface="Söhne"/>
              </a:rPr>
              <a:t> b=a </a:t>
            </a:r>
          </a:p>
          <a:p>
            <a:pPr algn="l"/>
            <a:r>
              <a:rPr lang="en-IN" b="0" i="0" dirty="0">
                <a:effectLst/>
                <a:latin typeface="Söhne"/>
              </a:rPr>
              <a:t>b[0]=0 </a:t>
            </a:r>
          </a:p>
          <a:p>
            <a:pPr algn="l"/>
            <a:r>
              <a:rPr lang="en-IN" b="0" i="0" dirty="0">
                <a:effectLst/>
                <a:latin typeface="Söhne"/>
              </a:rPr>
              <a:t>print(a) </a:t>
            </a:r>
          </a:p>
          <a:p>
            <a:pPr algn="l"/>
            <a:r>
              <a:rPr lang="en-IN" b="0" i="0" dirty="0">
                <a:effectLst/>
                <a:latin typeface="Söhne"/>
              </a:rPr>
              <a:t>Output is [0,2,3,4] but if u print b also you will get same result as output [0,2,3,4]  this is happening because both the lists </a:t>
            </a:r>
            <a:r>
              <a:rPr lang="en-IN" b="0" i="0" dirty="0" err="1">
                <a:effectLst/>
                <a:latin typeface="Söhne"/>
              </a:rPr>
              <a:t>refering</a:t>
            </a:r>
            <a:r>
              <a:rPr lang="en-IN" b="0" i="0" dirty="0">
                <a:effectLst/>
                <a:latin typeface="Söhne"/>
              </a:rPr>
              <a:t> to same memory so if u make any changes to any of the list it modifies another lists as well</a:t>
            </a:r>
            <a:endParaRPr lang="en-US" dirty="0"/>
          </a:p>
        </p:txBody>
      </p:sp>
    </p:spTree>
    <p:extLst>
      <p:ext uri="{BB962C8B-B14F-4D97-AF65-F5344CB8AC3E}">
        <p14:creationId xmlns:p14="http://schemas.microsoft.com/office/powerpoint/2010/main" val="132540513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DE62D-4C0A-34FB-59D9-B5BC8C2A263A}"/>
              </a:ext>
            </a:extLst>
          </p:cNvPr>
          <p:cNvSpPr>
            <a:spLocks noGrp="1"/>
          </p:cNvSpPr>
          <p:nvPr>
            <p:ph type="title"/>
          </p:nvPr>
        </p:nvSpPr>
        <p:spPr/>
        <p:txBody>
          <a:bodyPr/>
          <a:lstStyle/>
          <a:p>
            <a:r>
              <a:rPr lang="en-US" u="sng" dirty="0"/>
              <a:t>Shallow copy vs deep copy</a:t>
            </a:r>
            <a:endParaRPr lang="en-US" dirty="0"/>
          </a:p>
        </p:txBody>
      </p:sp>
      <p:sp>
        <p:nvSpPr>
          <p:cNvPr id="3" name="Content Placeholder 2">
            <a:extLst>
              <a:ext uri="{FF2B5EF4-FFF2-40B4-BE49-F238E27FC236}">
                <a16:creationId xmlns:a16="http://schemas.microsoft.com/office/drawing/2014/main" id="{2C8EA17B-CA28-FEAB-1394-795A050CF98A}"/>
              </a:ext>
            </a:extLst>
          </p:cNvPr>
          <p:cNvSpPr>
            <a:spLocks noGrp="1"/>
          </p:cNvSpPr>
          <p:nvPr>
            <p:ph idx="1"/>
          </p:nvPr>
        </p:nvSpPr>
        <p:spPr/>
        <p:txBody>
          <a:bodyPr/>
          <a:lstStyle/>
          <a:p>
            <a:r>
              <a:rPr lang="en-US" dirty="0"/>
              <a:t>To avoid this and keeping list as </a:t>
            </a:r>
            <a:r>
              <a:rPr lang="en-US" dirty="0" err="1"/>
              <a:t>orginal</a:t>
            </a:r>
            <a:r>
              <a:rPr lang="en-US" dirty="0"/>
              <a:t> we have two types of copies</a:t>
            </a:r>
          </a:p>
          <a:p>
            <a:r>
              <a:rPr lang="en-US" u="sng" dirty="0"/>
              <a:t>Shallow copy</a:t>
            </a:r>
          </a:p>
          <a:p>
            <a:r>
              <a:rPr lang="en-US" dirty="0"/>
              <a:t>In this example it does not</a:t>
            </a:r>
          </a:p>
          <a:p>
            <a:pPr marL="0" indent="0">
              <a:buNone/>
            </a:pPr>
            <a:r>
              <a:rPr lang="en-US" dirty="0"/>
              <a:t>  changed original list copy.</a:t>
            </a:r>
          </a:p>
          <a:p>
            <a:pPr marL="0" indent="0">
              <a:buNone/>
            </a:pPr>
            <a:r>
              <a:rPr lang="en-US" dirty="0"/>
              <a:t>List a was copied to another </a:t>
            </a:r>
          </a:p>
          <a:p>
            <a:pPr marL="0" indent="0">
              <a:buNone/>
            </a:pPr>
            <a:r>
              <a:rPr lang="en-US" dirty="0"/>
              <a:t>Memory location.</a:t>
            </a:r>
          </a:p>
          <a:p>
            <a:endParaRPr lang="en-US" u="sng" dirty="0"/>
          </a:p>
        </p:txBody>
      </p:sp>
      <p:pic>
        <p:nvPicPr>
          <p:cNvPr id="5" name="Picture 4" descr="A screenshot of a computer&#10;&#10;Description automatically generated">
            <a:extLst>
              <a:ext uri="{FF2B5EF4-FFF2-40B4-BE49-F238E27FC236}">
                <a16:creationId xmlns:a16="http://schemas.microsoft.com/office/drawing/2014/main" id="{9E1FD0FB-58FF-D826-B327-EA1BC0DB81D0}"/>
              </a:ext>
            </a:extLst>
          </p:cNvPr>
          <p:cNvPicPr>
            <a:picLocks noChangeAspect="1"/>
          </p:cNvPicPr>
          <p:nvPr/>
        </p:nvPicPr>
        <p:blipFill>
          <a:blip r:embed="rId2"/>
          <a:stretch>
            <a:fillRect/>
          </a:stretch>
        </p:blipFill>
        <p:spPr>
          <a:xfrm>
            <a:off x="5264622" y="2367492"/>
            <a:ext cx="6248100" cy="4125383"/>
          </a:xfrm>
          <a:prstGeom prst="rect">
            <a:avLst/>
          </a:prstGeom>
        </p:spPr>
      </p:pic>
    </p:spTree>
    <p:extLst>
      <p:ext uri="{BB962C8B-B14F-4D97-AF65-F5344CB8AC3E}">
        <p14:creationId xmlns:p14="http://schemas.microsoft.com/office/powerpoint/2010/main" val="115179973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AFA425-6D8D-80C5-526B-624E0D180A98}"/>
              </a:ext>
            </a:extLst>
          </p:cNvPr>
          <p:cNvSpPr>
            <a:spLocks noGrp="1"/>
          </p:cNvSpPr>
          <p:nvPr>
            <p:ph type="title"/>
          </p:nvPr>
        </p:nvSpPr>
        <p:spPr>
          <a:xfrm>
            <a:off x="838200" y="365125"/>
            <a:ext cx="10515600" cy="744147"/>
          </a:xfrm>
        </p:spPr>
        <p:txBody>
          <a:bodyPr/>
          <a:lstStyle/>
          <a:p>
            <a:r>
              <a:rPr lang="en-US" u="sng" dirty="0"/>
              <a:t>Shallow copy vs deep copy</a:t>
            </a:r>
            <a:endParaRPr lang="en-US" dirty="0"/>
          </a:p>
        </p:txBody>
      </p:sp>
      <p:sp>
        <p:nvSpPr>
          <p:cNvPr id="3" name="Content Placeholder 2">
            <a:extLst>
              <a:ext uri="{FF2B5EF4-FFF2-40B4-BE49-F238E27FC236}">
                <a16:creationId xmlns:a16="http://schemas.microsoft.com/office/drawing/2014/main" id="{C8C5E375-E2C8-D6C3-183C-FAE4C743BEF4}"/>
              </a:ext>
            </a:extLst>
          </p:cNvPr>
          <p:cNvSpPr>
            <a:spLocks noGrp="1"/>
          </p:cNvSpPr>
          <p:nvPr>
            <p:ph idx="1"/>
          </p:nvPr>
        </p:nvSpPr>
        <p:spPr>
          <a:xfrm>
            <a:off x="404734" y="1274164"/>
            <a:ext cx="10949066" cy="4902799"/>
          </a:xfrm>
        </p:spPr>
        <p:txBody>
          <a:bodyPr/>
          <a:lstStyle/>
          <a:p>
            <a:r>
              <a:rPr lang="en-US" dirty="0"/>
              <a:t>In normal list both deep copy and shallow copy is same.</a:t>
            </a:r>
          </a:p>
          <a:p>
            <a:r>
              <a:rPr lang="en-US" dirty="0"/>
              <a:t>But when it comes to nested list here the difference comes.</a:t>
            </a:r>
          </a:p>
          <a:p>
            <a:r>
              <a:rPr lang="en-US" dirty="0"/>
              <a:t>In below example both the lists were modified by using copy method.</a:t>
            </a:r>
          </a:p>
          <a:p>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F5024078-1701-E229-FF43-13D77CB2DA64}"/>
              </a:ext>
            </a:extLst>
          </p:cNvPr>
          <p:cNvPicPr>
            <a:picLocks noChangeAspect="1"/>
          </p:cNvPicPr>
          <p:nvPr/>
        </p:nvPicPr>
        <p:blipFill>
          <a:blip r:embed="rId2"/>
          <a:stretch>
            <a:fillRect/>
          </a:stretch>
        </p:blipFill>
        <p:spPr>
          <a:xfrm>
            <a:off x="4721902" y="2773180"/>
            <a:ext cx="7065364" cy="4084820"/>
          </a:xfrm>
          <a:prstGeom prst="rect">
            <a:avLst/>
          </a:prstGeom>
        </p:spPr>
      </p:pic>
    </p:spTree>
    <p:extLst>
      <p:ext uri="{BB962C8B-B14F-4D97-AF65-F5344CB8AC3E}">
        <p14:creationId xmlns:p14="http://schemas.microsoft.com/office/powerpoint/2010/main" val="304724192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E3078E-64EB-4A14-097E-AB27EF2E3149}"/>
              </a:ext>
            </a:extLst>
          </p:cNvPr>
          <p:cNvSpPr>
            <a:spLocks noGrp="1"/>
          </p:cNvSpPr>
          <p:nvPr>
            <p:ph type="title"/>
          </p:nvPr>
        </p:nvSpPr>
        <p:spPr>
          <a:xfrm>
            <a:off x="838200" y="365126"/>
            <a:ext cx="10515600" cy="1013970"/>
          </a:xfrm>
        </p:spPr>
        <p:txBody>
          <a:bodyPr/>
          <a:lstStyle/>
          <a:p>
            <a:r>
              <a:rPr lang="en-US" u="sng" dirty="0"/>
              <a:t>Shallow copy vs deep copy</a:t>
            </a:r>
            <a:endParaRPr lang="en-US" dirty="0"/>
          </a:p>
        </p:txBody>
      </p:sp>
      <p:sp>
        <p:nvSpPr>
          <p:cNvPr id="3" name="Content Placeholder 2">
            <a:extLst>
              <a:ext uri="{FF2B5EF4-FFF2-40B4-BE49-F238E27FC236}">
                <a16:creationId xmlns:a16="http://schemas.microsoft.com/office/drawing/2014/main" id="{36CB4C24-567C-29A5-C308-4A9BD933A42D}"/>
              </a:ext>
            </a:extLst>
          </p:cNvPr>
          <p:cNvSpPr>
            <a:spLocks noGrp="1"/>
          </p:cNvSpPr>
          <p:nvPr>
            <p:ph idx="1"/>
          </p:nvPr>
        </p:nvSpPr>
        <p:spPr>
          <a:xfrm>
            <a:off x="539646" y="1379096"/>
            <a:ext cx="10814154" cy="4797867"/>
          </a:xfrm>
        </p:spPr>
        <p:txBody>
          <a:bodyPr/>
          <a:lstStyle/>
          <a:p>
            <a:r>
              <a:rPr lang="en-US" dirty="0"/>
              <a:t>But with deep copy the original list wont be modified.</a:t>
            </a:r>
          </a:p>
          <a:p>
            <a:r>
              <a:rPr lang="en-US" dirty="0">
                <a:hlinkClick r:id="rId2"/>
              </a:rPr>
              <a:t>https://www.youtube.com/watch?v=SgUwPDT9tEs</a:t>
            </a:r>
            <a:endParaRPr lang="en-US" dirty="0"/>
          </a:p>
          <a:p>
            <a:endParaRPr lang="en-US" dirty="0"/>
          </a:p>
        </p:txBody>
      </p:sp>
      <p:pic>
        <p:nvPicPr>
          <p:cNvPr id="7" name="Picture 6" descr="A screen shot of a computer&#10;&#10;Description automatically generated">
            <a:extLst>
              <a:ext uri="{FF2B5EF4-FFF2-40B4-BE49-F238E27FC236}">
                <a16:creationId xmlns:a16="http://schemas.microsoft.com/office/drawing/2014/main" id="{24F849E9-0AD3-A06C-5716-862CBE7632FB}"/>
              </a:ext>
            </a:extLst>
          </p:cNvPr>
          <p:cNvPicPr>
            <a:picLocks noChangeAspect="1"/>
          </p:cNvPicPr>
          <p:nvPr/>
        </p:nvPicPr>
        <p:blipFill>
          <a:blip r:embed="rId3"/>
          <a:stretch>
            <a:fillRect/>
          </a:stretch>
        </p:blipFill>
        <p:spPr>
          <a:xfrm>
            <a:off x="5246557" y="2393066"/>
            <a:ext cx="6945443" cy="4282284"/>
          </a:xfrm>
          <a:prstGeom prst="rect">
            <a:avLst/>
          </a:prstGeom>
        </p:spPr>
      </p:pic>
    </p:spTree>
    <p:extLst>
      <p:ext uri="{BB962C8B-B14F-4D97-AF65-F5344CB8AC3E}">
        <p14:creationId xmlns:p14="http://schemas.microsoft.com/office/powerpoint/2010/main" val="191564715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F6F867-DB40-BE93-EDCB-9FDAA41B4E9A}"/>
              </a:ext>
            </a:extLst>
          </p:cNvPr>
          <p:cNvSpPr>
            <a:spLocks noGrp="1"/>
          </p:cNvSpPr>
          <p:nvPr>
            <p:ph type="title"/>
          </p:nvPr>
        </p:nvSpPr>
        <p:spPr>
          <a:xfrm>
            <a:off x="838200" y="365126"/>
            <a:ext cx="10515600" cy="583142"/>
          </a:xfrm>
        </p:spPr>
        <p:txBody>
          <a:bodyPr>
            <a:normAutofit fontScale="90000"/>
          </a:bodyPr>
          <a:lstStyle/>
          <a:p>
            <a:r>
              <a:rPr lang="en-US" u="sng" dirty="0"/>
              <a:t>Shallow copy vs deep copy</a:t>
            </a:r>
            <a:endParaRPr lang="en-US" dirty="0"/>
          </a:p>
        </p:txBody>
      </p:sp>
      <p:sp>
        <p:nvSpPr>
          <p:cNvPr id="3" name="Content Placeholder 2">
            <a:extLst>
              <a:ext uri="{FF2B5EF4-FFF2-40B4-BE49-F238E27FC236}">
                <a16:creationId xmlns:a16="http://schemas.microsoft.com/office/drawing/2014/main" id="{91384569-A6B4-0D9C-02F0-35D065A1FECF}"/>
              </a:ext>
            </a:extLst>
          </p:cNvPr>
          <p:cNvSpPr>
            <a:spLocks noGrp="1"/>
          </p:cNvSpPr>
          <p:nvPr>
            <p:ph idx="1"/>
          </p:nvPr>
        </p:nvSpPr>
        <p:spPr>
          <a:xfrm>
            <a:off x="558800" y="1134532"/>
            <a:ext cx="11633200" cy="5723467"/>
          </a:xfrm>
        </p:spPr>
        <p:txBody>
          <a:bodyPr/>
          <a:lstStyle/>
          <a:p>
            <a:r>
              <a:rPr lang="en-US" dirty="0" err="1"/>
              <a:t>Varible</a:t>
            </a:r>
            <a:r>
              <a:rPr lang="en-US" dirty="0"/>
              <a:t> is changed it changes only the modified list and keeping other one as unchanged.</a:t>
            </a:r>
          </a:p>
        </p:txBody>
      </p:sp>
      <p:pic>
        <p:nvPicPr>
          <p:cNvPr id="5" name="Picture 4" descr="A screenshot of a computer program&#10;&#10;Description automatically generated">
            <a:extLst>
              <a:ext uri="{FF2B5EF4-FFF2-40B4-BE49-F238E27FC236}">
                <a16:creationId xmlns:a16="http://schemas.microsoft.com/office/drawing/2014/main" id="{70EE33B4-3C1B-3E11-0F7F-AE631148D471}"/>
              </a:ext>
            </a:extLst>
          </p:cNvPr>
          <p:cNvPicPr>
            <a:picLocks noChangeAspect="1"/>
          </p:cNvPicPr>
          <p:nvPr/>
        </p:nvPicPr>
        <p:blipFill>
          <a:blip r:embed="rId2"/>
          <a:stretch>
            <a:fillRect/>
          </a:stretch>
        </p:blipFill>
        <p:spPr>
          <a:xfrm>
            <a:off x="4470400" y="2129750"/>
            <a:ext cx="6282267" cy="4501421"/>
          </a:xfrm>
          <a:prstGeom prst="rect">
            <a:avLst/>
          </a:prstGeom>
        </p:spPr>
      </p:pic>
    </p:spTree>
    <p:extLst>
      <p:ext uri="{BB962C8B-B14F-4D97-AF65-F5344CB8AC3E}">
        <p14:creationId xmlns:p14="http://schemas.microsoft.com/office/powerpoint/2010/main" val="227772868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166F00-E7EF-F3BE-8F7E-967B5165E4A1}"/>
              </a:ext>
            </a:extLst>
          </p:cNvPr>
          <p:cNvSpPr>
            <a:spLocks noGrp="1"/>
          </p:cNvSpPr>
          <p:nvPr>
            <p:ph type="title"/>
          </p:nvPr>
        </p:nvSpPr>
        <p:spPr>
          <a:xfrm>
            <a:off x="659567" y="365125"/>
            <a:ext cx="10694233" cy="579255"/>
          </a:xfrm>
        </p:spPr>
        <p:txBody>
          <a:bodyPr>
            <a:normAutofit fontScale="90000"/>
          </a:bodyPr>
          <a:lstStyle/>
          <a:p>
            <a:r>
              <a:rPr lang="en-US" u="sng" dirty="0">
                <a:latin typeface="+mn-lt"/>
              </a:rPr>
              <a:t>Merge two </a:t>
            </a:r>
            <a:r>
              <a:rPr lang="en-IN" b="0" i="0" u="sng" dirty="0">
                <a:solidFill>
                  <a:srgbClr val="0D0D0D"/>
                </a:solidFill>
                <a:effectLst/>
                <a:latin typeface="+mn-lt"/>
              </a:rPr>
              <a:t>dictionaries</a:t>
            </a:r>
            <a:r>
              <a:rPr lang="en-US" u="sng" dirty="0">
                <a:latin typeface="+mn-lt"/>
              </a:rPr>
              <a:t> in single line</a:t>
            </a:r>
          </a:p>
        </p:txBody>
      </p:sp>
      <p:pic>
        <p:nvPicPr>
          <p:cNvPr id="5" name="Content Placeholder 4" descr="A screenshot of a computer program&#10;&#10;Description automatically generated">
            <a:extLst>
              <a:ext uri="{FF2B5EF4-FFF2-40B4-BE49-F238E27FC236}">
                <a16:creationId xmlns:a16="http://schemas.microsoft.com/office/drawing/2014/main" id="{80CF2779-BBF3-975D-B1F9-95F4BA3228DC}"/>
              </a:ext>
            </a:extLst>
          </p:cNvPr>
          <p:cNvPicPr>
            <a:picLocks noGrp="1" noChangeAspect="1"/>
          </p:cNvPicPr>
          <p:nvPr>
            <p:ph idx="1"/>
          </p:nvPr>
        </p:nvPicPr>
        <p:blipFill>
          <a:blip r:embed="rId2"/>
          <a:stretch>
            <a:fillRect/>
          </a:stretch>
        </p:blipFill>
        <p:spPr>
          <a:xfrm>
            <a:off x="1091406" y="1552575"/>
            <a:ext cx="9829800" cy="4749800"/>
          </a:xfrm>
        </p:spPr>
      </p:pic>
    </p:spTree>
    <p:extLst>
      <p:ext uri="{BB962C8B-B14F-4D97-AF65-F5344CB8AC3E}">
        <p14:creationId xmlns:p14="http://schemas.microsoft.com/office/powerpoint/2010/main" val="29360819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8B147-3195-43F3-F3DA-AEA917999AC1}"/>
              </a:ext>
            </a:extLst>
          </p:cNvPr>
          <p:cNvSpPr>
            <a:spLocks noGrp="1"/>
          </p:cNvSpPr>
          <p:nvPr>
            <p:ph type="title"/>
          </p:nvPr>
        </p:nvSpPr>
        <p:spPr/>
        <p:txBody>
          <a:bodyPr/>
          <a:lstStyle/>
          <a:p>
            <a:r>
              <a:rPr lang="en-US" u="sng" dirty="0">
                <a:latin typeface="+mn-lt"/>
              </a:rPr>
              <a:t>Merge two </a:t>
            </a:r>
            <a:r>
              <a:rPr lang="en-IN" b="0" i="0" u="sng" dirty="0">
                <a:solidFill>
                  <a:srgbClr val="0D0D0D"/>
                </a:solidFill>
                <a:effectLst/>
                <a:latin typeface="+mn-lt"/>
              </a:rPr>
              <a:t>dictionaries</a:t>
            </a:r>
            <a:r>
              <a:rPr lang="en-US" u="sng" dirty="0">
                <a:latin typeface="+mn-lt"/>
              </a:rPr>
              <a:t> in single line</a:t>
            </a:r>
            <a:endParaRPr lang="en-US" dirty="0"/>
          </a:p>
        </p:txBody>
      </p:sp>
      <p:pic>
        <p:nvPicPr>
          <p:cNvPr id="5" name="Content Placeholder 4" descr="A text on a page&#10;&#10;Description automatically generated">
            <a:extLst>
              <a:ext uri="{FF2B5EF4-FFF2-40B4-BE49-F238E27FC236}">
                <a16:creationId xmlns:a16="http://schemas.microsoft.com/office/drawing/2014/main" id="{E17402E0-2D2E-48F7-AAF7-F6DA37B5702F}"/>
              </a:ext>
            </a:extLst>
          </p:cNvPr>
          <p:cNvPicPr>
            <a:picLocks noGrp="1" noChangeAspect="1"/>
          </p:cNvPicPr>
          <p:nvPr>
            <p:ph idx="1"/>
          </p:nvPr>
        </p:nvPicPr>
        <p:blipFill>
          <a:blip r:embed="rId2"/>
          <a:stretch>
            <a:fillRect/>
          </a:stretch>
        </p:blipFill>
        <p:spPr>
          <a:xfrm>
            <a:off x="895350" y="2547144"/>
            <a:ext cx="10401300" cy="2908300"/>
          </a:xfrm>
        </p:spPr>
      </p:pic>
    </p:spTree>
    <p:extLst>
      <p:ext uri="{BB962C8B-B14F-4D97-AF65-F5344CB8AC3E}">
        <p14:creationId xmlns:p14="http://schemas.microsoft.com/office/powerpoint/2010/main" val="4285379498"/>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8D1EE4-7351-F95A-8248-A7239C89B066}"/>
              </a:ext>
            </a:extLst>
          </p:cNvPr>
          <p:cNvSpPr>
            <a:spLocks noGrp="1"/>
          </p:cNvSpPr>
          <p:nvPr>
            <p:ph type="title"/>
          </p:nvPr>
        </p:nvSpPr>
        <p:spPr/>
        <p:txBody>
          <a:bodyPr/>
          <a:lstStyle/>
          <a:p>
            <a:r>
              <a:rPr lang="en-US" u="sng" dirty="0">
                <a:latin typeface="+mn-lt"/>
              </a:rPr>
              <a:t>Merge two </a:t>
            </a:r>
            <a:r>
              <a:rPr lang="en-IN" b="0" i="0" u="sng" dirty="0">
                <a:solidFill>
                  <a:srgbClr val="0D0D0D"/>
                </a:solidFill>
                <a:effectLst/>
                <a:latin typeface="+mn-lt"/>
              </a:rPr>
              <a:t>dictionaries</a:t>
            </a:r>
            <a:r>
              <a:rPr lang="en-US" u="sng" dirty="0">
                <a:latin typeface="+mn-lt"/>
              </a:rPr>
              <a:t> in single line</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3FDD1D8E-887B-9523-C2EC-5757953D02D3}"/>
              </a:ext>
            </a:extLst>
          </p:cNvPr>
          <p:cNvPicPr>
            <a:picLocks noGrp="1" noChangeAspect="1"/>
          </p:cNvPicPr>
          <p:nvPr>
            <p:ph idx="1"/>
          </p:nvPr>
        </p:nvPicPr>
        <p:blipFill>
          <a:blip r:embed="rId2"/>
          <a:stretch>
            <a:fillRect/>
          </a:stretch>
        </p:blipFill>
        <p:spPr>
          <a:xfrm>
            <a:off x="1134534" y="1690688"/>
            <a:ext cx="8652176" cy="5100448"/>
          </a:xfrm>
        </p:spPr>
      </p:pic>
    </p:spTree>
    <p:extLst>
      <p:ext uri="{BB962C8B-B14F-4D97-AF65-F5344CB8AC3E}">
        <p14:creationId xmlns:p14="http://schemas.microsoft.com/office/powerpoint/2010/main" val="377095699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414AD-69B6-2ED8-44B1-5FFCF51B6A3E}"/>
              </a:ext>
            </a:extLst>
          </p:cNvPr>
          <p:cNvSpPr>
            <a:spLocks noGrp="1"/>
          </p:cNvSpPr>
          <p:nvPr>
            <p:ph type="title"/>
          </p:nvPr>
        </p:nvSpPr>
        <p:spPr/>
        <p:txBody>
          <a:bodyPr>
            <a:normAutofit/>
          </a:bodyPr>
          <a:lstStyle/>
          <a:p>
            <a:r>
              <a:rPr lang="en-US" sz="4000" u="sng" dirty="0">
                <a:latin typeface="+mn-lt"/>
              </a:rPr>
              <a:t>Merge two </a:t>
            </a:r>
            <a:r>
              <a:rPr lang="en-IN" sz="4000" b="0" i="0" u="sng" dirty="0">
                <a:solidFill>
                  <a:srgbClr val="0D0D0D"/>
                </a:solidFill>
                <a:effectLst/>
                <a:latin typeface="+mn-lt"/>
              </a:rPr>
              <a:t>dictionaries</a:t>
            </a:r>
            <a:r>
              <a:rPr lang="en-US" sz="4000" u="sng" dirty="0">
                <a:latin typeface="+mn-lt"/>
              </a:rPr>
              <a:t> in single line-Method -2</a:t>
            </a:r>
            <a:br>
              <a:rPr lang="en-US" sz="4000" u="sng" dirty="0">
                <a:latin typeface="+mn-lt"/>
              </a:rPr>
            </a:br>
            <a:r>
              <a:rPr lang="en-US" sz="4000" u="sng" dirty="0">
                <a:latin typeface="+mn-lt"/>
              </a:rPr>
              <a:t>Same it overwrites just like **</a:t>
            </a:r>
            <a:endParaRPr lang="en-US" sz="4000" dirty="0"/>
          </a:p>
        </p:txBody>
      </p:sp>
      <p:pic>
        <p:nvPicPr>
          <p:cNvPr id="5" name="Content Placeholder 4" descr="A screenshot of a computer&#10;&#10;Description automatically generated">
            <a:extLst>
              <a:ext uri="{FF2B5EF4-FFF2-40B4-BE49-F238E27FC236}">
                <a16:creationId xmlns:a16="http://schemas.microsoft.com/office/drawing/2014/main" id="{C4052DDC-AE48-DA29-B107-1547D92328AB}"/>
              </a:ext>
            </a:extLst>
          </p:cNvPr>
          <p:cNvPicPr>
            <a:picLocks noGrp="1" noChangeAspect="1"/>
          </p:cNvPicPr>
          <p:nvPr>
            <p:ph idx="1"/>
          </p:nvPr>
        </p:nvPicPr>
        <p:blipFill>
          <a:blip r:embed="rId2"/>
          <a:stretch>
            <a:fillRect/>
          </a:stretch>
        </p:blipFill>
        <p:spPr>
          <a:xfrm>
            <a:off x="875461" y="2312193"/>
            <a:ext cx="9303589" cy="3848763"/>
          </a:xfrm>
        </p:spPr>
      </p:pic>
    </p:spTree>
    <p:extLst>
      <p:ext uri="{BB962C8B-B14F-4D97-AF65-F5344CB8AC3E}">
        <p14:creationId xmlns:p14="http://schemas.microsoft.com/office/powerpoint/2010/main" val="465916039"/>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88B90F-2BF3-B3F0-60DC-3DF96FF40234}"/>
              </a:ext>
            </a:extLst>
          </p:cNvPr>
          <p:cNvSpPr>
            <a:spLocks noGrp="1"/>
          </p:cNvSpPr>
          <p:nvPr>
            <p:ph type="title"/>
          </p:nvPr>
        </p:nvSpPr>
        <p:spPr>
          <a:xfrm>
            <a:off x="838200" y="365125"/>
            <a:ext cx="10515600" cy="498475"/>
          </a:xfrm>
        </p:spPr>
        <p:txBody>
          <a:bodyPr>
            <a:normAutofit fontScale="90000"/>
          </a:bodyPr>
          <a:lstStyle/>
          <a:p>
            <a:r>
              <a:rPr lang="en-US" u="sng" dirty="0"/>
              <a:t>Sort a list of dictionary by a specific key</a:t>
            </a:r>
          </a:p>
        </p:txBody>
      </p:sp>
      <p:pic>
        <p:nvPicPr>
          <p:cNvPr id="5" name="Content Placeholder 4" descr="A screenshot of a computer program&#10;&#10;Description automatically generated">
            <a:extLst>
              <a:ext uri="{FF2B5EF4-FFF2-40B4-BE49-F238E27FC236}">
                <a16:creationId xmlns:a16="http://schemas.microsoft.com/office/drawing/2014/main" id="{8874D0CA-CF0D-2038-34E4-8486E397D614}"/>
              </a:ext>
            </a:extLst>
          </p:cNvPr>
          <p:cNvPicPr>
            <a:picLocks noGrp="1" noChangeAspect="1"/>
          </p:cNvPicPr>
          <p:nvPr>
            <p:ph idx="1"/>
          </p:nvPr>
        </p:nvPicPr>
        <p:blipFill>
          <a:blip r:embed="rId2"/>
          <a:stretch>
            <a:fillRect/>
          </a:stretch>
        </p:blipFill>
        <p:spPr>
          <a:xfrm>
            <a:off x="1422400" y="863600"/>
            <a:ext cx="8551333" cy="5994400"/>
          </a:xfrm>
        </p:spPr>
      </p:pic>
    </p:spTree>
    <p:extLst>
      <p:ext uri="{BB962C8B-B14F-4D97-AF65-F5344CB8AC3E}">
        <p14:creationId xmlns:p14="http://schemas.microsoft.com/office/powerpoint/2010/main" val="387849882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5A66D8-035F-73C7-40A6-6DAA1D5246C4}"/>
              </a:ext>
            </a:extLst>
          </p:cNvPr>
          <p:cNvSpPr>
            <a:spLocks noGrp="1"/>
          </p:cNvSpPr>
          <p:nvPr>
            <p:ph type="title"/>
          </p:nvPr>
        </p:nvSpPr>
        <p:spPr>
          <a:xfrm>
            <a:off x="1057025" y="922644"/>
            <a:ext cx="5040285" cy="1169585"/>
          </a:xfrm>
        </p:spPr>
        <p:txBody>
          <a:bodyPr anchor="b">
            <a:normAutofit/>
          </a:bodyPr>
          <a:lstStyle/>
          <a:p>
            <a:r>
              <a:rPr lang="en-US" sz="4000" u="sng"/>
              <a:t>__new__</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0334A50-322E-3944-669E-5EA869002BBE}"/>
              </a:ext>
            </a:extLst>
          </p:cNvPr>
          <p:cNvSpPr>
            <a:spLocks noGrp="1"/>
          </p:cNvSpPr>
          <p:nvPr>
            <p:ph idx="1"/>
          </p:nvPr>
        </p:nvSpPr>
        <p:spPr>
          <a:xfrm>
            <a:off x="1055715" y="2508105"/>
            <a:ext cx="5040285" cy="3632493"/>
          </a:xfrm>
        </p:spPr>
        <p:txBody>
          <a:bodyPr anchor="ctr">
            <a:normAutofit/>
          </a:bodyPr>
          <a:lstStyle/>
          <a:p>
            <a:pPr>
              <a:buFont typeface="Arial" panose="020B0604020202020204" pitchFamily="34" charset="0"/>
              <a:buChar char="•"/>
            </a:pPr>
            <a:r>
              <a:rPr lang="en-IN" sz="2000" b="0" i="0">
                <a:effectLst/>
                <a:latin typeface="Söhne"/>
              </a:rPr>
              <a:t>__new__ is a method that's called to create a new instance of a class.</a:t>
            </a:r>
          </a:p>
          <a:p>
            <a:pPr>
              <a:buFont typeface="Arial" panose="020B0604020202020204" pitchFamily="34" charset="0"/>
              <a:buChar char="•"/>
            </a:pPr>
            <a:r>
              <a:rPr lang="en-IN" sz="2000" b="0" i="0">
                <a:effectLst/>
                <a:latin typeface="Söhne"/>
              </a:rPr>
              <a:t>It's responsible for creating and returning a new instance of the class.</a:t>
            </a:r>
          </a:p>
          <a:p>
            <a:r>
              <a:rPr lang="en-IN" sz="2000" b="0" i="0">
                <a:effectLst/>
                <a:latin typeface="Georgia" panose="02040502050405020303" pitchFamily="18" charset="0"/>
              </a:rPr>
              <a:t>The method takes the </a:t>
            </a:r>
            <a:r>
              <a:rPr lang="en-IN" sz="2000" b="0" i="1">
                <a:effectLst/>
                <a:latin typeface="Georgia" panose="02040502050405020303" pitchFamily="18" charset="0"/>
              </a:rPr>
              <a:t>class</a:t>
            </a:r>
            <a:r>
              <a:rPr lang="en-IN" sz="2000" b="0" i="0">
                <a:effectLst/>
                <a:latin typeface="Georgia" panose="02040502050405020303" pitchFamily="18" charset="0"/>
              </a:rPr>
              <a:t> as its first </a:t>
            </a:r>
            <a:r>
              <a:rPr lang="en-IN" sz="2000" b="0" u="none" strike="noStrike">
                <a:effectLst/>
                <a:latin typeface="Georgia" panose="02040502050405020303" pitchFamily="18" charset="0"/>
                <a:hlinkClick r:id="rId2"/>
              </a:rPr>
              <a:t>argument</a:t>
            </a:r>
            <a:r>
              <a:rPr lang="en-IN" sz="2000" b="0" i="0">
                <a:effectLst/>
                <a:latin typeface="Georgia" panose="02040502050405020303" pitchFamily="18" charset="0"/>
              </a:rPr>
              <a:t>, followed by any additional arguments that need to be passed to it.</a:t>
            </a:r>
            <a:br>
              <a:rPr lang="en-IN" sz="2000"/>
            </a:br>
            <a:endParaRPr lang="en-IN" sz="2000"/>
          </a:p>
          <a:p>
            <a:endParaRPr lang="en-US" sz="2000"/>
          </a:p>
        </p:txBody>
      </p:sp>
      <p:pic>
        <p:nvPicPr>
          <p:cNvPr id="7" name="Picture 6" descr="A screen shot of a computer program&#10;&#10;Description automatically generated">
            <a:extLst>
              <a:ext uri="{FF2B5EF4-FFF2-40B4-BE49-F238E27FC236}">
                <a16:creationId xmlns:a16="http://schemas.microsoft.com/office/drawing/2014/main" id="{B0A66649-7EEE-3A93-5A25-C5A64F27892A}"/>
              </a:ext>
            </a:extLst>
          </p:cNvPr>
          <p:cNvPicPr>
            <a:picLocks noChangeAspect="1"/>
          </p:cNvPicPr>
          <p:nvPr/>
        </p:nvPicPr>
        <p:blipFill>
          <a:blip r:embed="rId3"/>
          <a:stretch>
            <a:fillRect/>
          </a:stretch>
        </p:blipFill>
        <p:spPr>
          <a:xfrm>
            <a:off x="5940021" y="561767"/>
            <a:ext cx="6330764" cy="3071326"/>
          </a:xfrm>
          <a:prstGeom prst="rect">
            <a:avLst/>
          </a:prstGeom>
        </p:spPr>
      </p:pic>
      <p:pic>
        <p:nvPicPr>
          <p:cNvPr id="5" name="Picture 4" descr="A black background with white text&#10;&#10;Description automatically generated">
            <a:extLst>
              <a:ext uri="{FF2B5EF4-FFF2-40B4-BE49-F238E27FC236}">
                <a16:creationId xmlns:a16="http://schemas.microsoft.com/office/drawing/2014/main" id="{99C4DFD5-EDB2-A8C1-73B6-2F809988D5EC}"/>
              </a:ext>
            </a:extLst>
          </p:cNvPr>
          <p:cNvPicPr>
            <a:picLocks noChangeAspect="1"/>
          </p:cNvPicPr>
          <p:nvPr/>
        </p:nvPicPr>
        <p:blipFill>
          <a:blip r:embed="rId4"/>
          <a:stretch>
            <a:fillRect/>
          </a:stretch>
        </p:blipFill>
        <p:spPr>
          <a:xfrm>
            <a:off x="5940021" y="3599145"/>
            <a:ext cx="6330764" cy="2548065"/>
          </a:xfrm>
          <a:prstGeom prst="rect">
            <a:avLst/>
          </a:prstGeom>
        </p:spPr>
      </p:pic>
      <p:pic>
        <p:nvPicPr>
          <p:cNvPr id="6" name="Picture 5" descr="A close up of a text&#10;&#10;Description automatically generated">
            <a:extLst>
              <a:ext uri="{FF2B5EF4-FFF2-40B4-BE49-F238E27FC236}">
                <a16:creationId xmlns:a16="http://schemas.microsoft.com/office/drawing/2014/main" id="{48328AAD-86D3-1AB3-20F9-BFA28BEF86DB}"/>
              </a:ext>
            </a:extLst>
          </p:cNvPr>
          <p:cNvPicPr>
            <a:picLocks noChangeAspect="1"/>
          </p:cNvPicPr>
          <p:nvPr/>
        </p:nvPicPr>
        <p:blipFill>
          <a:blip r:embed="rId5"/>
          <a:stretch>
            <a:fillRect/>
          </a:stretch>
        </p:blipFill>
        <p:spPr>
          <a:xfrm>
            <a:off x="1127085" y="5274296"/>
            <a:ext cx="4635500" cy="812800"/>
          </a:xfrm>
          <a:prstGeom prst="rect">
            <a:avLst/>
          </a:prstGeom>
        </p:spPr>
      </p:pic>
    </p:spTree>
    <p:extLst>
      <p:ext uri="{BB962C8B-B14F-4D97-AF65-F5344CB8AC3E}">
        <p14:creationId xmlns:p14="http://schemas.microsoft.com/office/powerpoint/2010/main" val="527983824"/>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93798-FB52-AD33-27D3-A6276927E1C8}"/>
              </a:ext>
            </a:extLst>
          </p:cNvPr>
          <p:cNvSpPr>
            <a:spLocks noGrp="1"/>
          </p:cNvSpPr>
          <p:nvPr>
            <p:ph type="title"/>
          </p:nvPr>
        </p:nvSpPr>
        <p:spPr>
          <a:xfrm>
            <a:off x="589560" y="856180"/>
            <a:ext cx="4560584" cy="1128068"/>
          </a:xfrm>
        </p:spPr>
        <p:txBody>
          <a:bodyPr anchor="ctr">
            <a:normAutofit fontScale="90000"/>
          </a:bodyPr>
          <a:lstStyle/>
          <a:p>
            <a:pPr fontAlgn="base"/>
            <a:r>
              <a:rPr lang="en-IN" sz="2000" b="1" i="0" u="sng" dirty="0">
                <a:effectLst/>
                <a:latin typeface="+mn-lt"/>
              </a:rPr>
              <a:t>Call A Class Method From Another Class In Python</a:t>
            </a:r>
            <a:br>
              <a:rPr lang="en-IN" sz="2000" b="1" i="0" u="sng" dirty="0">
                <a:effectLst/>
                <a:latin typeface="+mn-lt"/>
              </a:rPr>
            </a:br>
            <a:br>
              <a:rPr lang="en-IN" sz="2000" u="sng" dirty="0">
                <a:latin typeface="+mn-lt"/>
              </a:rPr>
            </a:br>
            <a:endParaRPr lang="en-US" sz="2000" u="sng" dirty="0">
              <a:latin typeface="+mn-lt"/>
            </a:endParaRP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92ADA44-C82E-32EA-B8E2-32E17BD7AED9}"/>
              </a:ext>
            </a:extLst>
          </p:cNvPr>
          <p:cNvSpPr>
            <a:spLocks noGrp="1"/>
          </p:cNvSpPr>
          <p:nvPr>
            <p:ph idx="1"/>
          </p:nvPr>
        </p:nvSpPr>
        <p:spPr>
          <a:xfrm>
            <a:off x="159341" y="2279187"/>
            <a:ext cx="4990803" cy="4030903"/>
          </a:xfrm>
        </p:spPr>
        <p:txBody>
          <a:bodyPr anchor="ctr">
            <a:normAutofit/>
          </a:bodyPr>
          <a:lstStyle/>
          <a:p>
            <a:r>
              <a:rPr lang="en-IN" sz="2000" b="0" i="0" dirty="0">
                <a:effectLst/>
              </a:rPr>
              <a:t>Let’s consider a scenario where we have two classes, </a:t>
            </a:r>
            <a:r>
              <a:rPr lang="en-IN" sz="2000" b="0" i="0" dirty="0" err="1">
                <a:effectLst/>
              </a:rPr>
              <a:t>ClassA</a:t>
            </a:r>
            <a:r>
              <a:rPr lang="en-IN" sz="2000" b="0" i="0" dirty="0">
                <a:effectLst/>
              </a:rPr>
              <a:t> and </a:t>
            </a:r>
            <a:r>
              <a:rPr lang="en-IN" sz="2000" b="0" i="0" dirty="0" err="1">
                <a:effectLst/>
              </a:rPr>
              <a:t>ClassB</a:t>
            </a:r>
            <a:r>
              <a:rPr lang="en-IN" sz="2000" b="0" i="0" dirty="0">
                <a:effectLst/>
              </a:rPr>
              <a:t>. We want to call a method of </a:t>
            </a:r>
            <a:r>
              <a:rPr lang="en-IN" sz="2000" b="0" i="0" dirty="0" err="1">
                <a:effectLst/>
              </a:rPr>
              <a:t>ClassA</a:t>
            </a:r>
            <a:r>
              <a:rPr lang="en-IN" sz="2000" b="0" i="0" dirty="0">
                <a:effectLst/>
              </a:rPr>
              <a:t> from within </a:t>
            </a:r>
            <a:r>
              <a:rPr lang="en-IN" sz="2000" b="0" i="0" dirty="0" err="1">
                <a:effectLst/>
              </a:rPr>
              <a:t>ClassB</a:t>
            </a:r>
            <a:r>
              <a:rPr lang="en-IN" sz="2000" b="0" i="0" dirty="0">
                <a:effectLst/>
              </a:rPr>
              <a:t>. Here’s how you can achieve this: In this example, </a:t>
            </a:r>
            <a:r>
              <a:rPr lang="en-IN" sz="2000" b="0" i="0" dirty="0" err="1">
                <a:effectLst/>
              </a:rPr>
              <a:t>ClassB</a:t>
            </a:r>
            <a:r>
              <a:rPr lang="en-IN" sz="2000" b="0" i="0" dirty="0">
                <a:effectLst/>
              </a:rPr>
              <a:t> has a method called </a:t>
            </a:r>
            <a:r>
              <a:rPr lang="en-IN" sz="2000" b="1" i="0" dirty="0" err="1">
                <a:effectLst/>
              </a:rPr>
              <a:t>call_method_from_class_a</a:t>
            </a:r>
            <a:r>
              <a:rPr lang="en-IN" sz="2000" b="0" i="0" dirty="0">
                <a:effectLst/>
              </a:rPr>
              <a:t>, and within this method, we call the </a:t>
            </a:r>
            <a:r>
              <a:rPr lang="en-IN" sz="2000" b="1" i="0" dirty="0" err="1">
                <a:effectLst/>
              </a:rPr>
              <a:t>method_in_class_a</a:t>
            </a:r>
            <a:r>
              <a:rPr lang="en-IN" sz="2000" b="0" i="0" dirty="0">
                <a:effectLst/>
              </a:rPr>
              <a:t> of </a:t>
            </a:r>
            <a:r>
              <a:rPr lang="en-IN" sz="2000" b="0" i="0" dirty="0" err="1">
                <a:effectLst/>
              </a:rPr>
              <a:t>ClassA</a:t>
            </a:r>
            <a:r>
              <a:rPr lang="en-IN" sz="2000" b="0" i="0" dirty="0">
                <a:effectLst/>
              </a:rPr>
              <a:t> using </a:t>
            </a:r>
            <a:r>
              <a:rPr lang="en-IN" sz="2000" b="1" i="0" dirty="0" err="1">
                <a:effectLst/>
              </a:rPr>
              <a:t>ClassA</a:t>
            </a:r>
            <a:r>
              <a:rPr lang="en-IN" sz="2000" b="0" i="0" dirty="0" err="1">
                <a:effectLst/>
              </a:rPr>
              <a:t>.</a:t>
            </a:r>
            <a:r>
              <a:rPr lang="en-IN" sz="2000" b="1" i="0" dirty="0" err="1">
                <a:effectLst/>
              </a:rPr>
              <a:t>method_in_class_a</a:t>
            </a:r>
            <a:r>
              <a:rPr lang="en-IN" sz="2000" b="1" i="0" dirty="0">
                <a:effectLst/>
              </a:rPr>
              <a:t>()</a:t>
            </a:r>
            <a:r>
              <a:rPr lang="en-IN" sz="2000" b="0" i="0" dirty="0">
                <a:effectLst/>
              </a:rPr>
              <a:t>.</a:t>
            </a:r>
          </a:p>
          <a:p>
            <a:endParaRPr lang="en-US" sz="2000" dirty="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 program&#10;&#10;Description automatically generated">
            <a:extLst>
              <a:ext uri="{FF2B5EF4-FFF2-40B4-BE49-F238E27FC236}">
                <a16:creationId xmlns:a16="http://schemas.microsoft.com/office/drawing/2014/main" id="{B1E5D063-AF96-0E65-2E5B-9F579350F357}"/>
              </a:ext>
            </a:extLst>
          </p:cNvPr>
          <p:cNvPicPr>
            <a:picLocks noChangeAspect="1"/>
          </p:cNvPicPr>
          <p:nvPr/>
        </p:nvPicPr>
        <p:blipFill rotWithShape="1">
          <a:blip r:embed="rId2"/>
          <a:srcRect r="19279" b="1"/>
          <a:stretch/>
        </p:blipFill>
        <p:spPr>
          <a:xfrm>
            <a:off x="5188987" y="679423"/>
            <a:ext cx="6337927" cy="6143874"/>
          </a:xfrm>
          <a:prstGeom prst="rect">
            <a:avLst/>
          </a:prstGeom>
        </p:spPr>
      </p:pic>
    </p:spTree>
    <p:extLst>
      <p:ext uri="{BB962C8B-B14F-4D97-AF65-F5344CB8AC3E}">
        <p14:creationId xmlns:p14="http://schemas.microsoft.com/office/powerpoint/2010/main" val="282132454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01CC55D-ED54-4C5C-95E6-10947BD110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4B7A65-359B-CA48-095F-D74D044F374A}"/>
              </a:ext>
            </a:extLst>
          </p:cNvPr>
          <p:cNvSpPr>
            <a:spLocks noGrp="1"/>
          </p:cNvSpPr>
          <p:nvPr>
            <p:ph type="title"/>
          </p:nvPr>
        </p:nvSpPr>
        <p:spPr>
          <a:xfrm>
            <a:off x="589560" y="856180"/>
            <a:ext cx="4560584" cy="1128068"/>
          </a:xfrm>
        </p:spPr>
        <p:txBody>
          <a:bodyPr anchor="ctr">
            <a:normAutofit/>
          </a:bodyPr>
          <a:lstStyle/>
          <a:p>
            <a:r>
              <a:rPr lang="en-US" sz="4000" u="sng" dirty="0"/>
              <a:t>Super</a:t>
            </a:r>
          </a:p>
        </p:txBody>
      </p:sp>
      <p:grpSp>
        <p:nvGrpSpPr>
          <p:cNvPr id="12" name="Group 1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13" name="Rectangle 1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6" name="Rectangle 1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090569"/>
            <a:ext cx="429768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38D7E94-5315-2B1B-2D50-492BC9BE3CB0}"/>
              </a:ext>
            </a:extLst>
          </p:cNvPr>
          <p:cNvSpPr>
            <a:spLocks noGrp="1"/>
          </p:cNvSpPr>
          <p:nvPr>
            <p:ph idx="1"/>
          </p:nvPr>
        </p:nvSpPr>
        <p:spPr>
          <a:xfrm>
            <a:off x="590719" y="2330505"/>
            <a:ext cx="4559425" cy="3979585"/>
          </a:xfrm>
        </p:spPr>
        <p:txBody>
          <a:bodyPr anchor="ctr">
            <a:normAutofit/>
          </a:bodyPr>
          <a:lstStyle/>
          <a:p>
            <a:r>
              <a:rPr lang="en-IN" sz="2000" b="0" i="0">
                <a:effectLst/>
                <a:latin typeface="Söhne"/>
              </a:rPr>
              <a:t>Super() is used for invoking methods of a superclass within a subclass, extension in inheritance hierarchies. </a:t>
            </a:r>
          </a:p>
          <a:p>
            <a:endParaRPr lang="en-US" sz="2000"/>
          </a:p>
        </p:txBody>
      </p:sp>
      <p:sp>
        <p:nvSpPr>
          <p:cNvPr id="18" name="Rectangle 1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85810" y="513853"/>
            <a:ext cx="6009366" cy="583457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computer screen shot of a program&#10;&#10;Description automatically generated">
            <a:extLst>
              <a:ext uri="{FF2B5EF4-FFF2-40B4-BE49-F238E27FC236}">
                <a16:creationId xmlns:a16="http://schemas.microsoft.com/office/drawing/2014/main" id="{79DDF6A7-9CB5-4B3E-F69B-13BAF7E4C1BF}"/>
              </a:ext>
            </a:extLst>
          </p:cNvPr>
          <p:cNvPicPr>
            <a:picLocks noChangeAspect="1"/>
          </p:cNvPicPr>
          <p:nvPr/>
        </p:nvPicPr>
        <p:blipFill rotWithShape="1">
          <a:blip r:embed="rId2"/>
          <a:srcRect r="27015"/>
          <a:stretch/>
        </p:blipFill>
        <p:spPr>
          <a:xfrm>
            <a:off x="5977788" y="799352"/>
            <a:ext cx="5425410" cy="5259296"/>
          </a:xfrm>
          <a:prstGeom prst="rect">
            <a:avLst/>
          </a:prstGeom>
        </p:spPr>
      </p:pic>
    </p:spTree>
    <p:extLst>
      <p:ext uri="{BB962C8B-B14F-4D97-AF65-F5344CB8AC3E}">
        <p14:creationId xmlns:p14="http://schemas.microsoft.com/office/powerpoint/2010/main" val="139931918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0A4D08-02D7-3CE7-27EE-FD0493EC2BE1}"/>
              </a:ext>
            </a:extLst>
          </p:cNvPr>
          <p:cNvSpPr>
            <a:spLocks noGrp="1"/>
          </p:cNvSpPr>
          <p:nvPr>
            <p:ph type="title"/>
          </p:nvPr>
        </p:nvSpPr>
        <p:spPr/>
        <p:txBody>
          <a:bodyPr/>
          <a:lstStyle/>
          <a:p>
            <a:r>
              <a:rPr lang="en-US" sz="4400" u="sng" dirty="0"/>
              <a:t>Super</a:t>
            </a:r>
            <a:endParaRPr lang="en-US" dirty="0"/>
          </a:p>
        </p:txBody>
      </p:sp>
      <p:pic>
        <p:nvPicPr>
          <p:cNvPr id="5" name="Content Placeholder 4" descr="A white text with black text&#10;&#10;Description automatically generated">
            <a:extLst>
              <a:ext uri="{FF2B5EF4-FFF2-40B4-BE49-F238E27FC236}">
                <a16:creationId xmlns:a16="http://schemas.microsoft.com/office/drawing/2014/main" id="{A83F229A-60BE-3F05-2CFA-1B9130F135A5}"/>
              </a:ext>
            </a:extLst>
          </p:cNvPr>
          <p:cNvPicPr>
            <a:picLocks noGrp="1" noChangeAspect="1"/>
          </p:cNvPicPr>
          <p:nvPr>
            <p:ph idx="1"/>
          </p:nvPr>
        </p:nvPicPr>
        <p:blipFill>
          <a:blip r:embed="rId2"/>
          <a:stretch>
            <a:fillRect/>
          </a:stretch>
        </p:blipFill>
        <p:spPr>
          <a:xfrm>
            <a:off x="973666" y="2081477"/>
            <a:ext cx="8585200" cy="3873500"/>
          </a:xfrm>
        </p:spPr>
      </p:pic>
      <p:pic>
        <p:nvPicPr>
          <p:cNvPr id="7" name="Picture 6" descr="A black rectangle with white border&#10;&#10;Description automatically generated">
            <a:extLst>
              <a:ext uri="{FF2B5EF4-FFF2-40B4-BE49-F238E27FC236}">
                <a16:creationId xmlns:a16="http://schemas.microsoft.com/office/drawing/2014/main" id="{A0DBA2FC-1A1C-A415-CD4D-EBDA926B3BA7}"/>
              </a:ext>
            </a:extLst>
          </p:cNvPr>
          <p:cNvPicPr>
            <a:picLocks noChangeAspect="1"/>
          </p:cNvPicPr>
          <p:nvPr/>
        </p:nvPicPr>
        <p:blipFill>
          <a:blip r:embed="rId3"/>
          <a:stretch>
            <a:fillRect/>
          </a:stretch>
        </p:blipFill>
        <p:spPr>
          <a:xfrm>
            <a:off x="3855075" y="5364427"/>
            <a:ext cx="7150100" cy="1181100"/>
          </a:xfrm>
          <a:prstGeom prst="rect">
            <a:avLst/>
          </a:prstGeom>
        </p:spPr>
      </p:pic>
    </p:spTree>
    <p:extLst>
      <p:ext uri="{BB962C8B-B14F-4D97-AF65-F5344CB8AC3E}">
        <p14:creationId xmlns:p14="http://schemas.microsoft.com/office/powerpoint/2010/main" val="3932852826"/>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F375-72AA-3DA4-6F15-4D17AF86D8BB}"/>
              </a:ext>
            </a:extLst>
          </p:cNvPr>
          <p:cNvSpPr>
            <a:spLocks noGrp="1"/>
          </p:cNvSpPr>
          <p:nvPr>
            <p:ph type="title"/>
          </p:nvPr>
        </p:nvSpPr>
        <p:spPr>
          <a:xfrm>
            <a:off x="838200" y="365126"/>
            <a:ext cx="10515600" cy="389996"/>
          </a:xfrm>
        </p:spPr>
        <p:txBody>
          <a:bodyPr>
            <a:normAutofit fontScale="90000"/>
          </a:bodyPr>
          <a:lstStyle/>
          <a:p>
            <a:r>
              <a:rPr lang="en-US" u="sng" dirty="0"/>
              <a:t>Codes</a:t>
            </a:r>
          </a:p>
        </p:txBody>
      </p:sp>
      <p:sp>
        <p:nvSpPr>
          <p:cNvPr id="3" name="Content Placeholder 2">
            <a:extLst>
              <a:ext uri="{FF2B5EF4-FFF2-40B4-BE49-F238E27FC236}">
                <a16:creationId xmlns:a16="http://schemas.microsoft.com/office/drawing/2014/main" id="{C2D75412-0A0F-4F4E-2212-BE0BBD7DC94C}"/>
              </a:ext>
            </a:extLst>
          </p:cNvPr>
          <p:cNvSpPr>
            <a:spLocks noGrp="1"/>
          </p:cNvSpPr>
          <p:nvPr>
            <p:ph idx="1"/>
          </p:nvPr>
        </p:nvSpPr>
        <p:spPr>
          <a:xfrm>
            <a:off x="838200" y="948267"/>
            <a:ext cx="10515600" cy="5228696"/>
          </a:xfrm>
        </p:spPr>
        <p:txBody>
          <a:bodyPr>
            <a:normAutofit/>
          </a:bodyPr>
          <a:lstStyle/>
          <a:p>
            <a:pPr algn="l"/>
            <a:r>
              <a:rPr lang="en-IN" b="0" i="0" dirty="0">
                <a:effectLst/>
                <a:latin typeface="ui-sans-serif"/>
              </a:rPr>
              <a:t>CREATE A LIST USING RANGE in python</a:t>
            </a:r>
          </a:p>
          <a:p>
            <a:pPr algn="l"/>
            <a:r>
              <a:rPr lang="en-IN" b="0" i="0" dirty="0">
                <a:effectLst/>
                <a:latin typeface="ui-sans-serif"/>
              </a:rPr>
              <a:t># Create a list of numbers from 0 to 9 (excluding 10)</a:t>
            </a:r>
          </a:p>
          <a:p>
            <a:pPr algn="l"/>
            <a:r>
              <a:rPr lang="en-IN" b="0" i="0" dirty="0" err="1">
                <a:effectLst/>
                <a:latin typeface="ui-sans-serif"/>
              </a:rPr>
              <a:t>my_list</a:t>
            </a:r>
            <a:r>
              <a:rPr lang="en-IN" b="0" i="0" dirty="0">
                <a:effectLst/>
                <a:latin typeface="ui-sans-serif"/>
              </a:rPr>
              <a:t> = list(range(10))</a:t>
            </a:r>
          </a:p>
          <a:p>
            <a:pPr algn="l"/>
            <a:r>
              <a:rPr lang="en-IN" b="0" i="0" dirty="0">
                <a:effectLst/>
                <a:latin typeface="ui-sans-serif"/>
              </a:rPr>
              <a:t>print(</a:t>
            </a:r>
            <a:r>
              <a:rPr lang="en-IN" b="0" i="0" dirty="0" err="1">
                <a:effectLst/>
                <a:latin typeface="ui-sans-serif"/>
              </a:rPr>
              <a:t>my_list</a:t>
            </a:r>
            <a:r>
              <a:rPr lang="en-IN" b="0" i="0" dirty="0">
                <a:effectLst/>
                <a:latin typeface="ui-sans-serif"/>
              </a:rPr>
              <a:t>)</a:t>
            </a:r>
          </a:p>
          <a:p>
            <a:pPr algn="l"/>
            <a:r>
              <a:rPr lang="en-IN" b="0" i="0" u="sng" dirty="0" err="1">
                <a:effectLst/>
                <a:latin typeface="ui-sans-serif"/>
              </a:rPr>
              <a:t>itterate</a:t>
            </a:r>
            <a:r>
              <a:rPr lang="en-IN" b="0" i="0" u="sng" dirty="0">
                <a:effectLst/>
                <a:latin typeface="ui-sans-serif"/>
              </a:rPr>
              <a:t> over a list and find cubes</a:t>
            </a:r>
          </a:p>
          <a:p>
            <a:pPr algn="l"/>
            <a:br>
              <a:rPr lang="en-IN" b="0" i="0" dirty="0">
                <a:effectLst/>
                <a:latin typeface="ui-sans-serif"/>
              </a:rPr>
            </a:br>
            <a:endParaRPr lang="en-IN" b="0" i="0" dirty="0">
              <a:effectLst/>
              <a:latin typeface="ui-sans-serif"/>
            </a:endParaRPr>
          </a:p>
          <a:p>
            <a:pPr algn="l"/>
            <a:br>
              <a:rPr lang="en-IN" b="0" i="0" dirty="0">
                <a:effectLst/>
                <a:latin typeface="ui-sans-serif"/>
              </a:rPr>
            </a:br>
            <a:endParaRPr lang="en-IN" b="0" i="0" dirty="0">
              <a:effectLst/>
              <a:latin typeface="ui-sans-serif"/>
            </a:endParaRPr>
          </a:p>
          <a:p>
            <a:endParaRPr lang="en-US" dirty="0"/>
          </a:p>
        </p:txBody>
      </p:sp>
      <p:pic>
        <p:nvPicPr>
          <p:cNvPr id="9" name="Picture 8" descr="A screenshot of a computer program&#10;&#10;Description automatically generated">
            <a:extLst>
              <a:ext uri="{FF2B5EF4-FFF2-40B4-BE49-F238E27FC236}">
                <a16:creationId xmlns:a16="http://schemas.microsoft.com/office/drawing/2014/main" id="{156A9EBD-2CD6-BC5A-87B2-F32EB8FB5C2B}"/>
              </a:ext>
            </a:extLst>
          </p:cNvPr>
          <p:cNvPicPr>
            <a:picLocks noChangeAspect="1"/>
          </p:cNvPicPr>
          <p:nvPr/>
        </p:nvPicPr>
        <p:blipFill>
          <a:blip r:embed="rId2"/>
          <a:stretch>
            <a:fillRect/>
          </a:stretch>
        </p:blipFill>
        <p:spPr>
          <a:xfrm>
            <a:off x="1181100" y="3562615"/>
            <a:ext cx="4343400" cy="2997200"/>
          </a:xfrm>
          <a:prstGeom prst="rect">
            <a:avLst/>
          </a:prstGeom>
        </p:spPr>
      </p:pic>
    </p:spTree>
    <p:extLst>
      <p:ext uri="{BB962C8B-B14F-4D97-AF65-F5344CB8AC3E}">
        <p14:creationId xmlns:p14="http://schemas.microsoft.com/office/powerpoint/2010/main" val="374846210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ED5ABA-2241-0950-284C-7B3BD6B8A492}"/>
              </a:ext>
            </a:extLst>
          </p:cNvPr>
          <p:cNvSpPr>
            <a:spLocks noGrp="1"/>
          </p:cNvSpPr>
          <p:nvPr>
            <p:ph type="title"/>
          </p:nvPr>
        </p:nvSpPr>
        <p:spPr/>
        <p:txBody>
          <a:bodyPr/>
          <a:lstStyle/>
          <a:p>
            <a:r>
              <a:rPr lang="en-US" u="sng" dirty="0"/>
              <a:t>Codes</a:t>
            </a:r>
          </a:p>
        </p:txBody>
      </p:sp>
      <p:sp>
        <p:nvSpPr>
          <p:cNvPr id="3" name="Content Placeholder 2">
            <a:extLst>
              <a:ext uri="{FF2B5EF4-FFF2-40B4-BE49-F238E27FC236}">
                <a16:creationId xmlns:a16="http://schemas.microsoft.com/office/drawing/2014/main" id="{4928A32D-8A57-98A2-73EB-3223237E768B}"/>
              </a:ext>
            </a:extLst>
          </p:cNvPr>
          <p:cNvSpPr>
            <a:spLocks noGrp="1"/>
          </p:cNvSpPr>
          <p:nvPr>
            <p:ph idx="1"/>
          </p:nvPr>
        </p:nvSpPr>
        <p:spPr/>
        <p:txBody>
          <a:bodyPr/>
          <a:lstStyle/>
          <a:p>
            <a:r>
              <a:rPr lang="en-US" u="sng" dirty="0"/>
              <a:t>Insert the element at specified index</a:t>
            </a:r>
          </a:p>
        </p:txBody>
      </p:sp>
      <p:pic>
        <p:nvPicPr>
          <p:cNvPr id="9" name="Picture 8" descr="A black rectangular object with white text&#10;&#10;Description automatically generated">
            <a:extLst>
              <a:ext uri="{FF2B5EF4-FFF2-40B4-BE49-F238E27FC236}">
                <a16:creationId xmlns:a16="http://schemas.microsoft.com/office/drawing/2014/main" id="{116B4854-8E50-9D09-92ED-85FBBD70D88E}"/>
              </a:ext>
            </a:extLst>
          </p:cNvPr>
          <p:cNvPicPr>
            <a:picLocks noChangeAspect="1"/>
          </p:cNvPicPr>
          <p:nvPr/>
        </p:nvPicPr>
        <p:blipFill>
          <a:blip r:embed="rId2"/>
          <a:stretch>
            <a:fillRect/>
          </a:stretch>
        </p:blipFill>
        <p:spPr>
          <a:xfrm>
            <a:off x="838200" y="2214033"/>
            <a:ext cx="7683500" cy="3175000"/>
          </a:xfrm>
          <a:prstGeom prst="rect">
            <a:avLst/>
          </a:prstGeom>
        </p:spPr>
      </p:pic>
    </p:spTree>
    <p:extLst>
      <p:ext uri="{BB962C8B-B14F-4D97-AF65-F5344CB8AC3E}">
        <p14:creationId xmlns:p14="http://schemas.microsoft.com/office/powerpoint/2010/main" val="815743189"/>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88263A24-0C1F-4677-B43C-4AE14E276B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Rectangle 13">
            <a:extLst>
              <a:ext uri="{FF2B5EF4-FFF2-40B4-BE49-F238E27FC236}">
                <a16:creationId xmlns:a16="http://schemas.microsoft.com/office/drawing/2014/main" id="{0ADDB668-2CA4-4D2B-9C34-3487CA330B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1553" y="304802"/>
            <a:ext cx="11097349" cy="1573149"/>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13DEF77B-5CBF-67EF-E53A-7C809229E95F}"/>
              </a:ext>
            </a:extLst>
          </p:cNvPr>
          <p:cNvSpPr>
            <a:spLocks noGrp="1"/>
          </p:cNvSpPr>
          <p:nvPr>
            <p:ph type="title"/>
          </p:nvPr>
        </p:nvSpPr>
        <p:spPr>
          <a:xfrm>
            <a:off x="868680" y="405575"/>
            <a:ext cx="5001768" cy="763658"/>
          </a:xfrm>
        </p:spPr>
        <p:txBody>
          <a:bodyPr vert="horz" lIns="91440" tIns="45720" rIns="91440" bIns="45720" rtlCol="0" anchor="ctr">
            <a:normAutofit/>
          </a:bodyPr>
          <a:lstStyle/>
          <a:p>
            <a:r>
              <a:rPr lang="en-US" sz="3600" u="sng" dirty="0"/>
              <a:t>Append vs Extend</a:t>
            </a:r>
          </a:p>
        </p:txBody>
      </p:sp>
      <p:sp>
        <p:nvSpPr>
          <p:cNvPr id="16" name="Rectangle 15">
            <a:extLst>
              <a:ext uri="{FF2B5EF4-FFF2-40B4-BE49-F238E27FC236}">
                <a16:creationId xmlns:a16="http://schemas.microsoft.com/office/drawing/2014/main" id="{2568BC19-F052-4108-93E1-6A3D1DEC072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4784" y="764424"/>
            <a:ext cx="128016" cy="65390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18" name="Rectangle 17">
            <a:extLst>
              <a:ext uri="{FF2B5EF4-FFF2-40B4-BE49-F238E27FC236}">
                <a16:creationId xmlns:a16="http://schemas.microsoft.com/office/drawing/2014/main" id="{D5FD337D-4D6B-4C8B-B6F5-121097E098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586984" y="1071836"/>
            <a:ext cx="1021458" cy="9144"/>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pic>
        <p:nvPicPr>
          <p:cNvPr id="5" name="Content Placeholder 4" descr="A screenshot of a computer program&#10;&#10;Description automatically generated">
            <a:extLst>
              <a:ext uri="{FF2B5EF4-FFF2-40B4-BE49-F238E27FC236}">
                <a16:creationId xmlns:a16="http://schemas.microsoft.com/office/drawing/2014/main" id="{279FC88A-9833-8E43-3B8E-666C2812BC2B}"/>
              </a:ext>
            </a:extLst>
          </p:cNvPr>
          <p:cNvPicPr>
            <a:picLocks noGrp="1" noChangeAspect="1"/>
          </p:cNvPicPr>
          <p:nvPr>
            <p:ph idx="1"/>
          </p:nvPr>
        </p:nvPicPr>
        <p:blipFill>
          <a:blip r:embed="rId2"/>
          <a:stretch>
            <a:fillRect/>
          </a:stretch>
        </p:blipFill>
        <p:spPr>
          <a:xfrm>
            <a:off x="350116" y="1270006"/>
            <a:ext cx="6024300" cy="5283192"/>
          </a:xfrm>
          <a:prstGeom prst="rect">
            <a:avLst/>
          </a:prstGeom>
        </p:spPr>
      </p:pic>
      <p:pic>
        <p:nvPicPr>
          <p:cNvPr id="7" name="Picture 6" descr="A white background with black text&#10;&#10;Description automatically generated">
            <a:extLst>
              <a:ext uri="{FF2B5EF4-FFF2-40B4-BE49-F238E27FC236}">
                <a16:creationId xmlns:a16="http://schemas.microsoft.com/office/drawing/2014/main" id="{C06C3084-428E-17EB-5FB5-89E33784441D}"/>
              </a:ext>
            </a:extLst>
          </p:cNvPr>
          <p:cNvPicPr>
            <a:picLocks noChangeAspect="1"/>
          </p:cNvPicPr>
          <p:nvPr/>
        </p:nvPicPr>
        <p:blipFill>
          <a:blip r:embed="rId3"/>
          <a:stretch>
            <a:fillRect/>
          </a:stretch>
        </p:blipFill>
        <p:spPr>
          <a:xfrm>
            <a:off x="6520720" y="3496681"/>
            <a:ext cx="5122223" cy="1385040"/>
          </a:xfrm>
          <a:prstGeom prst="rect">
            <a:avLst/>
          </a:prstGeom>
        </p:spPr>
      </p:pic>
    </p:spTree>
    <p:extLst>
      <p:ext uri="{BB962C8B-B14F-4D97-AF65-F5344CB8AC3E}">
        <p14:creationId xmlns:p14="http://schemas.microsoft.com/office/powerpoint/2010/main" val="3499917518"/>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50D94D-3BAE-AED7-C684-833C172460E6}"/>
              </a:ext>
            </a:extLst>
          </p:cNvPr>
          <p:cNvSpPr>
            <a:spLocks noGrp="1"/>
          </p:cNvSpPr>
          <p:nvPr>
            <p:ph type="title"/>
          </p:nvPr>
        </p:nvSpPr>
        <p:spPr/>
        <p:txBody>
          <a:bodyPr/>
          <a:lstStyle/>
          <a:p>
            <a:r>
              <a:rPr lang="en-US" u="sng" dirty="0"/>
              <a:t>Remove Element At Specified Index</a:t>
            </a:r>
          </a:p>
        </p:txBody>
      </p:sp>
      <p:sp>
        <p:nvSpPr>
          <p:cNvPr id="3" name="Content Placeholder 2">
            <a:extLst>
              <a:ext uri="{FF2B5EF4-FFF2-40B4-BE49-F238E27FC236}">
                <a16:creationId xmlns:a16="http://schemas.microsoft.com/office/drawing/2014/main" id="{39CF76ED-0E2F-1E86-C46C-E559FA925745}"/>
              </a:ext>
            </a:extLst>
          </p:cNvPr>
          <p:cNvSpPr>
            <a:spLocks noGrp="1"/>
          </p:cNvSpPr>
          <p:nvPr>
            <p:ph idx="1"/>
          </p:nvPr>
        </p:nvSpPr>
        <p:spPr>
          <a:xfrm>
            <a:off x="838200" y="1825625"/>
            <a:ext cx="10515600" cy="4667250"/>
          </a:xfrm>
        </p:spPr>
        <p:txBody>
          <a:bodyPr>
            <a:normAutofit/>
          </a:bodyPr>
          <a:lstStyle/>
          <a:p>
            <a:r>
              <a:rPr lang="en-IN" dirty="0" err="1">
                <a:effectLst/>
                <a:latin typeface="Helvetica Neue" panose="02000503000000020004" pitchFamily="2" charset="0"/>
              </a:rPr>
              <a:t>my_list</a:t>
            </a:r>
            <a:r>
              <a:rPr lang="en-IN" dirty="0">
                <a:effectLst/>
                <a:latin typeface="Helvetica Neue" panose="02000503000000020004" pitchFamily="2" charset="0"/>
              </a:rPr>
              <a:t> = [1, 2, 3, 4, 5]</a:t>
            </a:r>
          </a:p>
          <a:p>
            <a:r>
              <a:rPr lang="en-IN" dirty="0">
                <a:effectLst/>
                <a:latin typeface="Helvetica Neue" panose="02000503000000020004" pitchFamily="2" charset="0"/>
              </a:rPr>
              <a:t># Remove the element at index 2</a:t>
            </a:r>
          </a:p>
          <a:p>
            <a:r>
              <a:rPr lang="en-IN" dirty="0" err="1">
                <a:effectLst/>
                <a:latin typeface="Helvetica Neue" panose="02000503000000020004" pitchFamily="2" charset="0"/>
              </a:rPr>
              <a:t>removed_element</a:t>
            </a:r>
            <a:r>
              <a:rPr lang="en-IN" dirty="0">
                <a:effectLst/>
                <a:latin typeface="Helvetica Neue" panose="02000503000000020004" pitchFamily="2" charset="0"/>
              </a:rPr>
              <a:t> = </a:t>
            </a:r>
            <a:r>
              <a:rPr lang="en-IN" dirty="0" err="1">
                <a:effectLst/>
                <a:latin typeface="Helvetica Neue" panose="02000503000000020004" pitchFamily="2" charset="0"/>
              </a:rPr>
              <a:t>my_list.pop</a:t>
            </a:r>
            <a:r>
              <a:rPr lang="en-IN" dirty="0">
                <a:effectLst/>
                <a:latin typeface="Helvetica Neue" panose="02000503000000020004" pitchFamily="2" charset="0"/>
              </a:rPr>
              <a:t>(2)</a:t>
            </a:r>
          </a:p>
          <a:p>
            <a:r>
              <a:rPr lang="en-IN" dirty="0">
                <a:effectLst/>
                <a:latin typeface="Helvetica Neue" panose="02000503000000020004" pitchFamily="2" charset="0"/>
              </a:rPr>
              <a:t>print("List after removal:", </a:t>
            </a:r>
            <a:r>
              <a:rPr lang="en-IN" dirty="0" err="1">
                <a:effectLst/>
                <a:latin typeface="Helvetica Neue" panose="02000503000000020004" pitchFamily="2" charset="0"/>
              </a:rPr>
              <a:t>my_list</a:t>
            </a:r>
            <a:r>
              <a:rPr lang="en-IN" dirty="0">
                <a:effectLst/>
                <a:latin typeface="Helvetica Neue" panose="02000503000000020004" pitchFamily="2" charset="0"/>
              </a:rPr>
              <a:t>)    </a:t>
            </a:r>
          </a:p>
          <a:p>
            <a:r>
              <a:rPr lang="en-IN" dirty="0">
                <a:effectLst/>
                <a:latin typeface="Helvetica Neue" panose="02000503000000020004" pitchFamily="2" charset="0"/>
              </a:rPr>
              <a:t> # Output: List after removal: [1, 2, 4, 5]</a:t>
            </a:r>
          </a:p>
          <a:p>
            <a:r>
              <a:rPr lang="en-IN" u="sng" dirty="0">
                <a:latin typeface="Helvetica Neue" panose="02000503000000020004" pitchFamily="2" charset="0"/>
              </a:rPr>
              <a:t>Drop duplicates</a:t>
            </a:r>
          </a:p>
          <a:p>
            <a:r>
              <a:rPr lang="en-IN" dirty="0">
                <a:effectLst/>
              </a:rPr>
              <a:t>from collections import </a:t>
            </a:r>
            <a:r>
              <a:rPr lang="en-IN" dirty="0" err="1">
                <a:effectLst/>
              </a:rPr>
              <a:t>OrderedDict</a:t>
            </a:r>
            <a:br>
              <a:rPr lang="en-IN" dirty="0"/>
            </a:br>
            <a:r>
              <a:rPr lang="en-IN" dirty="0" err="1">
                <a:effectLst/>
              </a:rPr>
              <a:t>my_list</a:t>
            </a:r>
            <a:r>
              <a:rPr lang="en-IN" dirty="0">
                <a:effectLst/>
              </a:rPr>
              <a:t> = [1, 2, 3, 2, 4, 3, 5]</a:t>
            </a:r>
            <a:br>
              <a:rPr lang="en-IN" dirty="0"/>
            </a:br>
            <a:r>
              <a:rPr lang="en-IN" dirty="0" err="1">
                <a:effectLst/>
              </a:rPr>
              <a:t>deduplicated_list</a:t>
            </a:r>
            <a:r>
              <a:rPr lang="en-IN" dirty="0">
                <a:effectLst/>
              </a:rPr>
              <a:t> = list(</a:t>
            </a:r>
            <a:r>
              <a:rPr lang="en-IN" dirty="0" err="1">
                <a:effectLst/>
              </a:rPr>
              <a:t>OrderedDict.fromkeys</a:t>
            </a:r>
            <a:r>
              <a:rPr lang="en-IN" dirty="0">
                <a:effectLst/>
              </a:rPr>
              <a:t>(</a:t>
            </a:r>
            <a:r>
              <a:rPr lang="en-IN" dirty="0" err="1">
                <a:effectLst/>
              </a:rPr>
              <a:t>my_list</a:t>
            </a:r>
            <a:r>
              <a:rPr lang="en-IN" dirty="0">
                <a:effectLst/>
              </a:rPr>
              <a:t>))</a:t>
            </a:r>
            <a:endParaRPr lang="en-US" dirty="0"/>
          </a:p>
          <a:p>
            <a:endParaRPr lang="en-IN" u="sng" dirty="0">
              <a:effectLst/>
              <a:latin typeface="Helvetica Neue" panose="02000503000000020004" pitchFamily="2" charset="0"/>
            </a:endParaRPr>
          </a:p>
          <a:p>
            <a:endParaRPr lang="en-US" dirty="0"/>
          </a:p>
        </p:txBody>
      </p:sp>
    </p:spTree>
    <p:extLst>
      <p:ext uri="{BB962C8B-B14F-4D97-AF65-F5344CB8AC3E}">
        <p14:creationId xmlns:p14="http://schemas.microsoft.com/office/powerpoint/2010/main" val="1015447081"/>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12933-9C19-171D-219A-2496E4DE5CF6}"/>
              </a:ext>
            </a:extLst>
          </p:cNvPr>
          <p:cNvSpPr>
            <a:spLocks noGrp="1"/>
          </p:cNvSpPr>
          <p:nvPr>
            <p:ph type="title"/>
          </p:nvPr>
        </p:nvSpPr>
        <p:spPr>
          <a:xfrm>
            <a:off x="761840" y="1138266"/>
            <a:ext cx="4544762" cy="351868"/>
          </a:xfrm>
        </p:spPr>
        <p:txBody>
          <a:bodyPr anchor="t">
            <a:normAutofit fontScale="90000"/>
          </a:bodyPr>
          <a:lstStyle/>
          <a:p>
            <a:r>
              <a:rPr lang="en-US" sz="3200" u="sng" dirty="0"/>
              <a:t>Square Of a number </a:t>
            </a:r>
          </a:p>
        </p:txBody>
      </p:sp>
      <p:cxnSp>
        <p:nvCxnSpPr>
          <p:cNvPr id="10" name="Straight Connector 9">
            <a:extLst>
              <a:ext uri="{FF2B5EF4-FFF2-40B4-BE49-F238E27FC236}">
                <a16:creationId xmlns:a16="http://schemas.microsoft.com/office/drawing/2014/main" id="{FC23E3B9-5ABF-58B3-E2B0-E9A5DAA9003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861462" y="871146"/>
            <a:ext cx="736939"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
        <p:nvSpPr>
          <p:cNvPr id="3" name="Content Placeholder 2">
            <a:extLst>
              <a:ext uri="{FF2B5EF4-FFF2-40B4-BE49-F238E27FC236}">
                <a16:creationId xmlns:a16="http://schemas.microsoft.com/office/drawing/2014/main" id="{509F83A1-7697-CBE4-8FF1-3C572008453E}"/>
              </a:ext>
            </a:extLst>
          </p:cNvPr>
          <p:cNvSpPr>
            <a:spLocks noGrp="1"/>
          </p:cNvSpPr>
          <p:nvPr>
            <p:ph idx="1"/>
          </p:nvPr>
        </p:nvSpPr>
        <p:spPr>
          <a:xfrm>
            <a:off x="761840" y="1811868"/>
            <a:ext cx="4544762" cy="4342244"/>
          </a:xfrm>
        </p:spPr>
        <p:txBody>
          <a:bodyPr>
            <a:normAutofit/>
          </a:bodyPr>
          <a:lstStyle/>
          <a:p>
            <a:r>
              <a:rPr lang="en-IN" sz="2000" dirty="0">
                <a:effectLst/>
                <a:latin typeface="Helvetica Neue" panose="02000503000000020004" pitchFamily="2" charset="0"/>
              </a:rPr>
              <a:t>result=[x ** 2 for x in range(5,20) if x%2 !=0]</a:t>
            </a:r>
          </a:p>
          <a:p>
            <a:r>
              <a:rPr lang="en-US" sz="2000" u="sng" dirty="0"/>
              <a:t>Sort</a:t>
            </a:r>
          </a:p>
          <a:p>
            <a:r>
              <a:rPr lang="en-US" sz="2000" dirty="0"/>
              <a:t>Sorted(result)</a:t>
            </a:r>
          </a:p>
          <a:p>
            <a:pPr marL="0" indent="0">
              <a:buNone/>
            </a:pPr>
            <a:endParaRPr lang="en-US" sz="2000" dirty="0"/>
          </a:p>
          <a:p>
            <a:r>
              <a:rPr lang="en-US" sz="2000" u="sng" dirty="0"/>
              <a:t>Flatten the nested list</a:t>
            </a:r>
          </a:p>
          <a:p>
            <a:r>
              <a:rPr lang="en-IN" sz="2000" dirty="0"/>
              <a:t>By using if </a:t>
            </a:r>
            <a:r>
              <a:rPr lang="en-IN" sz="2000" dirty="0" err="1"/>
              <a:t>isinstance</a:t>
            </a:r>
            <a:r>
              <a:rPr lang="en-IN" sz="2000" dirty="0"/>
              <a:t>(</a:t>
            </a:r>
            <a:r>
              <a:rPr lang="en-IN" sz="2000" dirty="0" err="1"/>
              <a:t>sublist</a:t>
            </a:r>
            <a:r>
              <a:rPr lang="en-IN" sz="2000" dirty="0"/>
              <a:t>, list):,It just checks whether the element is list or not, the code ensures that it only attempts to iterate over </a:t>
            </a:r>
            <a:r>
              <a:rPr lang="en-IN" sz="2000" dirty="0" err="1"/>
              <a:t>sublist</a:t>
            </a:r>
            <a:r>
              <a:rPr lang="en-IN" sz="2000" dirty="0"/>
              <a:t> if it is actually a list.</a:t>
            </a:r>
          </a:p>
          <a:p>
            <a:r>
              <a:rPr lang="en-US" sz="2000" dirty="0"/>
              <a:t>O/P- [1, 2, 3, 4, 5, 6, 7]</a:t>
            </a:r>
          </a:p>
          <a:p>
            <a:endParaRPr lang="en-US" sz="2000" dirty="0"/>
          </a:p>
        </p:txBody>
      </p:sp>
      <p:pic>
        <p:nvPicPr>
          <p:cNvPr id="5" name="Picture 4" descr="A computer screen with text and numbers&#10;&#10;Description automatically generated">
            <a:extLst>
              <a:ext uri="{FF2B5EF4-FFF2-40B4-BE49-F238E27FC236}">
                <a16:creationId xmlns:a16="http://schemas.microsoft.com/office/drawing/2014/main" id="{1A2303A5-D5FD-56E8-172F-ED95C6198DAA}"/>
              </a:ext>
            </a:extLst>
          </p:cNvPr>
          <p:cNvPicPr>
            <a:picLocks noChangeAspect="1"/>
          </p:cNvPicPr>
          <p:nvPr/>
        </p:nvPicPr>
        <p:blipFill>
          <a:blip r:embed="rId2"/>
          <a:stretch>
            <a:fillRect/>
          </a:stretch>
        </p:blipFill>
        <p:spPr>
          <a:xfrm>
            <a:off x="6082748" y="1662861"/>
            <a:ext cx="5334160" cy="4048391"/>
          </a:xfrm>
          <a:prstGeom prst="rect">
            <a:avLst/>
          </a:prstGeom>
        </p:spPr>
      </p:pic>
    </p:spTree>
    <p:extLst>
      <p:ext uri="{BB962C8B-B14F-4D97-AF65-F5344CB8AC3E}">
        <p14:creationId xmlns:p14="http://schemas.microsoft.com/office/powerpoint/2010/main" val="2706206560"/>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C7D55E-4188-B35E-3BA0-23B0F7C38F9E}"/>
              </a:ext>
            </a:extLst>
          </p:cNvPr>
          <p:cNvSpPr>
            <a:spLocks noGrp="1"/>
          </p:cNvSpPr>
          <p:nvPr>
            <p:ph type="title"/>
          </p:nvPr>
        </p:nvSpPr>
        <p:spPr/>
        <p:txBody>
          <a:bodyPr/>
          <a:lstStyle/>
          <a:p>
            <a:r>
              <a:rPr lang="en-US" u="sng" dirty="0"/>
              <a:t>Reverse words in sentence</a:t>
            </a:r>
          </a:p>
        </p:txBody>
      </p:sp>
      <p:sp>
        <p:nvSpPr>
          <p:cNvPr id="3" name="Content Placeholder 2">
            <a:extLst>
              <a:ext uri="{FF2B5EF4-FFF2-40B4-BE49-F238E27FC236}">
                <a16:creationId xmlns:a16="http://schemas.microsoft.com/office/drawing/2014/main" id="{4C179810-2A32-AEFE-A245-C8B6C3BCEACE}"/>
              </a:ext>
            </a:extLst>
          </p:cNvPr>
          <p:cNvSpPr>
            <a:spLocks noGrp="1"/>
          </p:cNvSpPr>
          <p:nvPr>
            <p:ph idx="1"/>
          </p:nvPr>
        </p:nvSpPr>
        <p:spPr/>
        <p:txBody>
          <a:bodyPr/>
          <a:lstStyle/>
          <a:p>
            <a:r>
              <a:rPr lang="en-US" dirty="0"/>
              <a:t>sentence = "Hello world from </a:t>
            </a:r>
            <a:r>
              <a:rPr lang="en-US" dirty="0" err="1"/>
              <a:t>ChatGPT</a:t>
            </a:r>
            <a:r>
              <a:rPr lang="en-US" dirty="0"/>
              <a:t>"</a:t>
            </a:r>
          </a:p>
          <a:p>
            <a:r>
              <a:rPr lang="en-US" dirty="0" err="1"/>
              <a:t>reversed_sentence</a:t>
            </a:r>
            <a:r>
              <a:rPr lang="en-US" dirty="0"/>
              <a:t> = [word[::-1] for word in </a:t>
            </a:r>
            <a:r>
              <a:rPr lang="en-US" dirty="0" err="1"/>
              <a:t>sentence.split</a:t>
            </a:r>
            <a:r>
              <a:rPr lang="en-US" dirty="0"/>
              <a:t>()]</a:t>
            </a:r>
          </a:p>
          <a:p>
            <a:r>
              <a:rPr lang="en-US" dirty="0"/>
              <a:t>print(‘ ‘.join(</a:t>
            </a:r>
            <a:r>
              <a:rPr lang="en-US" dirty="0" err="1"/>
              <a:t>reversed_sentence</a:t>
            </a:r>
            <a:r>
              <a:rPr lang="en-US" dirty="0"/>
              <a:t>))</a:t>
            </a:r>
          </a:p>
        </p:txBody>
      </p:sp>
    </p:spTree>
    <p:extLst>
      <p:ext uri="{BB962C8B-B14F-4D97-AF65-F5344CB8AC3E}">
        <p14:creationId xmlns:p14="http://schemas.microsoft.com/office/powerpoint/2010/main" val="247415831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AC7E7-898C-B210-B9DC-913985BEEC94}"/>
              </a:ext>
            </a:extLst>
          </p:cNvPr>
          <p:cNvSpPr>
            <a:spLocks noGrp="1"/>
          </p:cNvSpPr>
          <p:nvPr>
            <p:ph type="title"/>
          </p:nvPr>
        </p:nvSpPr>
        <p:spPr/>
        <p:txBody>
          <a:bodyPr/>
          <a:lstStyle/>
          <a:p>
            <a:r>
              <a:rPr lang="en-US" u="sng" dirty="0"/>
              <a:t>Codes</a:t>
            </a:r>
          </a:p>
        </p:txBody>
      </p:sp>
      <p:sp>
        <p:nvSpPr>
          <p:cNvPr id="3" name="Content Placeholder 2">
            <a:extLst>
              <a:ext uri="{FF2B5EF4-FFF2-40B4-BE49-F238E27FC236}">
                <a16:creationId xmlns:a16="http://schemas.microsoft.com/office/drawing/2014/main" id="{A2D385DC-F539-EF51-4477-E4F368BBE71D}"/>
              </a:ext>
            </a:extLst>
          </p:cNvPr>
          <p:cNvSpPr>
            <a:spLocks noGrp="1"/>
          </p:cNvSpPr>
          <p:nvPr>
            <p:ph idx="1"/>
          </p:nvPr>
        </p:nvSpPr>
        <p:spPr/>
        <p:txBody>
          <a:bodyPr>
            <a:normAutofit lnSpcReduction="10000"/>
          </a:bodyPr>
          <a:lstStyle/>
          <a:p>
            <a:r>
              <a:rPr lang="en-IN" u="sng" dirty="0">
                <a:latin typeface="Helvetica Neue" panose="02000503000000020004" pitchFamily="2" charset="0"/>
              </a:rPr>
              <a:t>Drop duplicates</a:t>
            </a:r>
            <a:endParaRPr lang="en-IN" dirty="0">
              <a:effectLst/>
            </a:endParaRPr>
          </a:p>
          <a:p>
            <a:r>
              <a:rPr lang="en-IN" dirty="0" err="1">
                <a:effectLst/>
              </a:rPr>
              <a:t>my_list</a:t>
            </a:r>
            <a:r>
              <a:rPr lang="en-IN" dirty="0">
                <a:effectLst/>
              </a:rPr>
              <a:t> = [1, 2, 3, 2, 4, 3, 5]</a:t>
            </a:r>
            <a:br>
              <a:rPr lang="en-IN" dirty="0"/>
            </a:br>
            <a:r>
              <a:rPr lang="en-IN" dirty="0" err="1">
                <a:effectLst/>
              </a:rPr>
              <a:t>deduplicated_list</a:t>
            </a:r>
            <a:r>
              <a:rPr lang="en-IN" dirty="0">
                <a:effectLst/>
              </a:rPr>
              <a:t> = list(set(</a:t>
            </a:r>
            <a:r>
              <a:rPr lang="en-IN" dirty="0" err="1">
                <a:effectLst/>
              </a:rPr>
              <a:t>my_list</a:t>
            </a:r>
            <a:r>
              <a:rPr lang="en-IN" dirty="0">
                <a:effectLst/>
              </a:rPr>
              <a:t>))</a:t>
            </a:r>
          </a:p>
          <a:p>
            <a:r>
              <a:rPr lang="en-IN" u="sng" dirty="0"/>
              <a:t>Read csv file in python </a:t>
            </a:r>
          </a:p>
          <a:p>
            <a:r>
              <a:rPr lang="en-IN" b="1" dirty="0">
                <a:solidFill>
                  <a:srgbClr val="008000"/>
                </a:solidFill>
                <a:effectLst/>
              </a:rPr>
              <a:t>import</a:t>
            </a:r>
            <a:r>
              <a:rPr lang="en-IN" dirty="0"/>
              <a:t> </a:t>
            </a:r>
            <a:r>
              <a:rPr lang="en-IN" b="1" dirty="0">
                <a:solidFill>
                  <a:srgbClr val="0000FF"/>
                </a:solidFill>
                <a:effectLst/>
              </a:rPr>
              <a:t>csv</a:t>
            </a:r>
          </a:p>
          <a:p>
            <a:r>
              <a:rPr lang="en-IN" dirty="0"/>
              <a:t> </a:t>
            </a:r>
            <a:r>
              <a:rPr lang="en-IN" b="1" dirty="0">
                <a:solidFill>
                  <a:srgbClr val="008000"/>
                </a:solidFill>
                <a:effectLst/>
              </a:rPr>
              <a:t>with</a:t>
            </a:r>
            <a:r>
              <a:rPr lang="en-IN" dirty="0"/>
              <a:t> </a:t>
            </a:r>
            <a:r>
              <a:rPr lang="en-IN" dirty="0">
                <a:solidFill>
                  <a:srgbClr val="008000"/>
                </a:solidFill>
                <a:effectLst/>
              </a:rPr>
              <a:t>open</a:t>
            </a:r>
            <a:r>
              <a:rPr lang="en-IN" dirty="0">
                <a:effectLst/>
              </a:rPr>
              <a:t>(</a:t>
            </a:r>
            <a:r>
              <a:rPr lang="en-IN" dirty="0">
                <a:solidFill>
                  <a:srgbClr val="BA2121"/>
                </a:solidFill>
                <a:effectLst/>
              </a:rPr>
              <a:t>'</a:t>
            </a:r>
            <a:r>
              <a:rPr lang="en-IN" dirty="0" err="1">
                <a:solidFill>
                  <a:srgbClr val="BA2121"/>
                </a:solidFill>
                <a:effectLst/>
              </a:rPr>
              <a:t>Giants.csv</a:t>
            </a:r>
            <a:r>
              <a:rPr lang="en-IN" dirty="0">
                <a:solidFill>
                  <a:srgbClr val="BA2121"/>
                </a:solidFill>
                <a:effectLst/>
              </a:rPr>
              <a:t>'</a:t>
            </a:r>
            <a:r>
              <a:rPr lang="en-IN" dirty="0">
                <a:effectLst/>
              </a:rPr>
              <a:t>,</a:t>
            </a:r>
            <a:r>
              <a:rPr lang="en-IN" dirty="0"/>
              <a:t> </a:t>
            </a:r>
            <a:r>
              <a:rPr lang="en-IN" dirty="0">
                <a:effectLst/>
              </a:rPr>
              <a:t>mode</a:t>
            </a:r>
            <a:r>
              <a:rPr lang="en-IN" dirty="0"/>
              <a:t> </a:t>
            </a:r>
            <a:r>
              <a:rPr lang="en-IN" dirty="0">
                <a:solidFill>
                  <a:srgbClr val="666666"/>
                </a:solidFill>
                <a:effectLst/>
              </a:rPr>
              <a:t>=</a:t>
            </a:r>
            <a:r>
              <a:rPr lang="en-IN" dirty="0">
                <a:solidFill>
                  <a:srgbClr val="BA2121"/>
                </a:solidFill>
                <a:effectLst/>
              </a:rPr>
              <a:t>'r'</a:t>
            </a:r>
            <a:r>
              <a:rPr lang="en-IN" dirty="0">
                <a:effectLst/>
              </a:rPr>
              <a:t>)</a:t>
            </a:r>
            <a:r>
              <a:rPr lang="en-IN" b="1" dirty="0">
                <a:solidFill>
                  <a:srgbClr val="008000"/>
                </a:solidFill>
                <a:effectLst/>
              </a:rPr>
              <a:t>as</a:t>
            </a:r>
            <a:r>
              <a:rPr lang="en-IN" dirty="0"/>
              <a:t> </a:t>
            </a:r>
            <a:r>
              <a:rPr lang="en-IN" dirty="0">
                <a:effectLst/>
              </a:rPr>
              <a:t>file:</a:t>
            </a:r>
            <a:r>
              <a:rPr lang="en-IN" dirty="0"/>
              <a:t> </a:t>
            </a:r>
          </a:p>
          <a:p>
            <a:r>
              <a:rPr lang="en-IN" dirty="0" err="1">
                <a:effectLst/>
              </a:rPr>
              <a:t>csvFile</a:t>
            </a:r>
            <a:r>
              <a:rPr lang="en-IN" dirty="0"/>
              <a:t> </a:t>
            </a:r>
            <a:r>
              <a:rPr lang="en-IN" dirty="0">
                <a:solidFill>
                  <a:srgbClr val="666666"/>
                </a:solidFill>
                <a:effectLst/>
              </a:rPr>
              <a:t>=</a:t>
            </a:r>
            <a:r>
              <a:rPr lang="en-IN" dirty="0"/>
              <a:t> </a:t>
            </a:r>
            <a:r>
              <a:rPr lang="en-IN" dirty="0" err="1">
                <a:effectLst/>
              </a:rPr>
              <a:t>csv</a:t>
            </a:r>
            <a:r>
              <a:rPr lang="en-IN" dirty="0" err="1">
                <a:solidFill>
                  <a:srgbClr val="666666"/>
                </a:solidFill>
                <a:effectLst/>
              </a:rPr>
              <a:t>.</a:t>
            </a:r>
            <a:r>
              <a:rPr lang="en-IN" dirty="0" err="1">
                <a:effectLst/>
              </a:rPr>
              <a:t>reader</a:t>
            </a:r>
            <a:r>
              <a:rPr lang="en-IN" dirty="0">
                <a:effectLst/>
              </a:rPr>
              <a:t>(file)</a:t>
            </a:r>
          </a:p>
          <a:p>
            <a:r>
              <a:rPr lang="en-IN" dirty="0"/>
              <a:t> </a:t>
            </a:r>
            <a:r>
              <a:rPr lang="en-IN" b="1" dirty="0">
                <a:solidFill>
                  <a:srgbClr val="008000"/>
                </a:solidFill>
                <a:effectLst/>
              </a:rPr>
              <a:t>for</a:t>
            </a:r>
            <a:r>
              <a:rPr lang="en-IN" dirty="0"/>
              <a:t> </a:t>
            </a:r>
            <a:r>
              <a:rPr lang="en-IN" dirty="0">
                <a:effectLst/>
              </a:rPr>
              <a:t>lines</a:t>
            </a:r>
            <a:r>
              <a:rPr lang="en-IN" dirty="0"/>
              <a:t> </a:t>
            </a:r>
            <a:r>
              <a:rPr lang="en-IN" b="1" dirty="0">
                <a:solidFill>
                  <a:srgbClr val="AA22FF"/>
                </a:solidFill>
                <a:effectLst/>
              </a:rPr>
              <a:t>in</a:t>
            </a:r>
            <a:r>
              <a:rPr lang="en-IN" dirty="0"/>
              <a:t> </a:t>
            </a:r>
            <a:r>
              <a:rPr lang="en-IN" dirty="0" err="1">
                <a:effectLst/>
              </a:rPr>
              <a:t>csvFile</a:t>
            </a:r>
            <a:r>
              <a:rPr lang="en-IN" dirty="0">
                <a:effectLst/>
              </a:rPr>
              <a:t>:</a:t>
            </a:r>
          </a:p>
          <a:p>
            <a:r>
              <a:rPr lang="en-IN" dirty="0"/>
              <a:t> </a:t>
            </a:r>
            <a:r>
              <a:rPr lang="en-IN" dirty="0">
                <a:solidFill>
                  <a:srgbClr val="008000"/>
                </a:solidFill>
                <a:effectLst/>
              </a:rPr>
              <a:t>print</a:t>
            </a:r>
            <a:r>
              <a:rPr lang="en-IN" dirty="0">
                <a:effectLst/>
              </a:rPr>
              <a:t>(lines)</a:t>
            </a:r>
            <a:endParaRPr lang="en-US" dirty="0"/>
          </a:p>
        </p:txBody>
      </p:sp>
    </p:spTree>
    <p:extLst>
      <p:ext uri="{BB962C8B-B14F-4D97-AF65-F5344CB8AC3E}">
        <p14:creationId xmlns:p14="http://schemas.microsoft.com/office/powerpoint/2010/main" val="1075940626"/>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CBA9A-16B6-4EAB-0E21-A0198388D8DC}"/>
              </a:ext>
            </a:extLst>
          </p:cNvPr>
          <p:cNvSpPr>
            <a:spLocks noGrp="1"/>
          </p:cNvSpPr>
          <p:nvPr>
            <p:ph type="title"/>
          </p:nvPr>
        </p:nvSpPr>
        <p:spPr/>
        <p:txBody>
          <a:bodyPr/>
          <a:lstStyle/>
          <a:p>
            <a:r>
              <a:rPr lang="en-US" u="sng" dirty="0"/>
              <a:t>Write</a:t>
            </a:r>
          </a:p>
        </p:txBody>
      </p:sp>
      <p:sp>
        <p:nvSpPr>
          <p:cNvPr id="3" name="Content Placeholder 2">
            <a:extLst>
              <a:ext uri="{FF2B5EF4-FFF2-40B4-BE49-F238E27FC236}">
                <a16:creationId xmlns:a16="http://schemas.microsoft.com/office/drawing/2014/main" id="{B23B1464-D0E6-5D51-02D1-268F39F2B796}"/>
              </a:ext>
            </a:extLst>
          </p:cNvPr>
          <p:cNvSpPr>
            <a:spLocks noGrp="1"/>
          </p:cNvSpPr>
          <p:nvPr>
            <p:ph idx="1"/>
          </p:nvPr>
        </p:nvSpPr>
        <p:spPr/>
        <p:txBody>
          <a:bodyPr/>
          <a:lstStyle/>
          <a:p>
            <a:r>
              <a:rPr lang="en-IN" b="1" dirty="0">
                <a:solidFill>
                  <a:srgbClr val="008000"/>
                </a:solidFill>
                <a:effectLst/>
              </a:rPr>
              <a:t>with</a:t>
            </a:r>
            <a:r>
              <a:rPr lang="en-IN" dirty="0"/>
              <a:t> </a:t>
            </a:r>
            <a:r>
              <a:rPr lang="en-IN" dirty="0">
                <a:solidFill>
                  <a:srgbClr val="008000"/>
                </a:solidFill>
                <a:effectLst/>
              </a:rPr>
              <a:t>open</a:t>
            </a:r>
            <a:r>
              <a:rPr lang="en-IN" dirty="0"/>
              <a:t>(</a:t>
            </a:r>
            <a:r>
              <a:rPr lang="en-IN" dirty="0">
                <a:solidFill>
                  <a:srgbClr val="BA2121"/>
                </a:solidFill>
                <a:effectLst/>
              </a:rPr>
              <a:t>'</a:t>
            </a:r>
            <a:r>
              <a:rPr lang="en-IN" dirty="0" err="1">
                <a:solidFill>
                  <a:srgbClr val="BA2121"/>
                </a:solidFill>
                <a:effectLst/>
              </a:rPr>
              <a:t>names.csv</a:t>
            </a:r>
            <a:r>
              <a:rPr lang="en-IN" dirty="0">
                <a:solidFill>
                  <a:srgbClr val="BA2121"/>
                </a:solidFill>
                <a:effectLst/>
              </a:rPr>
              <a:t>'</a:t>
            </a:r>
            <a:r>
              <a:rPr lang="en-IN" dirty="0"/>
              <a:t>, </a:t>
            </a:r>
            <a:r>
              <a:rPr lang="en-IN" dirty="0">
                <a:solidFill>
                  <a:srgbClr val="BA2121"/>
                </a:solidFill>
                <a:effectLst/>
              </a:rPr>
              <a:t>'w'</a:t>
            </a:r>
            <a:r>
              <a:rPr lang="en-IN" dirty="0"/>
              <a:t>, newline</a:t>
            </a:r>
            <a:r>
              <a:rPr lang="en-IN" dirty="0">
                <a:solidFill>
                  <a:srgbClr val="666666"/>
                </a:solidFill>
                <a:effectLst/>
              </a:rPr>
              <a:t>=</a:t>
            </a:r>
            <a:r>
              <a:rPr lang="en-IN" dirty="0">
                <a:solidFill>
                  <a:srgbClr val="BA2121"/>
                </a:solidFill>
                <a:effectLst/>
              </a:rPr>
              <a:t>''</a:t>
            </a:r>
            <a:r>
              <a:rPr lang="en-IN" dirty="0"/>
              <a:t>) </a:t>
            </a:r>
            <a:r>
              <a:rPr lang="en-IN" b="1" dirty="0">
                <a:solidFill>
                  <a:srgbClr val="008000"/>
                </a:solidFill>
                <a:effectLst/>
              </a:rPr>
              <a:t>as</a:t>
            </a:r>
            <a:r>
              <a:rPr lang="en-IN" dirty="0"/>
              <a:t> </a:t>
            </a:r>
            <a:r>
              <a:rPr lang="en-IN" dirty="0" err="1"/>
              <a:t>csvfile</a:t>
            </a:r>
            <a:r>
              <a:rPr lang="en-IN" dirty="0"/>
              <a:t>:</a:t>
            </a:r>
          </a:p>
          <a:p>
            <a:r>
              <a:rPr lang="en-IN" dirty="0"/>
              <a:t> fieldnames </a:t>
            </a:r>
            <a:r>
              <a:rPr lang="en-IN" dirty="0">
                <a:solidFill>
                  <a:srgbClr val="666666"/>
                </a:solidFill>
                <a:effectLst/>
              </a:rPr>
              <a:t>=</a:t>
            </a:r>
            <a:r>
              <a:rPr lang="en-IN" dirty="0"/>
              <a:t> [</a:t>
            </a:r>
            <a:r>
              <a:rPr lang="en-IN" dirty="0">
                <a:solidFill>
                  <a:srgbClr val="BA2121"/>
                </a:solidFill>
                <a:effectLst/>
              </a:rPr>
              <a:t>'</a:t>
            </a:r>
            <a:r>
              <a:rPr lang="en-IN" dirty="0" err="1">
                <a:solidFill>
                  <a:srgbClr val="BA2121"/>
                </a:solidFill>
                <a:effectLst/>
              </a:rPr>
              <a:t>first_name</a:t>
            </a:r>
            <a:r>
              <a:rPr lang="en-IN" dirty="0">
                <a:solidFill>
                  <a:srgbClr val="BA2121"/>
                </a:solidFill>
                <a:effectLst/>
              </a:rPr>
              <a:t>'</a:t>
            </a:r>
            <a:r>
              <a:rPr lang="en-IN" dirty="0"/>
              <a:t>, </a:t>
            </a:r>
            <a:r>
              <a:rPr lang="en-IN" dirty="0">
                <a:solidFill>
                  <a:srgbClr val="BA2121"/>
                </a:solidFill>
                <a:effectLst/>
              </a:rPr>
              <a:t>'</a:t>
            </a:r>
            <a:r>
              <a:rPr lang="en-IN" dirty="0" err="1">
                <a:solidFill>
                  <a:srgbClr val="BA2121"/>
                </a:solidFill>
                <a:effectLst/>
              </a:rPr>
              <a:t>last_name</a:t>
            </a:r>
            <a:r>
              <a:rPr lang="en-IN" dirty="0">
                <a:solidFill>
                  <a:srgbClr val="BA2121"/>
                </a:solidFill>
                <a:effectLst/>
              </a:rPr>
              <a:t>’</a:t>
            </a:r>
            <a:r>
              <a:rPr lang="en-IN" dirty="0"/>
              <a:t>] </a:t>
            </a:r>
          </a:p>
          <a:p>
            <a:r>
              <a:rPr lang="en-IN" dirty="0"/>
              <a:t>writer </a:t>
            </a:r>
            <a:r>
              <a:rPr lang="en-IN" dirty="0">
                <a:solidFill>
                  <a:srgbClr val="666666"/>
                </a:solidFill>
                <a:effectLst/>
              </a:rPr>
              <a:t>=</a:t>
            </a:r>
            <a:r>
              <a:rPr lang="en-IN" dirty="0"/>
              <a:t> </a:t>
            </a:r>
            <a:r>
              <a:rPr lang="en-IN" dirty="0" err="1"/>
              <a:t>csv</a:t>
            </a:r>
            <a:r>
              <a:rPr lang="en-IN" dirty="0" err="1">
                <a:solidFill>
                  <a:srgbClr val="666666"/>
                </a:solidFill>
                <a:effectLst/>
              </a:rPr>
              <a:t>.</a:t>
            </a:r>
            <a:r>
              <a:rPr lang="en-IN" dirty="0" err="1"/>
              <a:t>DictWriter</a:t>
            </a:r>
            <a:r>
              <a:rPr lang="en-IN" dirty="0"/>
              <a:t>(</a:t>
            </a:r>
            <a:r>
              <a:rPr lang="en-IN" dirty="0" err="1"/>
              <a:t>csvfile</a:t>
            </a:r>
            <a:r>
              <a:rPr lang="en-IN" dirty="0"/>
              <a:t>, fieldnames</a:t>
            </a:r>
            <a:r>
              <a:rPr lang="en-IN" dirty="0">
                <a:solidFill>
                  <a:srgbClr val="666666"/>
                </a:solidFill>
                <a:effectLst/>
              </a:rPr>
              <a:t>=</a:t>
            </a:r>
            <a:r>
              <a:rPr lang="en-IN" dirty="0"/>
              <a:t>fieldnames)</a:t>
            </a:r>
            <a:endParaRPr lang="en-US" dirty="0"/>
          </a:p>
        </p:txBody>
      </p:sp>
    </p:spTree>
    <p:extLst>
      <p:ext uri="{BB962C8B-B14F-4D97-AF65-F5344CB8AC3E}">
        <p14:creationId xmlns:p14="http://schemas.microsoft.com/office/powerpoint/2010/main" val="118205687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3B021B3-DE93-4AB7-8A18-CF5F1CED88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1F6EAC0-A889-EF5D-9433-FA89EB2B18EB}"/>
              </a:ext>
            </a:extLst>
          </p:cNvPr>
          <p:cNvSpPr>
            <a:spLocks noGrp="1"/>
          </p:cNvSpPr>
          <p:nvPr>
            <p:ph type="title"/>
          </p:nvPr>
        </p:nvSpPr>
        <p:spPr>
          <a:xfrm>
            <a:off x="841248" y="256032"/>
            <a:ext cx="10506456" cy="1014984"/>
          </a:xfrm>
        </p:spPr>
        <p:txBody>
          <a:bodyPr anchor="b">
            <a:normAutofit/>
          </a:bodyPr>
          <a:lstStyle/>
          <a:p>
            <a:r>
              <a:rPr lang="en-US" u="sng" dirty="0"/>
              <a:t>Python lists vs tuple In detail</a:t>
            </a:r>
          </a:p>
        </p:txBody>
      </p:sp>
      <p:sp>
        <p:nvSpPr>
          <p:cNvPr id="11" name="Rectangle 10">
            <a:extLst>
              <a:ext uri="{FF2B5EF4-FFF2-40B4-BE49-F238E27FC236}">
                <a16:creationId xmlns:a16="http://schemas.microsoft.com/office/drawing/2014/main" id="{52D502E5-F6B4-4D58-B4AE-FC466FF15E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5953" y="1634502"/>
            <a:ext cx="10451592"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9DECDBF4-02B6-4BB4-B65B-B8107AD6A9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V="1">
            <a:off x="841248" y="1538176"/>
            <a:ext cx="1873457" cy="10981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graphicFrame>
        <p:nvGraphicFramePr>
          <p:cNvPr id="5" name="Content Placeholder 2">
            <a:extLst>
              <a:ext uri="{FF2B5EF4-FFF2-40B4-BE49-F238E27FC236}">
                <a16:creationId xmlns:a16="http://schemas.microsoft.com/office/drawing/2014/main" id="{4C35B2D2-8BB8-D899-9D73-605A88B63368}"/>
              </a:ext>
            </a:extLst>
          </p:cNvPr>
          <p:cNvGraphicFramePr>
            <a:graphicFrameLocks noGrp="1"/>
          </p:cNvGraphicFramePr>
          <p:nvPr>
            <p:ph idx="1"/>
            <p:extLst>
              <p:ext uri="{D42A27DB-BD31-4B8C-83A1-F6EECF244321}">
                <p14:modId xmlns:p14="http://schemas.microsoft.com/office/powerpoint/2010/main" val="1044588278"/>
              </p:ext>
            </p:extLst>
          </p:nvPr>
        </p:nvGraphicFramePr>
        <p:xfrm>
          <a:off x="838200" y="1926266"/>
          <a:ext cx="10515600" cy="435752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507280438"/>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99648F-B343-9AC2-956B-6311D21AD9D0}"/>
              </a:ext>
            </a:extLst>
          </p:cNvPr>
          <p:cNvSpPr>
            <a:spLocks noGrp="1"/>
          </p:cNvSpPr>
          <p:nvPr>
            <p:ph type="title"/>
          </p:nvPr>
        </p:nvSpPr>
        <p:spPr>
          <a:xfrm>
            <a:off x="838200" y="365126"/>
            <a:ext cx="10515600" cy="864068"/>
          </a:xfrm>
        </p:spPr>
        <p:txBody>
          <a:bodyPr/>
          <a:lstStyle/>
          <a:p>
            <a:r>
              <a:rPr lang="en-US" u="sng" dirty="0"/>
              <a:t>Python lists vs tuple In detail</a:t>
            </a:r>
            <a:endParaRPr lang="en-US" dirty="0"/>
          </a:p>
        </p:txBody>
      </p:sp>
      <p:pic>
        <p:nvPicPr>
          <p:cNvPr id="5" name="Content Placeholder 4" descr="A screenshot of a computer program&#10;&#10;Description automatically generated">
            <a:extLst>
              <a:ext uri="{FF2B5EF4-FFF2-40B4-BE49-F238E27FC236}">
                <a16:creationId xmlns:a16="http://schemas.microsoft.com/office/drawing/2014/main" id="{C8021B77-AB84-9255-74A7-E31D5E29D214}"/>
              </a:ext>
            </a:extLst>
          </p:cNvPr>
          <p:cNvPicPr>
            <a:picLocks noGrp="1" noChangeAspect="1"/>
          </p:cNvPicPr>
          <p:nvPr>
            <p:ph idx="1"/>
          </p:nvPr>
        </p:nvPicPr>
        <p:blipFill>
          <a:blip r:embed="rId2"/>
          <a:stretch>
            <a:fillRect/>
          </a:stretch>
        </p:blipFill>
        <p:spPr>
          <a:xfrm>
            <a:off x="1286934" y="1654037"/>
            <a:ext cx="7963340" cy="4898105"/>
          </a:xfrm>
        </p:spPr>
      </p:pic>
    </p:spTree>
    <p:extLst>
      <p:ext uri="{BB962C8B-B14F-4D97-AF65-F5344CB8AC3E}">
        <p14:creationId xmlns:p14="http://schemas.microsoft.com/office/powerpoint/2010/main" val="151000945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29B9F-1283-0C92-E05A-EEADDB382F05}"/>
              </a:ext>
            </a:extLst>
          </p:cNvPr>
          <p:cNvSpPr>
            <a:spLocks noGrp="1"/>
          </p:cNvSpPr>
          <p:nvPr>
            <p:ph type="title"/>
          </p:nvPr>
        </p:nvSpPr>
        <p:spPr/>
        <p:txBody>
          <a:bodyPr/>
          <a:lstStyle/>
          <a:p>
            <a:r>
              <a:rPr lang="en-US" u="sng" dirty="0"/>
              <a:t>Python lists vs tuple In detail</a:t>
            </a:r>
            <a:endParaRPr lang="en-US" dirty="0"/>
          </a:p>
        </p:txBody>
      </p:sp>
      <p:sp>
        <p:nvSpPr>
          <p:cNvPr id="3" name="Content Placeholder 2">
            <a:extLst>
              <a:ext uri="{FF2B5EF4-FFF2-40B4-BE49-F238E27FC236}">
                <a16:creationId xmlns:a16="http://schemas.microsoft.com/office/drawing/2014/main" id="{6FF89E78-29E7-C7A0-58B0-FD4B92B7C7E4}"/>
              </a:ext>
            </a:extLst>
          </p:cNvPr>
          <p:cNvSpPr>
            <a:spLocks noGrp="1"/>
          </p:cNvSpPr>
          <p:nvPr>
            <p:ph idx="1"/>
          </p:nvPr>
        </p:nvSpPr>
        <p:spPr/>
        <p:txBody>
          <a:bodyPr>
            <a:normAutofit lnSpcReduction="10000"/>
          </a:bodyPr>
          <a:lstStyle/>
          <a:p>
            <a:r>
              <a:rPr lang="en-US" dirty="0"/>
              <a:t>Tuples does not have many in built methods because of immutability</a:t>
            </a:r>
          </a:p>
          <a:p>
            <a:r>
              <a:rPr lang="en-US" dirty="0"/>
              <a:t>Lists have several in built methods.</a:t>
            </a:r>
          </a:p>
          <a:p>
            <a:r>
              <a:rPr lang="en-IN" dirty="0"/>
              <a:t>Tuples can be faster in accessing elements than lists in certain operations due to their immutability </a:t>
            </a:r>
          </a:p>
          <a:p>
            <a:r>
              <a:rPr lang="en-IN" b="0" i="0" dirty="0">
                <a:solidFill>
                  <a:srgbClr val="1F1F1F"/>
                </a:solidFill>
                <a:effectLst/>
                <a:latin typeface="Google Sans"/>
              </a:rPr>
              <a:t>Since, tuples cannot be modified, the interpreter can optimize their memory allocation, leading to faster access times.</a:t>
            </a:r>
          </a:p>
          <a:p>
            <a:r>
              <a:rPr lang="en-IN" dirty="0"/>
              <a:t>The internal structure of tuples is simpler because they don’t need to handle dynamic resizing or modification. This simplicity can result in faster execution of certain operations, especially those involving iteration and access.</a:t>
            </a:r>
            <a:endParaRPr lang="en-US" dirty="0"/>
          </a:p>
        </p:txBody>
      </p:sp>
    </p:spTree>
    <p:extLst>
      <p:ext uri="{BB962C8B-B14F-4D97-AF65-F5344CB8AC3E}">
        <p14:creationId xmlns:p14="http://schemas.microsoft.com/office/powerpoint/2010/main" val="1498751647"/>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022BDE4A-8A20-4A69-9C5A-581C82036A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89BA74-39DF-D47A-422F-054335D18BEF}"/>
              </a:ext>
            </a:extLst>
          </p:cNvPr>
          <p:cNvSpPr>
            <a:spLocks noGrp="1"/>
          </p:cNvSpPr>
          <p:nvPr>
            <p:ph type="title"/>
          </p:nvPr>
        </p:nvSpPr>
        <p:spPr>
          <a:xfrm>
            <a:off x="1001684" y="170412"/>
            <a:ext cx="10178934" cy="1328730"/>
          </a:xfrm>
        </p:spPr>
        <p:txBody>
          <a:bodyPr vert="horz" lIns="91440" tIns="45720" rIns="91440" bIns="45720" rtlCol="0" anchor="b">
            <a:normAutofit/>
          </a:bodyPr>
          <a:lstStyle/>
          <a:p>
            <a:pPr algn="ctr"/>
            <a:r>
              <a:rPr lang="en-US" u="sng" kern="1200" dirty="0">
                <a:solidFill>
                  <a:schemeClr val="tx1"/>
                </a:solidFill>
                <a:latin typeface="+mj-lt"/>
                <a:ea typeface="+mj-ea"/>
                <a:cs typeface="+mj-cs"/>
              </a:rPr>
              <a:t>How to convert immutable tuple to mutable like adding or removing elements</a:t>
            </a:r>
          </a:p>
        </p:txBody>
      </p:sp>
      <p:pic>
        <p:nvPicPr>
          <p:cNvPr id="5" name="Content Placeholder 4" descr="A screen shot of a computer&#10;&#10;Description automatically generated">
            <a:extLst>
              <a:ext uri="{FF2B5EF4-FFF2-40B4-BE49-F238E27FC236}">
                <a16:creationId xmlns:a16="http://schemas.microsoft.com/office/drawing/2014/main" id="{B347BB95-8C49-BFFE-6FF8-F935CCE0D1D0}"/>
              </a:ext>
            </a:extLst>
          </p:cNvPr>
          <p:cNvPicPr>
            <a:picLocks noGrp="1" noChangeAspect="1"/>
          </p:cNvPicPr>
          <p:nvPr>
            <p:ph idx="1"/>
          </p:nvPr>
        </p:nvPicPr>
        <p:blipFill>
          <a:blip r:embed="rId2"/>
          <a:srcRect r="4901" b="-2"/>
          <a:stretch/>
        </p:blipFill>
        <p:spPr>
          <a:xfrm>
            <a:off x="198741" y="2410448"/>
            <a:ext cx="5803323" cy="3890357"/>
          </a:xfrm>
          <a:prstGeom prst="rect">
            <a:avLst/>
          </a:prstGeom>
        </p:spPr>
      </p:pic>
      <p:pic>
        <p:nvPicPr>
          <p:cNvPr id="7" name="Picture 6" descr="A computer screen shot of a program code&#10;&#10;Description automatically generated">
            <a:extLst>
              <a:ext uri="{FF2B5EF4-FFF2-40B4-BE49-F238E27FC236}">
                <a16:creationId xmlns:a16="http://schemas.microsoft.com/office/drawing/2014/main" id="{E74028A0-112B-E3A8-17BB-1C750FAE162B}"/>
              </a:ext>
            </a:extLst>
          </p:cNvPr>
          <p:cNvPicPr>
            <a:picLocks noChangeAspect="1"/>
          </p:cNvPicPr>
          <p:nvPr/>
        </p:nvPicPr>
        <p:blipFill>
          <a:blip r:embed="rId3"/>
          <a:srcRect t="8892" r="-2" b="4885"/>
          <a:stretch/>
        </p:blipFill>
        <p:spPr>
          <a:xfrm>
            <a:off x="6189934" y="2410448"/>
            <a:ext cx="5803323" cy="3890357"/>
          </a:xfrm>
          <a:prstGeom prst="rect">
            <a:avLst/>
          </a:prstGeom>
        </p:spPr>
      </p:pic>
    </p:spTree>
    <p:extLst>
      <p:ext uri="{BB962C8B-B14F-4D97-AF65-F5344CB8AC3E}">
        <p14:creationId xmlns:p14="http://schemas.microsoft.com/office/powerpoint/2010/main" val="1361318480"/>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D5AA9D-C7EE-0B28-32C4-836C18EB27C2}"/>
              </a:ext>
            </a:extLst>
          </p:cNvPr>
          <p:cNvSpPr>
            <a:spLocks noGrp="1"/>
          </p:cNvSpPr>
          <p:nvPr>
            <p:ph type="title"/>
          </p:nvPr>
        </p:nvSpPr>
        <p:spPr/>
        <p:txBody>
          <a:bodyPr/>
          <a:lstStyle/>
          <a:p>
            <a:r>
              <a:rPr lang="en-US" u="sng" kern="1200" dirty="0">
                <a:solidFill>
                  <a:schemeClr val="tx1"/>
                </a:solidFill>
                <a:latin typeface="+mj-lt"/>
                <a:ea typeface="+mj-ea"/>
                <a:cs typeface="+mj-cs"/>
              </a:rPr>
              <a:t>How to convert immutable tuple to mutable like adding or removing elements</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614BE1C2-6616-E1A6-FB62-6C35C33BFC51}"/>
              </a:ext>
            </a:extLst>
          </p:cNvPr>
          <p:cNvPicPr>
            <a:picLocks noGrp="1" noChangeAspect="1"/>
          </p:cNvPicPr>
          <p:nvPr>
            <p:ph idx="1"/>
          </p:nvPr>
        </p:nvPicPr>
        <p:blipFill>
          <a:blip r:embed="rId2"/>
          <a:stretch>
            <a:fillRect/>
          </a:stretch>
        </p:blipFill>
        <p:spPr>
          <a:xfrm>
            <a:off x="838200" y="2026444"/>
            <a:ext cx="7586272" cy="1320800"/>
          </a:xfrm>
        </p:spPr>
      </p:pic>
      <p:pic>
        <p:nvPicPr>
          <p:cNvPr id="7" name="Picture 6" descr="A computer screen with text and images&#10;&#10;Description automatically generated">
            <a:extLst>
              <a:ext uri="{FF2B5EF4-FFF2-40B4-BE49-F238E27FC236}">
                <a16:creationId xmlns:a16="http://schemas.microsoft.com/office/drawing/2014/main" id="{B6ED14B4-C40C-9110-2685-931B63391DB1}"/>
              </a:ext>
            </a:extLst>
          </p:cNvPr>
          <p:cNvPicPr>
            <a:picLocks noChangeAspect="1"/>
          </p:cNvPicPr>
          <p:nvPr/>
        </p:nvPicPr>
        <p:blipFill>
          <a:blip r:embed="rId3"/>
          <a:stretch>
            <a:fillRect/>
          </a:stretch>
        </p:blipFill>
        <p:spPr>
          <a:xfrm>
            <a:off x="4349403" y="3683000"/>
            <a:ext cx="7283797" cy="2927662"/>
          </a:xfrm>
          <a:prstGeom prst="rect">
            <a:avLst/>
          </a:prstGeom>
        </p:spPr>
      </p:pic>
    </p:spTree>
    <p:extLst>
      <p:ext uri="{BB962C8B-B14F-4D97-AF65-F5344CB8AC3E}">
        <p14:creationId xmlns:p14="http://schemas.microsoft.com/office/powerpoint/2010/main" val="2886875036"/>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C6416A-1930-B1BC-2DEE-2FD8CA01AAA4}"/>
              </a:ext>
            </a:extLst>
          </p:cNvPr>
          <p:cNvSpPr>
            <a:spLocks noGrp="1"/>
          </p:cNvSpPr>
          <p:nvPr>
            <p:ph type="title"/>
          </p:nvPr>
        </p:nvSpPr>
        <p:spPr/>
        <p:txBody>
          <a:bodyPr/>
          <a:lstStyle/>
          <a:p>
            <a:r>
              <a:rPr lang="en-US" u="sng" dirty="0"/>
              <a:t>ZIP</a:t>
            </a:r>
          </a:p>
        </p:txBody>
      </p:sp>
      <p:sp>
        <p:nvSpPr>
          <p:cNvPr id="3" name="Content Placeholder 2">
            <a:extLst>
              <a:ext uri="{FF2B5EF4-FFF2-40B4-BE49-F238E27FC236}">
                <a16:creationId xmlns:a16="http://schemas.microsoft.com/office/drawing/2014/main" id="{7206DEDA-E045-F2BD-B759-F2D9DA916F34}"/>
              </a:ext>
            </a:extLst>
          </p:cNvPr>
          <p:cNvSpPr>
            <a:spLocks noGrp="1"/>
          </p:cNvSpPr>
          <p:nvPr>
            <p:ph idx="1"/>
          </p:nvPr>
        </p:nvSpPr>
        <p:spPr/>
        <p:txBody>
          <a:bodyPr/>
          <a:lstStyle/>
          <a:p>
            <a:r>
              <a:rPr lang="en-IN" b="1" dirty="0"/>
              <a:t>Pairing Data</a:t>
            </a:r>
            <a:r>
              <a:rPr lang="en-IN" dirty="0"/>
              <a:t>: Useful for creating pairs of related data points.</a:t>
            </a:r>
          </a:p>
          <a:p>
            <a:r>
              <a:rPr lang="en-IN" dirty="0"/>
              <a:t>This is especially useful for pairing elements from different sequences.</a:t>
            </a:r>
          </a:p>
          <a:p>
            <a:r>
              <a:rPr lang="en-US" dirty="0"/>
              <a:t>zip(iterable1, iterable2, ...)</a:t>
            </a:r>
          </a:p>
          <a:p>
            <a:endParaRPr lang="en-US" dirty="0"/>
          </a:p>
        </p:txBody>
      </p:sp>
      <p:pic>
        <p:nvPicPr>
          <p:cNvPr id="5" name="Picture 4" descr="A screenshot of a computer program&#10;&#10;Description automatically generated">
            <a:extLst>
              <a:ext uri="{FF2B5EF4-FFF2-40B4-BE49-F238E27FC236}">
                <a16:creationId xmlns:a16="http://schemas.microsoft.com/office/drawing/2014/main" id="{F1A6249B-D09A-32C6-73C8-561EF78FFCD3}"/>
              </a:ext>
            </a:extLst>
          </p:cNvPr>
          <p:cNvPicPr>
            <a:picLocks noChangeAspect="1"/>
          </p:cNvPicPr>
          <p:nvPr/>
        </p:nvPicPr>
        <p:blipFill>
          <a:blip r:embed="rId2"/>
          <a:stretch>
            <a:fillRect/>
          </a:stretch>
        </p:blipFill>
        <p:spPr>
          <a:xfrm>
            <a:off x="5181600" y="2951163"/>
            <a:ext cx="7010400" cy="3225800"/>
          </a:xfrm>
          <a:prstGeom prst="rect">
            <a:avLst/>
          </a:prstGeom>
        </p:spPr>
      </p:pic>
    </p:spTree>
    <p:extLst>
      <p:ext uri="{BB962C8B-B14F-4D97-AF65-F5344CB8AC3E}">
        <p14:creationId xmlns:p14="http://schemas.microsoft.com/office/powerpoint/2010/main" val="205024684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8757E7-C794-7A30-BED2-1E89ED22B237}"/>
              </a:ext>
            </a:extLst>
          </p:cNvPr>
          <p:cNvSpPr>
            <a:spLocks noGrp="1"/>
          </p:cNvSpPr>
          <p:nvPr>
            <p:ph type="title"/>
          </p:nvPr>
        </p:nvSpPr>
        <p:spPr/>
        <p:txBody>
          <a:bodyPr/>
          <a:lstStyle/>
          <a:p>
            <a:r>
              <a:rPr lang="en-US" u="sng" dirty="0"/>
              <a:t>ZIP</a:t>
            </a:r>
            <a:endParaRPr lang="en-US" dirty="0"/>
          </a:p>
        </p:txBody>
      </p:sp>
      <p:pic>
        <p:nvPicPr>
          <p:cNvPr id="5" name="Content Placeholder 4" descr="A screenshot of a computer&#10;&#10;Description automatically generated">
            <a:extLst>
              <a:ext uri="{FF2B5EF4-FFF2-40B4-BE49-F238E27FC236}">
                <a16:creationId xmlns:a16="http://schemas.microsoft.com/office/drawing/2014/main" id="{81AA21FC-3616-68CA-1DFF-F5FE5DC8629D}"/>
              </a:ext>
            </a:extLst>
          </p:cNvPr>
          <p:cNvPicPr>
            <a:picLocks noGrp="1" noChangeAspect="1"/>
          </p:cNvPicPr>
          <p:nvPr>
            <p:ph idx="1"/>
          </p:nvPr>
        </p:nvPicPr>
        <p:blipFill>
          <a:blip r:embed="rId2"/>
          <a:stretch>
            <a:fillRect/>
          </a:stretch>
        </p:blipFill>
        <p:spPr>
          <a:xfrm>
            <a:off x="980506" y="1554428"/>
            <a:ext cx="8643977" cy="4202906"/>
          </a:xfrm>
        </p:spPr>
      </p:pic>
    </p:spTree>
    <p:extLst>
      <p:ext uri="{BB962C8B-B14F-4D97-AF65-F5344CB8AC3E}">
        <p14:creationId xmlns:p14="http://schemas.microsoft.com/office/powerpoint/2010/main" val="63003380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6022</TotalTime>
  <Words>4862</Words>
  <Application>Microsoft Macintosh PowerPoint</Application>
  <PresentationFormat>Widescreen</PresentationFormat>
  <Paragraphs>461</Paragraphs>
  <Slides>114</Slides>
  <Notes>0</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114</vt:i4>
      </vt:variant>
    </vt:vector>
  </HeadingPairs>
  <TitlesOfParts>
    <vt:vector size="132" baseType="lpstr">
      <vt:lpstr>Arial</vt:lpstr>
      <vt:lpstr>Calibri</vt:lpstr>
      <vt:lpstr>Calibri Light</vt:lpstr>
      <vt:lpstr>Consolas</vt:lpstr>
      <vt:lpstr>erdana</vt:lpstr>
      <vt:lpstr>Georgia</vt:lpstr>
      <vt:lpstr>Google Sans</vt:lpstr>
      <vt:lpstr>Helvetica Neue</vt:lpstr>
      <vt:lpstr>inter-bold</vt:lpstr>
      <vt:lpstr>inter-regular</vt:lpstr>
      <vt:lpstr>Nunito Sans</vt:lpstr>
      <vt:lpstr>Roboto</vt:lpstr>
      <vt:lpstr>Segoe UI</vt:lpstr>
      <vt:lpstr>Söhne</vt:lpstr>
      <vt:lpstr>ui-sans-serif</vt:lpstr>
      <vt:lpstr>var(--font-family-body-lesson-markdown,"Droid Serif")</vt:lpstr>
      <vt:lpstr>Verdana</vt:lpstr>
      <vt:lpstr>Office Theme</vt:lpstr>
      <vt:lpstr>Programing </vt:lpstr>
      <vt:lpstr>Swap two number without using third varible</vt:lpstr>
      <vt:lpstr>Reading integers and strings in python</vt:lpstr>
      <vt:lpstr>Reverse a number </vt:lpstr>
      <vt:lpstr>Reverse a number </vt:lpstr>
      <vt:lpstr>Palindrom</vt:lpstr>
      <vt:lpstr>Range</vt:lpstr>
      <vt:lpstr>Range</vt:lpstr>
      <vt:lpstr>Fibonacci series</vt:lpstr>
      <vt:lpstr>Reverse a list in python </vt:lpstr>
      <vt:lpstr>Maximum element in python</vt:lpstr>
      <vt:lpstr>Armstrong number in python</vt:lpstr>
      <vt:lpstr>Left Half Pyramid</vt:lpstr>
      <vt:lpstr>Bubble Sort </vt:lpstr>
      <vt:lpstr>Bubble Sort </vt:lpstr>
      <vt:lpstr>Prime number</vt:lpstr>
      <vt:lpstr>Prime number by giving a number as input n+1 if u give 5 as input and  suppose if u give n as range it itterates till 4 only.</vt:lpstr>
      <vt:lpstr>Prime numbers within a range</vt:lpstr>
      <vt:lpstr>PowerPoint Presentation</vt:lpstr>
      <vt:lpstr>Anagram</vt:lpstr>
      <vt:lpstr>Symmetric Difference</vt:lpstr>
      <vt:lpstr>Find missing number in list</vt:lpstr>
      <vt:lpstr>Find missing number in list</vt:lpstr>
      <vt:lpstr>Find missing number in list</vt:lpstr>
      <vt:lpstr>Find missing number in list</vt:lpstr>
      <vt:lpstr>Find vowels and consonents counts</vt:lpstr>
      <vt:lpstr>2nd type Input using list</vt:lpstr>
      <vt:lpstr>Remove duplicate elements</vt:lpstr>
      <vt:lpstr>Find duplicates  </vt:lpstr>
      <vt:lpstr>Find Duplicates in String</vt:lpstr>
      <vt:lpstr>2nd largest number in list</vt:lpstr>
      <vt:lpstr>Reverse string</vt:lpstr>
      <vt:lpstr>Question</vt:lpstr>
      <vt:lpstr>Print only numbers in list</vt:lpstr>
      <vt:lpstr>Functional Interfaces</vt:lpstr>
      <vt:lpstr>Lambda Expression</vt:lpstr>
      <vt:lpstr>Lambda Expression</vt:lpstr>
      <vt:lpstr>Java-8</vt:lpstr>
      <vt:lpstr>Java-8</vt:lpstr>
      <vt:lpstr>Abstraction</vt:lpstr>
      <vt:lpstr>Scanner</vt:lpstr>
      <vt:lpstr>Collections</vt:lpstr>
      <vt:lpstr>How Does Hashmap work internally</vt:lpstr>
      <vt:lpstr>How does Arraylist increase</vt:lpstr>
      <vt:lpstr>Collection</vt:lpstr>
      <vt:lpstr>Collection</vt:lpstr>
      <vt:lpstr>JDK VS JRE VS JVM</vt:lpstr>
      <vt:lpstr>JDK VS JRE VS JVM</vt:lpstr>
      <vt:lpstr>JRE- It is used to provide the runtime environment</vt:lpstr>
      <vt:lpstr>JDK VS JRE VS JVM</vt:lpstr>
      <vt:lpstr>Enum</vt:lpstr>
      <vt:lpstr>Applet</vt:lpstr>
      <vt:lpstr>Static</vt:lpstr>
      <vt:lpstr>Final</vt:lpstr>
      <vt:lpstr>Final</vt:lpstr>
      <vt:lpstr>Method Overriding</vt:lpstr>
      <vt:lpstr>Method Overloading</vt:lpstr>
      <vt:lpstr>Method Overloading</vt:lpstr>
      <vt:lpstr>Encapsulation</vt:lpstr>
      <vt:lpstr>Polymorphism</vt:lpstr>
      <vt:lpstr>Abstraction</vt:lpstr>
      <vt:lpstr>Abstraction</vt:lpstr>
      <vt:lpstr>Abstract Methods</vt:lpstr>
      <vt:lpstr>Intefaces</vt:lpstr>
      <vt:lpstr>Interfaces</vt:lpstr>
      <vt:lpstr>Multiple inheritance by interface</vt:lpstr>
      <vt:lpstr>Instance varibles</vt:lpstr>
      <vt:lpstr>Cheked Exception</vt:lpstr>
      <vt:lpstr>Unchecked exception</vt:lpstr>
      <vt:lpstr>Decorators</vt:lpstr>
      <vt:lpstr>Wrapper and Decorators</vt:lpstr>
      <vt:lpstr>Iterator</vt:lpstr>
      <vt:lpstr>Iterator</vt:lpstr>
      <vt:lpstr>Iterator-Example.</vt:lpstr>
      <vt:lpstr>Generator</vt:lpstr>
      <vt:lpstr>Generator</vt:lpstr>
      <vt:lpstr>Generator</vt:lpstr>
      <vt:lpstr>Generator</vt:lpstr>
      <vt:lpstr>Generator</vt:lpstr>
      <vt:lpstr>Generator</vt:lpstr>
      <vt:lpstr>Generator</vt:lpstr>
      <vt:lpstr>Strftime</vt:lpstr>
      <vt:lpstr>Strptime</vt:lpstr>
      <vt:lpstr>timedelta() </vt:lpstr>
      <vt:lpstr>datetime</vt:lpstr>
      <vt:lpstr>Shallow copy vs deep copy</vt:lpstr>
      <vt:lpstr>Shallow copy vs deep copy</vt:lpstr>
      <vt:lpstr>Shallow copy vs deep copy</vt:lpstr>
      <vt:lpstr>Shallow copy vs deep copy</vt:lpstr>
      <vt:lpstr>Shallow copy vs deep copy</vt:lpstr>
      <vt:lpstr>Merge two dictionaries in single line</vt:lpstr>
      <vt:lpstr>Merge two dictionaries in single line</vt:lpstr>
      <vt:lpstr>Merge two dictionaries in single line</vt:lpstr>
      <vt:lpstr>Merge two dictionaries in single line-Method -2 Same it overwrites just like **</vt:lpstr>
      <vt:lpstr>Sort a list of dictionary by a specific key</vt:lpstr>
      <vt:lpstr>__new__</vt:lpstr>
      <vt:lpstr>Call A Class Method From Another Class In Python  </vt:lpstr>
      <vt:lpstr>Super</vt:lpstr>
      <vt:lpstr>Super</vt:lpstr>
      <vt:lpstr>Codes</vt:lpstr>
      <vt:lpstr>Codes</vt:lpstr>
      <vt:lpstr>Append vs Extend</vt:lpstr>
      <vt:lpstr>Remove Element At Specified Index</vt:lpstr>
      <vt:lpstr>Square Of a number </vt:lpstr>
      <vt:lpstr>Reverse words in sentence</vt:lpstr>
      <vt:lpstr>Codes</vt:lpstr>
      <vt:lpstr>Write</vt:lpstr>
      <vt:lpstr>Python lists vs tuple In detail</vt:lpstr>
      <vt:lpstr>Python lists vs tuple In detail</vt:lpstr>
      <vt:lpstr>Python lists vs tuple In detail</vt:lpstr>
      <vt:lpstr>How to convert immutable tuple to mutable like adding or removing elements</vt:lpstr>
      <vt:lpstr>How to convert immutable tuple to mutable like adding or removing elements</vt:lpstr>
      <vt:lpstr>ZIP</vt:lpstr>
      <vt:lpstr>ZIP</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Programing </dc:title>
  <dc:creator>Koutarapu, Jithendra</dc:creator>
  <cp:lastModifiedBy>Koutarapu, Jithendra</cp:lastModifiedBy>
  <cp:revision>102</cp:revision>
  <dcterms:created xsi:type="dcterms:W3CDTF">2023-09-16T07:43:02Z</dcterms:created>
  <dcterms:modified xsi:type="dcterms:W3CDTF">2024-08-06T10:45:31Z</dcterms:modified>
</cp:coreProperties>
</file>